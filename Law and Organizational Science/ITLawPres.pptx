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260" r:id="rId2"/>
    <p:sldId id="280" r:id="rId3"/>
    <p:sldId id="342" r:id="rId4"/>
    <p:sldId id="343" r:id="rId5"/>
    <p:sldId id="284" r:id="rId6"/>
    <p:sldId id="328" r:id="rId7"/>
    <p:sldId id="287" r:id="rId8"/>
    <p:sldId id="329" r:id="rId9"/>
    <p:sldId id="336" r:id="rId10"/>
    <p:sldId id="263" r:id="rId11"/>
    <p:sldId id="264" r:id="rId12"/>
    <p:sldId id="265" r:id="rId13"/>
    <p:sldId id="266" r:id="rId14"/>
    <p:sldId id="269" r:id="rId15"/>
    <p:sldId id="270" r:id="rId16"/>
    <p:sldId id="369" r:id="rId17"/>
    <p:sldId id="271" r:id="rId18"/>
    <p:sldId id="272" r:id="rId19"/>
    <p:sldId id="273" r:id="rId20"/>
    <p:sldId id="337" r:id="rId21"/>
    <p:sldId id="292" r:id="rId22"/>
    <p:sldId id="274" r:id="rId23"/>
    <p:sldId id="359" r:id="rId24"/>
    <p:sldId id="360" r:id="rId25"/>
    <p:sldId id="361" r:id="rId26"/>
    <p:sldId id="362" r:id="rId27"/>
    <p:sldId id="363" r:id="rId28"/>
    <p:sldId id="368" r:id="rId29"/>
    <p:sldId id="279" r:id="rId30"/>
    <p:sldId id="365" r:id="rId31"/>
    <p:sldId id="344" r:id="rId32"/>
    <p:sldId id="376" r:id="rId33"/>
    <p:sldId id="375" r:id="rId34"/>
    <p:sldId id="301" r:id="rId35"/>
    <p:sldId id="302" r:id="rId36"/>
    <p:sldId id="326" r:id="rId37"/>
    <p:sldId id="327" r:id="rId38"/>
    <p:sldId id="345" r:id="rId39"/>
    <p:sldId id="346" r:id="rId40"/>
    <p:sldId id="347" r:id="rId41"/>
    <p:sldId id="331" r:id="rId42"/>
    <p:sldId id="332" r:id="rId43"/>
    <p:sldId id="333" r:id="rId44"/>
    <p:sldId id="348" r:id="rId45"/>
    <p:sldId id="335" r:id="rId46"/>
    <p:sldId id="349" r:id="rId47"/>
    <p:sldId id="350" r:id="rId48"/>
    <p:sldId id="303" r:id="rId49"/>
    <p:sldId id="304" r:id="rId50"/>
    <p:sldId id="305" r:id="rId51"/>
    <p:sldId id="306" r:id="rId52"/>
    <p:sldId id="366" r:id="rId53"/>
    <p:sldId id="351" r:id="rId54"/>
    <p:sldId id="352" r:id="rId55"/>
    <p:sldId id="309" r:id="rId56"/>
    <p:sldId id="373" r:id="rId57"/>
    <p:sldId id="354" r:id="rId58"/>
    <p:sldId id="374" r:id="rId59"/>
    <p:sldId id="313" r:id="rId60"/>
    <p:sldId id="356" r:id="rId61"/>
    <p:sldId id="314" r:id="rId62"/>
    <p:sldId id="367" r:id="rId63"/>
    <p:sldId id="330" r:id="rId64"/>
    <p:sldId id="340" r:id="rId65"/>
    <p:sldId id="341" r:id="rId66"/>
    <p:sldId id="370" r:id="rId67"/>
    <p:sldId id="372" r:id="rId68"/>
    <p:sldId id="371" r:id="rId6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C7E"/>
    <a:srgbClr val="146EB4"/>
    <a:srgbClr val="222E3E"/>
    <a:srgbClr val="313E50"/>
    <a:srgbClr val="091C6B"/>
    <a:srgbClr val="EBEBEB"/>
    <a:srgbClr val="FF9900"/>
    <a:srgbClr val="FF0D50"/>
    <a:srgbClr val="F6F2ED"/>
    <a:srgbClr val="232F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761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20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BDB9BB-5C4B-EE49-A70F-8A983AF9D119}" type="datetimeFigureOut">
              <a:rPr lang="it-IT" smtClean="0"/>
              <a:t>14/12/23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EFC8C4-5285-FC43-99DF-84DDB523AA3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200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71999B-3E58-C6E9-16D3-C4A7EA2BB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45BAF83-58BD-7818-35CA-FF1C0D997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AB0748-818B-8795-99E3-C44518C0F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EB602-1C63-4FCB-875A-C3FB6E2DF954}" type="datetimeFigureOut">
              <a:rPr lang="it-IT" smtClean="0"/>
              <a:t>14/12/23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8092EB-385C-27FC-AB95-E7D06CE2E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71D4EF8-D109-814F-2C51-048648C61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BC04F-BF21-4C65-9AEF-90981249B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653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9DC43E-204B-46BB-36B8-82B7AC06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8E1493-F717-1B80-C654-656C74CA3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7C0F7CF-4794-FBB3-168F-3E346F9F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EB602-1C63-4FCB-875A-C3FB6E2DF954}" type="datetimeFigureOut">
              <a:rPr lang="it-IT" smtClean="0"/>
              <a:t>14/12/23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E1B77B3-CDFA-52E1-26F8-2FB0B3813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827A3BC-8F76-C793-60FE-82741870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BC04F-BF21-4C65-9AEF-90981249B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654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D9BB43-CE0A-3FF3-9708-19223FD22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CCB0784-5C63-CAB9-7E4F-302CA1E40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A3F272A-C1B9-038D-06FD-F2D1EF9B5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EB602-1C63-4FCB-875A-C3FB6E2DF954}" type="datetimeFigureOut">
              <a:rPr lang="it-IT" smtClean="0"/>
              <a:t>14/12/23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6F39091-25E4-4C90-EEE0-D694AB24E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CFE5D36-5E49-B39D-F43D-65BF23740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BC04F-BF21-4C65-9AEF-90981249B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6096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E901F6-02C1-1FBB-7897-41E5AFA3D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B99761-771B-7723-32BD-982A471DE1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9952983-0E53-0AB6-E90B-50AA93216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D2CAD2A-43FD-B59B-B83E-A4AFABE66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EB602-1C63-4FCB-875A-C3FB6E2DF954}" type="datetimeFigureOut">
              <a:rPr lang="it-IT" smtClean="0"/>
              <a:t>14/12/23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5FADBB4-6DF0-FA8A-C4B9-BEC55D8D7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F43C8A3-C581-1346-D6EC-F2242ADA8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BC04F-BF21-4C65-9AEF-90981249B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9993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0360EC-2DDA-2D31-30BA-D05A15A19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F91F3A7-C36C-EBFB-7A9D-5D68343AD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F4CA61E-2B15-6633-314A-9320E7940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C03A3E1-3705-132E-9C0C-9729BA477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4C4107E-AFE0-6D09-AEB5-ED588B9CDC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9BE9D68-7F6A-4F13-B6D3-FC751FBA8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EB602-1C63-4FCB-875A-C3FB6E2DF954}" type="datetimeFigureOut">
              <a:rPr lang="it-IT" smtClean="0"/>
              <a:t>14/12/23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4BD234C-E7F5-F047-8DA0-0C8BCA25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70EA92A-77EF-4B61-52FC-2072B3827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BC04F-BF21-4C65-9AEF-90981249B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102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D56DE8-3DAA-40E7-BC70-120F0272A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65B1FC9-E902-BB28-921F-60DEE2ACA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EB602-1C63-4FCB-875A-C3FB6E2DF954}" type="datetimeFigureOut">
              <a:rPr lang="it-IT" smtClean="0"/>
              <a:t>14/12/23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E25AF87-1E29-3A18-B275-E994C36A0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D9EC681-646D-29FB-88A7-D82CF7EDF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BC04F-BF21-4C65-9AEF-90981249B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8030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B7123B8-3E05-1AE1-444B-FCE68025B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EB602-1C63-4FCB-875A-C3FB6E2DF954}" type="datetimeFigureOut">
              <a:rPr lang="it-IT" smtClean="0"/>
              <a:t>14/12/23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9B62462-8BD8-F557-8B0A-B454F2B47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903FA3F-BC9D-8A11-D318-E784C2A79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BC04F-BF21-4C65-9AEF-90981249B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7983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92D319-534F-B267-91D5-F6B2211F7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C052D8-014B-3998-2CE7-D9ED6433C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1DDFD7E-B06C-15BA-B7FB-1382EE326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0D5D79-FC81-F504-8D12-D4E29194B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EB602-1C63-4FCB-875A-C3FB6E2DF954}" type="datetimeFigureOut">
              <a:rPr lang="it-IT" smtClean="0"/>
              <a:t>14/12/23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0E7BED2-5847-1C94-8D7A-D3026101B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DECDDEF-EC1D-A4C2-70B4-CC213C72D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BC04F-BF21-4C65-9AEF-90981249B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8815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A35974-D2E8-43EA-3F10-15DB78482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74EA614-D31E-222C-B8F7-40BCA72D9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5750229-3317-433E-F462-D6F0C7372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B64528D-DB16-7E59-918D-224A7C5E2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EB602-1C63-4FCB-875A-C3FB6E2DF954}" type="datetimeFigureOut">
              <a:rPr lang="it-IT" smtClean="0"/>
              <a:t>14/12/23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21169DF-21FC-7AD4-7478-4603D992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AA2C824-2B8A-1B7A-F2F9-4035F494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BC04F-BF21-4C65-9AEF-90981249B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2312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8D9FD6-A4BF-BA46-3B88-97158189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8E9AF2B-2170-65C7-673C-48C01DD65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11BD835-ECBF-7966-DAF2-09100B8B5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EB602-1C63-4FCB-875A-C3FB6E2DF954}" type="datetimeFigureOut">
              <a:rPr lang="it-IT" smtClean="0"/>
              <a:t>14/12/23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E2AE8AD-D0C5-CBDD-DF81-5CC50A341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386333C-DB57-2606-2FD3-CBF43B9D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BC04F-BF21-4C65-9AEF-90981249B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8340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BFB97D2-9A9A-5CAC-1B81-D73953C03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9E948DF-803C-1F98-D783-074D246EC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DB04126-B048-FB72-DD62-58AE4A0CE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EB602-1C63-4FCB-875A-C3FB6E2DF954}" type="datetimeFigureOut">
              <a:rPr lang="it-IT" smtClean="0"/>
              <a:t>14/12/23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C940FA1-CD64-7EBF-84F4-4E414E344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E2AF664-D05E-0462-E7ED-3E4B841BA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BC04F-BF21-4C65-9AEF-90981249B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4337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F3818A8-A9EA-2907-4E63-168399587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23A09C-57CA-147D-6267-261830B86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526066-6A6D-0A67-0D1E-E854D583D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EB602-1C63-4FCB-875A-C3FB6E2DF954}" type="datetimeFigureOut">
              <a:rPr lang="it-IT" smtClean="0"/>
              <a:t>14/12/23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CD53E7-BDDD-F741-E843-9C5D197F5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B802EA0-A908-E80E-F8F1-0BC1367A3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BC04F-BF21-4C65-9AEF-90981249B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105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0.png"/><Relationship Id="rId7" Type="http://schemas.openxmlformats.org/officeDocument/2006/relationships/image" Target="../media/image6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58.png"/><Relationship Id="rId4" Type="http://schemas.openxmlformats.org/officeDocument/2006/relationships/image" Target="../media/image7.png"/><Relationship Id="rId9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59.png"/><Relationship Id="rId4" Type="http://schemas.openxmlformats.org/officeDocument/2006/relationships/image" Target="../media/image6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59.png"/><Relationship Id="rId4" Type="http://schemas.openxmlformats.org/officeDocument/2006/relationships/image" Target="../media/image6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59.png"/><Relationship Id="rId4" Type="http://schemas.openxmlformats.org/officeDocument/2006/relationships/image" Target="../media/image6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59.png"/><Relationship Id="rId4" Type="http://schemas.openxmlformats.org/officeDocument/2006/relationships/image" Target="../media/image6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76.png"/><Relationship Id="rId7" Type="http://schemas.openxmlformats.org/officeDocument/2006/relationships/image" Target="../media/image72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0.png"/><Relationship Id="rId4" Type="http://schemas.openxmlformats.org/officeDocument/2006/relationships/image" Target="../media/image7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6.png"/><Relationship Id="rId7" Type="http://schemas.openxmlformats.org/officeDocument/2006/relationships/image" Target="../media/image7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0.png"/><Relationship Id="rId4" Type="http://schemas.openxmlformats.org/officeDocument/2006/relationships/image" Target="../media/image7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6.png"/><Relationship Id="rId7" Type="http://schemas.openxmlformats.org/officeDocument/2006/relationships/image" Target="../media/image7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0.png"/><Relationship Id="rId10" Type="http://schemas.openxmlformats.org/officeDocument/2006/relationships/image" Target="../media/image79.png"/><Relationship Id="rId4" Type="http://schemas.openxmlformats.org/officeDocument/2006/relationships/image" Target="../media/image77.png"/><Relationship Id="rId9" Type="http://schemas.openxmlformats.org/officeDocument/2006/relationships/image" Target="../media/image78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76.png"/><Relationship Id="rId7" Type="http://schemas.openxmlformats.org/officeDocument/2006/relationships/image" Target="../media/image72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80.png"/><Relationship Id="rId4" Type="http://schemas.openxmlformats.org/officeDocument/2006/relationships/image" Target="../media/image77.png"/><Relationship Id="rId9" Type="http://schemas.openxmlformats.org/officeDocument/2006/relationships/image" Target="../media/image7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81.png"/><Relationship Id="rId7" Type="http://schemas.openxmlformats.org/officeDocument/2006/relationships/image" Target="../media/image7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10" Type="http://schemas.openxmlformats.org/officeDocument/2006/relationships/image" Target="../media/image85.PNG"/><Relationship Id="rId4" Type="http://schemas.openxmlformats.org/officeDocument/2006/relationships/image" Target="../media/image82.png"/><Relationship Id="rId9" Type="http://schemas.openxmlformats.org/officeDocument/2006/relationships/image" Target="../media/image7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81.png"/><Relationship Id="rId7" Type="http://schemas.openxmlformats.org/officeDocument/2006/relationships/image" Target="../media/image7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84.png"/><Relationship Id="rId5" Type="http://schemas.openxmlformats.org/officeDocument/2006/relationships/image" Target="../media/image87.PNG"/><Relationship Id="rId10" Type="http://schemas.openxmlformats.org/officeDocument/2006/relationships/image" Target="../media/image83.png"/><Relationship Id="rId4" Type="http://schemas.openxmlformats.org/officeDocument/2006/relationships/image" Target="../media/image86.png"/><Relationship Id="rId9" Type="http://schemas.openxmlformats.org/officeDocument/2006/relationships/image" Target="../media/image82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81.png"/><Relationship Id="rId7" Type="http://schemas.openxmlformats.org/officeDocument/2006/relationships/image" Target="../media/image7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89.png"/><Relationship Id="rId5" Type="http://schemas.openxmlformats.org/officeDocument/2006/relationships/image" Target="../media/image72.png"/><Relationship Id="rId10" Type="http://schemas.openxmlformats.org/officeDocument/2006/relationships/image" Target="../media/image83.png"/><Relationship Id="rId4" Type="http://schemas.openxmlformats.org/officeDocument/2006/relationships/image" Target="../media/image88.PNG"/><Relationship Id="rId9" Type="http://schemas.openxmlformats.org/officeDocument/2006/relationships/image" Target="../media/image8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81.png"/><Relationship Id="rId7" Type="http://schemas.openxmlformats.org/officeDocument/2006/relationships/image" Target="../media/image7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89.png"/><Relationship Id="rId5" Type="http://schemas.openxmlformats.org/officeDocument/2006/relationships/image" Target="../media/image72.png"/><Relationship Id="rId10" Type="http://schemas.openxmlformats.org/officeDocument/2006/relationships/image" Target="../media/image84.png"/><Relationship Id="rId4" Type="http://schemas.openxmlformats.org/officeDocument/2006/relationships/image" Target="../media/image90.PNG"/><Relationship Id="rId9" Type="http://schemas.openxmlformats.org/officeDocument/2006/relationships/image" Target="../media/image8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73.png"/><Relationship Id="rId4" Type="http://schemas.openxmlformats.org/officeDocument/2006/relationships/image" Target="../media/image7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3.png"/><Relationship Id="rId7" Type="http://schemas.openxmlformats.org/officeDocument/2006/relationships/image" Target="../media/image8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3.png"/><Relationship Id="rId10" Type="http://schemas.openxmlformats.org/officeDocument/2006/relationships/image" Target="../media/image94.PNG"/><Relationship Id="rId4" Type="http://schemas.openxmlformats.org/officeDocument/2006/relationships/image" Target="../media/image74.png"/><Relationship Id="rId9" Type="http://schemas.openxmlformats.org/officeDocument/2006/relationships/image" Target="../media/image9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7.png"/><Relationship Id="rId4" Type="http://schemas.openxmlformats.org/officeDocument/2006/relationships/image" Target="../media/image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97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7" Type="http://schemas.openxmlformats.org/officeDocument/2006/relationships/image" Target="../media/image102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10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112.jpg"/><Relationship Id="rId4" Type="http://schemas.openxmlformats.org/officeDocument/2006/relationships/image" Target="../media/image11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9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11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5" Type="http://schemas.microsoft.com/office/2007/relationships/hdphoto" Target="../media/hdphoto3.wdp"/><Relationship Id="rId4" Type="http://schemas.openxmlformats.org/officeDocument/2006/relationships/image" Target="../media/image11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117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hyperlink" Target="https://edpb.europa.eu/system/files/2021-07/edpb_guidelines_202102_on_vva_v2.0_adopted_en.pdf" TargetMode="External"/><Relationship Id="rId13" Type="http://schemas.openxmlformats.org/officeDocument/2006/relationships/hyperlink" Target="https://www.amazon.com/gp/help/customer/display.html?nodeId=GVP69FUJ48X9DK8V" TargetMode="External"/><Relationship Id="rId3" Type="http://schemas.openxmlformats.org/officeDocument/2006/relationships/hyperlink" Target="https://www.wsj.com/articles/amazon-strong-arms-partners-across-multiple-businesses-11618410439" TargetMode="External"/><Relationship Id="rId7" Type="http://schemas.openxmlformats.org/officeDocument/2006/relationships/hyperlink" Target="https://www.cnil.fr/en/open-source-pia-software-helps-carry-out-data-protection-impact-assessment" TargetMode="External"/><Relationship Id="rId12" Type="http://schemas.openxmlformats.org/officeDocument/2006/relationships/hyperlink" Target="https://eur-lex.europa.eu/legal-content/EN/TXT/?uri=CELEX%3A32016R0679" TargetMode="External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orbes.com/sites/kateoflahertyuk/2019/04/12/amazon-staff-are-listening-to-alexa-conversations-heres-what-to-do/?sh=22c380171a22" TargetMode="External"/><Relationship Id="rId11" Type="http://schemas.openxmlformats.org/officeDocument/2006/relationships/hyperlink" Target="https://bjoernkarmann.dk/project/project_alias" TargetMode="External"/><Relationship Id="rId5" Type="http://schemas.openxmlformats.org/officeDocument/2006/relationships/hyperlink" Target="https://www.forbes.com/sites/antoniopequenoiv/2023/05/31/amazon-hit-with-58-million-fine-over-claims-ring-doorbell-spied-on-customers/?sh=9438e102e733" TargetMode="External"/><Relationship Id="rId10" Type="http://schemas.openxmlformats.org/officeDocument/2006/relationships/hyperlink" Target="https://www.garanteprivacy.it/documents/10160/0/Assistenti+digitali+%28smart+assistant%29+I+consigli+del+Garante+per+un+uso+a+prova+di+privacy.pdf/17c5335d-6923-5676-9505-004bf541aa52?version=1.0" TargetMode="External"/><Relationship Id="rId4" Type="http://schemas.openxmlformats.org/officeDocument/2006/relationships/hyperlink" Target="https://www.bloomberg.com/news/articles/2021-07-30/amazon-given-record-888-million-eu-fine-for-data-privacy-breach" TargetMode="External"/><Relationship Id="rId9" Type="http://schemas.openxmlformats.org/officeDocument/2006/relationships/hyperlink" Target="https://moniotrlab.khoury.northeastern.edu/publications/smart-speakers-study-pets20/" TargetMode="Externa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hyperlink" Target="https://edpb.europa.eu/system/files/2021-07/edpb_guidelines_202102_on_vva_v2.0_adopted_en.pdf" TargetMode="External"/><Relationship Id="rId13" Type="http://schemas.openxmlformats.org/officeDocument/2006/relationships/hyperlink" Target="https://www.amazon.com/gp/help/customer/display.html?nodeId=GVP69FUJ48X9DK8V" TargetMode="External"/><Relationship Id="rId3" Type="http://schemas.openxmlformats.org/officeDocument/2006/relationships/hyperlink" Target="https://www.wsj.com/articles/amazon-strong-arms-partners-across-multiple-businesses-11618410439" TargetMode="External"/><Relationship Id="rId7" Type="http://schemas.openxmlformats.org/officeDocument/2006/relationships/hyperlink" Target="https://www.cnil.fr/en/open-source-pia-software-helps-carry-out-data-protection-impact-assessment" TargetMode="External"/><Relationship Id="rId12" Type="http://schemas.openxmlformats.org/officeDocument/2006/relationships/hyperlink" Target="https://eur-lex.europa.eu/legal-content/EN/TXT/?uri=CELEX%3A32016R0679" TargetMode="External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orbes.com/sites/kateoflahertyuk/2019/04/12/amazon-staff-are-listening-to-alexa-conversations-heres-what-to-do/?sh=22c380171a22" TargetMode="External"/><Relationship Id="rId11" Type="http://schemas.openxmlformats.org/officeDocument/2006/relationships/hyperlink" Target="https://bjoernkarmann.dk/project/project_alias" TargetMode="External"/><Relationship Id="rId5" Type="http://schemas.openxmlformats.org/officeDocument/2006/relationships/hyperlink" Target="https://www.forbes.com/sites/antoniopequenoiv/2023/05/31/amazon-hit-with-58-million-fine-over-claims-ring-doorbell-spied-on-customers/?sh=9438e102e733" TargetMode="External"/><Relationship Id="rId10" Type="http://schemas.openxmlformats.org/officeDocument/2006/relationships/hyperlink" Target="https://www.garanteprivacy.it/documents/10160/0/Assistenti+digitali+%28smart+assistant%29+I+consigli+del+Garante+per+un+uso+a+prova+di+privacy.pdf/17c5335d-6923-5676-9505-004bf541aa52?version=1.0" TargetMode="External"/><Relationship Id="rId4" Type="http://schemas.openxmlformats.org/officeDocument/2006/relationships/hyperlink" Target="https://www.bloomberg.com/news/articles/2021-07-30/amazon-given-record-888-million-eu-fine-for-data-privacy-breach" TargetMode="External"/><Relationship Id="rId9" Type="http://schemas.openxmlformats.org/officeDocument/2006/relationships/hyperlink" Target="https://moniotrlab.khoury.northeastern.edu/publications/smart-speakers-study-pets2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Cassa di risonanza, altoparlante, oratore&#10;&#10;Descrizione generata automaticamente">
            <a:extLst>
              <a:ext uri="{FF2B5EF4-FFF2-40B4-BE49-F238E27FC236}">
                <a16:creationId xmlns:a16="http://schemas.microsoft.com/office/drawing/2014/main" id="{5758688A-7200-95CE-E03A-3E7542DE6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660" y="1670268"/>
            <a:ext cx="6304680" cy="3546383"/>
          </a:xfrm>
          <a:prstGeom prst="rect">
            <a:avLst/>
          </a:prstGeom>
          <a:ln>
            <a:noFill/>
          </a:ln>
        </p:spPr>
      </p:pic>
      <p:sp>
        <p:nvSpPr>
          <p:cNvPr id="21" name="Rettangolo 20">
            <a:extLst>
              <a:ext uri="{FF2B5EF4-FFF2-40B4-BE49-F238E27FC236}">
                <a16:creationId xmlns:a16="http://schemas.microsoft.com/office/drawing/2014/main" id="{5B5A3326-4974-3583-F592-35FE0DE5A075}"/>
              </a:ext>
            </a:extLst>
          </p:cNvPr>
          <p:cNvSpPr/>
          <p:nvPr/>
        </p:nvSpPr>
        <p:spPr>
          <a:xfrm>
            <a:off x="-942" y="0"/>
            <a:ext cx="6096942" cy="6855261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564056C-2E5A-5F05-9A8F-FFEAAD7F3F5F}"/>
              </a:ext>
            </a:extLst>
          </p:cNvPr>
          <p:cNvSpPr txBox="1"/>
          <p:nvPr/>
        </p:nvSpPr>
        <p:spPr>
          <a:xfrm>
            <a:off x="246043" y="6302633"/>
            <a:ext cx="560297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Neo Sans Std"/>
              </a:rPr>
              <a:t>Andrea Fabbri, Giacomo Lombardi, Giacomo Maldarella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1F29601-F78D-1EF3-EAC1-0ED15B50B2FA}"/>
              </a:ext>
            </a:extLst>
          </p:cNvPr>
          <p:cNvSpPr txBox="1"/>
          <p:nvPr/>
        </p:nvSpPr>
        <p:spPr>
          <a:xfrm>
            <a:off x="362177" y="1009747"/>
            <a:ext cx="5578433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4000" b="1" dirty="0">
                <a:solidFill>
                  <a:schemeClr val="bg1"/>
                </a:solidFill>
                <a:latin typeface="Neo Sans Std"/>
              </a:rPr>
              <a:t> Virtual Voice </a:t>
            </a:r>
            <a:r>
              <a:rPr lang="it-IT" sz="4000" b="1" dirty="0" err="1">
                <a:solidFill>
                  <a:schemeClr val="bg1"/>
                </a:solidFill>
                <a:latin typeface="Neo Sans Std"/>
              </a:rPr>
              <a:t>Assistants</a:t>
            </a:r>
            <a:r>
              <a:rPr lang="it-IT" sz="4000" b="1" dirty="0">
                <a:solidFill>
                  <a:schemeClr val="bg1"/>
                </a:solidFill>
                <a:latin typeface="Neo Sans Std"/>
              </a:rPr>
              <a:t> (</a:t>
            </a:r>
            <a:r>
              <a:rPr lang="it-IT" sz="4000" b="1" dirty="0" err="1">
                <a:solidFill>
                  <a:schemeClr val="bg1"/>
                </a:solidFill>
                <a:latin typeface="Neo Sans Std"/>
              </a:rPr>
              <a:t>VVAs</a:t>
            </a:r>
            <a:r>
              <a:rPr lang="it-IT" sz="4000" b="1" dirty="0">
                <a:solidFill>
                  <a:schemeClr val="bg1"/>
                </a:solidFill>
                <a:latin typeface="Neo Sans Std"/>
              </a:rPr>
              <a:t>) </a:t>
            </a:r>
            <a:r>
              <a:rPr lang="it-IT" sz="4000" b="1" i="0" dirty="0">
                <a:solidFill>
                  <a:schemeClr val="bg1"/>
                </a:solidFill>
                <a:effectLst/>
                <a:latin typeface="Neo Sans Std"/>
              </a:rPr>
              <a:t>and the </a:t>
            </a:r>
            <a:r>
              <a:rPr lang="it-IT" sz="4000" b="1" i="0" dirty="0" err="1">
                <a:solidFill>
                  <a:schemeClr val="bg1"/>
                </a:solidFill>
                <a:effectLst/>
                <a:latin typeface="Neo Sans Std"/>
              </a:rPr>
              <a:t>role</a:t>
            </a:r>
            <a:r>
              <a:rPr lang="it-IT" sz="4000" b="1" i="0" dirty="0">
                <a:solidFill>
                  <a:schemeClr val="bg1"/>
                </a:solidFill>
                <a:effectLst/>
                <a:latin typeface="Neo Sans Std"/>
              </a:rPr>
              <a:t> of the GDPR</a:t>
            </a:r>
            <a:endParaRPr lang="it-IT" sz="4000" dirty="0">
              <a:solidFill>
                <a:schemeClr val="bg1"/>
              </a:solidFill>
              <a:latin typeface="Neo Sans Std"/>
            </a:endParaRPr>
          </a:p>
        </p:txBody>
      </p:sp>
      <p:pic>
        <p:nvPicPr>
          <p:cNvPr id="9" name="Immagine 8" descr="Immagine che contiene Elementi grafici, Carattere, logo, grafica&#10;&#10;Descrizione generata automaticamente">
            <a:extLst>
              <a:ext uri="{FF2B5EF4-FFF2-40B4-BE49-F238E27FC236}">
                <a16:creationId xmlns:a16="http://schemas.microsoft.com/office/drawing/2014/main" id="{74BC6D93-1A90-74BE-2ED0-1011F3666F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979" y="3217902"/>
            <a:ext cx="2864827" cy="1946379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E28C089-F637-1CC0-054D-05C45ED454B1}"/>
              </a:ext>
            </a:extLst>
          </p:cNvPr>
          <p:cNvSpPr txBox="1"/>
          <p:nvPr/>
        </p:nvSpPr>
        <p:spPr>
          <a:xfrm>
            <a:off x="1382618" y="5950925"/>
            <a:ext cx="353755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Neo Sans Std"/>
              </a:rPr>
              <a:t>Information and Technology </a:t>
            </a:r>
            <a:r>
              <a:rPr lang="it-IT" dirty="0" err="1">
                <a:solidFill>
                  <a:schemeClr val="bg1"/>
                </a:solidFill>
                <a:latin typeface="Neo Sans Std"/>
              </a:rPr>
              <a:t>Law</a:t>
            </a:r>
            <a:endParaRPr lang="it-IT" dirty="0">
              <a:solidFill>
                <a:schemeClr val="bg1"/>
              </a:solidFill>
              <a:latin typeface="Neo Sans Std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21089DD-2F85-B5F6-21C1-9D2A51187D5A}"/>
              </a:ext>
            </a:extLst>
          </p:cNvPr>
          <p:cNvSpPr txBox="1"/>
          <p:nvPr/>
        </p:nvSpPr>
        <p:spPr>
          <a:xfrm>
            <a:off x="-10462568" y="5100111"/>
            <a:ext cx="989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DPIA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32EB57C-330C-D459-8469-9EBFDC3D0A2E}"/>
              </a:ext>
            </a:extLst>
          </p:cNvPr>
          <p:cNvSpPr txBox="1"/>
          <p:nvPr/>
        </p:nvSpPr>
        <p:spPr>
          <a:xfrm>
            <a:off x="-7071861" y="5126561"/>
            <a:ext cx="2368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 err="1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Violations</a:t>
            </a:r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 of GDPR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A8BB053-039A-64B8-BC18-F795EC1466AB}"/>
              </a:ext>
            </a:extLst>
          </p:cNvPr>
          <p:cNvSpPr txBox="1"/>
          <p:nvPr/>
        </p:nvSpPr>
        <p:spPr>
          <a:xfrm>
            <a:off x="-2499192" y="2964018"/>
            <a:ext cx="1239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Alexa &amp; Privacy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62B2F9F-644B-9FAC-B9A3-6AF6AC7B162B}"/>
              </a:ext>
            </a:extLst>
          </p:cNvPr>
          <p:cNvSpPr txBox="1"/>
          <p:nvPr/>
        </p:nvSpPr>
        <p:spPr>
          <a:xfrm>
            <a:off x="-2619740" y="5100111"/>
            <a:ext cx="1480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 err="1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Possible</a:t>
            </a:r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 Solutions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BDC71A4-258C-5678-1A59-354642DF6113}"/>
              </a:ext>
            </a:extLst>
          </p:cNvPr>
          <p:cNvSpPr txBox="1"/>
          <p:nvPr/>
        </p:nvSpPr>
        <p:spPr>
          <a:xfrm>
            <a:off x="-8250347" y="267046"/>
            <a:ext cx="455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Table</a:t>
            </a:r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 of </a:t>
            </a:r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Contents</a:t>
            </a:r>
            <a:endParaRPr lang="it-IT" sz="4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8A2415CC-D449-B1B1-6731-84DEE5731F02}"/>
              </a:ext>
            </a:extLst>
          </p:cNvPr>
          <p:cNvGrpSpPr/>
          <p:nvPr/>
        </p:nvGrpSpPr>
        <p:grpSpPr>
          <a:xfrm>
            <a:off x="-6468344" y="1872103"/>
            <a:ext cx="989788" cy="1086456"/>
            <a:chOff x="5601105" y="1872103"/>
            <a:chExt cx="989788" cy="1086456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BAACCE87-B5C2-00E6-400F-7AF7C2FED779}"/>
                </a:ext>
              </a:extLst>
            </p:cNvPr>
            <p:cNvSpPr/>
            <p:nvPr/>
          </p:nvSpPr>
          <p:spPr>
            <a:xfrm>
              <a:off x="5601105" y="1872103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16" name="Immagine 15" descr="Immagine che contiene logo, simbolo, Carattere, Elementi grafici&#10;&#10;Descrizione generata automaticamente">
              <a:extLst>
                <a:ext uri="{FF2B5EF4-FFF2-40B4-BE49-F238E27FC236}">
                  <a16:creationId xmlns:a16="http://schemas.microsoft.com/office/drawing/2014/main" id="{F28224F2-1D0C-1422-2478-C17A2E720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943" y="2095276"/>
              <a:ext cx="640110" cy="640110"/>
            </a:xfrm>
            <a:prstGeom prst="rect">
              <a:avLst/>
            </a:prstGeom>
          </p:spPr>
        </p:pic>
      </p:grpSp>
      <p:sp>
        <p:nvSpPr>
          <p:cNvPr id="17" name="Freeform 5">
            <a:extLst>
              <a:ext uri="{FF2B5EF4-FFF2-40B4-BE49-F238E27FC236}">
                <a16:creationId xmlns:a16="http://schemas.microsoft.com/office/drawing/2014/main" id="{B8260B65-7280-2859-BA2B-F3C1B48FAF7A}"/>
              </a:ext>
            </a:extLst>
          </p:cNvPr>
          <p:cNvSpPr/>
          <p:nvPr/>
        </p:nvSpPr>
        <p:spPr>
          <a:xfrm>
            <a:off x="-2365411" y="1872103"/>
            <a:ext cx="989788" cy="1086456"/>
          </a:xfrm>
          <a:custGeom>
            <a:avLst/>
            <a:gdLst>
              <a:gd name="connsiteX0" fmla="*/ 1612423 w 1612281"/>
              <a:gd name="connsiteY0" fmla="*/ 1198981 h 1769747"/>
              <a:gd name="connsiteX1" fmla="*/ 1483129 w 1612281"/>
              <a:gd name="connsiteY1" fmla="*/ 1423165 h 1769747"/>
              <a:gd name="connsiteX2" fmla="*/ 936966 w 1612281"/>
              <a:gd name="connsiteY2" fmla="*/ 1738895 h 1769747"/>
              <a:gd name="connsiteX3" fmla="*/ 677807 w 1612281"/>
              <a:gd name="connsiteY3" fmla="*/ 1739218 h 1769747"/>
              <a:gd name="connsiteX4" fmla="*/ 130825 w 1612281"/>
              <a:gd name="connsiteY4" fmla="*/ 1424906 h 1769747"/>
              <a:gd name="connsiteX5" fmla="*/ 951 w 1612281"/>
              <a:gd name="connsiteY5" fmla="*/ 1201017 h 1769747"/>
              <a:gd name="connsiteX6" fmla="*/ 142 w 1612281"/>
              <a:gd name="connsiteY6" fmla="*/ 571003 h 1769747"/>
              <a:gd name="connsiteX7" fmla="*/ 129426 w 1612281"/>
              <a:gd name="connsiteY7" fmla="*/ 346791 h 1769747"/>
              <a:gd name="connsiteX8" fmla="*/ 675637 w 1612281"/>
              <a:gd name="connsiteY8" fmla="*/ 31089 h 1769747"/>
              <a:gd name="connsiteX9" fmla="*/ 934795 w 1612281"/>
              <a:gd name="connsiteY9" fmla="*/ 30756 h 1769747"/>
              <a:gd name="connsiteX10" fmla="*/ 1481777 w 1612281"/>
              <a:gd name="connsiteY10" fmla="*/ 345078 h 1769747"/>
              <a:gd name="connsiteX11" fmla="*/ 1611642 w 1612281"/>
              <a:gd name="connsiteY11" fmla="*/ 568920 h 176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12281" h="1769747">
                <a:moveTo>
                  <a:pt x="1612423" y="1198981"/>
                </a:moveTo>
                <a:cubicBezTo>
                  <a:pt x="1612527" y="1281127"/>
                  <a:pt x="1554350" y="1382025"/>
                  <a:pt x="1483129" y="1423165"/>
                </a:cubicBezTo>
                <a:lnTo>
                  <a:pt x="936966" y="1738895"/>
                </a:lnTo>
                <a:cubicBezTo>
                  <a:pt x="865736" y="1780063"/>
                  <a:pt x="749132" y="1780187"/>
                  <a:pt x="677807" y="1739218"/>
                </a:cubicBezTo>
                <a:lnTo>
                  <a:pt x="130825" y="1424906"/>
                </a:lnTo>
                <a:cubicBezTo>
                  <a:pt x="59500" y="1383909"/>
                  <a:pt x="1056" y="1283144"/>
                  <a:pt x="951" y="1201017"/>
                </a:cubicBezTo>
                <a:lnTo>
                  <a:pt x="142" y="571003"/>
                </a:lnTo>
                <a:cubicBezTo>
                  <a:pt x="46" y="488838"/>
                  <a:pt x="58215" y="387968"/>
                  <a:pt x="129426" y="346791"/>
                </a:cubicBezTo>
                <a:lnTo>
                  <a:pt x="675637" y="31089"/>
                </a:lnTo>
                <a:cubicBezTo>
                  <a:pt x="746857" y="-10088"/>
                  <a:pt x="863470" y="-10231"/>
                  <a:pt x="934795" y="30756"/>
                </a:cubicBezTo>
                <a:lnTo>
                  <a:pt x="1481777" y="345078"/>
                </a:lnTo>
                <a:cubicBezTo>
                  <a:pt x="1553102" y="386046"/>
                  <a:pt x="1611547" y="486793"/>
                  <a:pt x="1611642" y="568920"/>
                </a:cubicBezTo>
                <a:close/>
              </a:path>
            </a:pathLst>
          </a:custGeom>
          <a:solidFill>
            <a:srgbClr val="222E3E"/>
          </a:solidFill>
          <a:ln w="9511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IT"/>
          </a:p>
        </p:txBody>
      </p:sp>
      <p:pic>
        <p:nvPicPr>
          <p:cNvPr id="18" name="Immagine 17" descr="Immagine che contiene simbolo, logo, Carattere, Elementi grafici&#10;&#10;Descrizione generata automaticamente">
            <a:extLst>
              <a:ext uri="{FF2B5EF4-FFF2-40B4-BE49-F238E27FC236}">
                <a16:creationId xmlns:a16="http://schemas.microsoft.com/office/drawing/2014/main" id="{108BBAD8-349F-E439-7D34-5407DC2450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90573" y="2092351"/>
            <a:ext cx="640111" cy="640111"/>
          </a:xfrm>
          <a:prstGeom prst="rect">
            <a:avLst/>
          </a:prstGeom>
        </p:spPr>
      </p:pic>
      <p:grpSp>
        <p:nvGrpSpPr>
          <p:cNvPr id="19" name="Gruppo 18">
            <a:extLst>
              <a:ext uri="{FF2B5EF4-FFF2-40B4-BE49-F238E27FC236}">
                <a16:creationId xmlns:a16="http://schemas.microsoft.com/office/drawing/2014/main" id="{722F0114-1841-E773-BC08-E57445F0EB7D}"/>
              </a:ext>
            </a:extLst>
          </p:cNvPr>
          <p:cNvGrpSpPr/>
          <p:nvPr/>
        </p:nvGrpSpPr>
        <p:grpSpPr>
          <a:xfrm>
            <a:off x="-2365411" y="4040105"/>
            <a:ext cx="989788" cy="1086456"/>
            <a:chOff x="9704038" y="4040105"/>
            <a:chExt cx="989788" cy="108645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BA2D7193-D179-E0A6-1DB7-DC87E86E72B6}"/>
                </a:ext>
              </a:extLst>
            </p:cNvPr>
            <p:cNvSpPr/>
            <p:nvPr/>
          </p:nvSpPr>
          <p:spPr>
            <a:xfrm>
              <a:off x="9704038" y="4040105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22" name="Immagine 21" descr="Immagine che contiene Elementi grafici, Carattere, simbolo, logo&#10;&#10;Descrizione generata automaticamente">
              <a:extLst>
                <a:ext uri="{FF2B5EF4-FFF2-40B4-BE49-F238E27FC236}">
                  <a16:creationId xmlns:a16="http://schemas.microsoft.com/office/drawing/2014/main" id="{29204F27-A2C2-F31F-DC6C-64A527B40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9891" y="4190551"/>
              <a:ext cx="640111" cy="640111"/>
            </a:xfrm>
            <a:prstGeom prst="rect">
              <a:avLst/>
            </a:prstGeom>
          </p:spPr>
        </p:pic>
      </p:grp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BA1B7F25-062C-DBD3-75F3-4E0CE3B9B63C}"/>
              </a:ext>
            </a:extLst>
          </p:cNvPr>
          <p:cNvGrpSpPr/>
          <p:nvPr/>
        </p:nvGrpSpPr>
        <p:grpSpPr>
          <a:xfrm>
            <a:off x="-10461333" y="1872103"/>
            <a:ext cx="989788" cy="1086456"/>
            <a:chOff x="1608116" y="1872103"/>
            <a:chExt cx="989788" cy="1086456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164CCB52-3BE2-783E-C8C5-D4F5F7840D0D}"/>
                </a:ext>
              </a:extLst>
            </p:cNvPr>
            <p:cNvSpPr/>
            <p:nvPr/>
          </p:nvSpPr>
          <p:spPr>
            <a:xfrm>
              <a:off x="1608116" y="1872103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>
                <a:solidFill>
                  <a:schemeClr val="bg1"/>
                </a:solidFill>
              </a:endParaRPr>
            </a:p>
          </p:txBody>
        </p:sp>
        <p:pic>
          <p:nvPicPr>
            <p:cNvPr id="25" name="Immagine 24" descr="Immagine che contiene simbolo, schermata, Carattere, logo&#10;&#10;Descrizione generata automaticamente">
              <a:extLst>
                <a:ext uri="{FF2B5EF4-FFF2-40B4-BE49-F238E27FC236}">
                  <a16:creationId xmlns:a16="http://schemas.microsoft.com/office/drawing/2014/main" id="{786BCEC7-BEEC-7142-68BD-0AF96491A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2095276"/>
              <a:ext cx="640111" cy="640111"/>
            </a:xfrm>
            <a:prstGeom prst="rect">
              <a:avLst/>
            </a:prstGeom>
          </p:spPr>
        </p:pic>
      </p:grp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C2379F34-C9D0-3B2E-970A-C744C664B2BA}"/>
              </a:ext>
            </a:extLst>
          </p:cNvPr>
          <p:cNvSpPr txBox="1"/>
          <p:nvPr/>
        </p:nvSpPr>
        <p:spPr>
          <a:xfrm>
            <a:off x="-10964483" y="2959471"/>
            <a:ext cx="19551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How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VVAs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work</a:t>
            </a:r>
          </a:p>
        </p:txBody>
      </p: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62F40BF1-7595-80B0-9A67-F91616D8C8B5}"/>
              </a:ext>
            </a:extLst>
          </p:cNvPr>
          <p:cNvGrpSpPr/>
          <p:nvPr/>
        </p:nvGrpSpPr>
        <p:grpSpPr>
          <a:xfrm>
            <a:off x="-10461335" y="4040561"/>
            <a:ext cx="989788" cy="1086456"/>
            <a:chOff x="1608114" y="4040561"/>
            <a:chExt cx="989788" cy="1086456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B0CC5776-87A7-C2DD-253B-EF5B8937D84E}"/>
                </a:ext>
              </a:extLst>
            </p:cNvPr>
            <p:cNvSpPr/>
            <p:nvPr/>
          </p:nvSpPr>
          <p:spPr>
            <a:xfrm>
              <a:off x="1608114" y="4040561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29" name="Immagine 28" descr="Immagine che contiene Carattere, simbolo, Elementi grafici, design&#10;&#10;Descrizione generata automaticamente">
              <a:extLst>
                <a:ext uri="{FF2B5EF4-FFF2-40B4-BE49-F238E27FC236}">
                  <a16:creationId xmlns:a16="http://schemas.microsoft.com/office/drawing/2014/main" id="{9C808BD4-6EA2-1CCF-889A-74D4D391D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4261506"/>
              <a:ext cx="640111" cy="640111"/>
            </a:xfrm>
            <a:prstGeom prst="rect">
              <a:avLst/>
            </a:prstGeom>
          </p:spPr>
        </p:pic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355AEBC5-9D30-F3E7-4950-570BE66F130C}"/>
              </a:ext>
            </a:extLst>
          </p:cNvPr>
          <p:cNvGrpSpPr/>
          <p:nvPr/>
        </p:nvGrpSpPr>
        <p:grpSpPr>
          <a:xfrm>
            <a:off x="-6468344" y="4040105"/>
            <a:ext cx="989788" cy="1086456"/>
            <a:chOff x="5601105" y="4040105"/>
            <a:chExt cx="989788" cy="1086456"/>
          </a:xfrm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B574F763-D062-7427-96AB-7335B9853B58}"/>
                </a:ext>
              </a:extLst>
            </p:cNvPr>
            <p:cNvSpPr/>
            <p:nvPr/>
          </p:nvSpPr>
          <p:spPr>
            <a:xfrm>
              <a:off x="5601105" y="4040105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32" name="Immagine 31" descr="Immagine che contiene Carattere, Elementi grafici, simbolo, logo&#10;&#10;Descrizione generata automaticamente">
              <a:extLst>
                <a:ext uri="{FF2B5EF4-FFF2-40B4-BE49-F238E27FC236}">
                  <a16:creationId xmlns:a16="http://schemas.microsoft.com/office/drawing/2014/main" id="{D866B9B9-91AB-5DB3-D765-5CADDB4F6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3396" y="4261505"/>
              <a:ext cx="640111" cy="640111"/>
            </a:xfrm>
            <a:prstGeom prst="rect">
              <a:avLst/>
            </a:prstGeom>
          </p:spPr>
        </p:pic>
      </p:grp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0EFE7227-172B-CF37-D8FE-1EEE4AF9A258}"/>
              </a:ext>
            </a:extLst>
          </p:cNvPr>
          <p:cNvSpPr txBox="1"/>
          <p:nvPr/>
        </p:nvSpPr>
        <p:spPr>
          <a:xfrm>
            <a:off x="-7071861" y="2954043"/>
            <a:ext cx="21303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Personal Data &amp; GDPR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A3C56B36-391F-CD73-E131-F120CF3C90A6}"/>
              </a:ext>
            </a:extLst>
          </p:cNvPr>
          <p:cNvSpPr/>
          <p:nvPr/>
        </p:nvSpPr>
        <p:spPr>
          <a:xfrm>
            <a:off x="-9671692" y="0"/>
            <a:ext cx="9740028" cy="6855261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5" name="Immagine 34" descr="Immagine che contiene Elementi grafici, clipart, simbolo, grafica&#10;&#10;Descrizione generata automaticamente">
            <a:extLst>
              <a:ext uri="{FF2B5EF4-FFF2-40B4-BE49-F238E27FC236}">
                <a16:creationId xmlns:a16="http://schemas.microsoft.com/office/drawing/2014/main" id="{6CC6C2E5-2A8E-12CE-6FBA-3C0CC2EABC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5376268" y="3971602"/>
            <a:ext cx="1149178" cy="1149178"/>
          </a:xfrm>
          <a:prstGeom prst="rect">
            <a:avLst/>
          </a:prstGeom>
        </p:spPr>
      </p:pic>
      <p:pic>
        <p:nvPicPr>
          <p:cNvPr id="36" name="Immagine 35" descr="Immagine che contiene Carattere, simbolo, Elementi grafici, logo&#10;&#10;Descrizione generata automaticamente">
            <a:extLst>
              <a:ext uri="{FF2B5EF4-FFF2-40B4-BE49-F238E27FC236}">
                <a16:creationId xmlns:a16="http://schemas.microsoft.com/office/drawing/2014/main" id="{11ABA15C-89A2-2C0C-3E2A-78447FB888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562216" y="2536403"/>
            <a:ext cx="1149178" cy="1149178"/>
          </a:xfrm>
          <a:prstGeom prst="rect">
            <a:avLst/>
          </a:prstGeom>
        </p:spPr>
      </p:pic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BE9C9831-54B3-D03B-2EFC-32AF9047726D}"/>
              </a:ext>
            </a:extLst>
          </p:cNvPr>
          <p:cNvSpPr txBox="1"/>
          <p:nvPr/>
        </p:nvSpPr>
        <p:spPr>
          <a:xfrm>
            <a:off x="-9410436" y="3879342"/>
            <a:ext cx="271951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Neo Sans Std"/>
              </a:rPr>
              <a:t>Smart </a:t>
            </a:r>
            <a:r>
              <a:rPr lang="it-IT" sz="2400" b="1" dirty="0" err="1">
                <a:solidFill>
                  <a:schemeClr val="bg1"/>
                </a:solidFill>
                <a:latin typeface="Neo Sans Std"/>
              </a:rPr>
              <a:t>Assistants</a:t>
            </a:r>
            <a:endParaRPr lang="it-IT" sz="2400" b="1" dirty="0">
              <a:solidFill>
                <a:schemeClr val="bg1"/>
              </a:solidFill>
              <a:latin typeface="Neo Sans Std"/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07CC7598-FA24-2FA3-5536-A5A4851A4A8D}"/>
              </a:ext>
            </a:extLst>
          </p:cNvPr>
          <p:cNvSpPr txBox="1"/>
          <p:nvPr/>
        </p:nvSpPr>
        <p:spPr>
          <a:xfrm>
            <a:off x="-6150164" y="5120780"/>
            <a:ext cx="2696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Privacy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Concerns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398A75E7-035B-5B96-7D33-B9A0D33D4A64}"/>
              </a:ext>
            </a:extLst>
          </p:cNvPr>
          <p:cNvSpPr txBox="1"/>
          <p:nvPr/>
        </p:nvSpPr>
        <p:spPr>
          <a:xfrm>
            <a:off x="-3432384" y="3879342"/>
            <a:ext cx="2889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Behind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the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scenes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pic>
        <p:nvPicPr>
          <p:cNvPr id="40" name="Immagine 39" descr="Immagine che contiene simbolo, Elementi grafici, clipart, Carattere&#10;&#10;Descrizione generata automaticamente">
            <a:extLst>
              <a:ext uri="{FF2B5EF4-FFF2-40B4-BE49-F238E27FC236}">
                <a16:creationId xmlns:a16="http://schemas.microsoft.com/office/drawing/2014/main" id="{5F95B5A3-CBA8-E8AF-564C-7D36BF5B46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625268" y="2536402"/>
            <a:ext cx="1149179" cy="1149179"/>
          </a:xfrm>
          <a:prstGeom prst="rect">
            <a:avLst/>
          </a:prstGeom>
        </p:spPr>
      </p:pic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BA8FDAEB-3ACC-589D-2A94-120DE0B78653}"/>
              </a:ext>
            </a:extLst>
          </p:cNvPr>
          <p:cNvSpPr txBox="1"/>
          <p:nvPr/>
        </p:nvSpPr>
        <p:spPr>
          <a:xfrm>
            <a:off x="-6925341" y="515902"/>
            <a:ext cx="42473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How </a:t>
            </a:r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VVAs</a:t>
            </a:r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 work</a:t>
            </a:r>
          </a:p>
        </p:txBody>
      </p:sp>
      <p:grpSp>
        <p:nvGrpSpPr>
          <p:cNvPr id="42" name="Gruppo 41">
            <a:extLst>
              <a:ext uri="{FF2B5EF4-FFF2-40B4-BE49-F238E27FC236}">
                <a16:creationId xmlns:a16="http://schemas.microsoft.com/office/drawing/2014/main" id="{7F37E6BD-2067-6BBC-E04D-90F3136E721E}"/>
              </a:ext>
            </a:extLst>
          </p:cNvPr>
          <p:cNvGrpSpPr/>
          <p:nvPr/>
        </p:nvGrpSpPr>
        <p:grpSpPr>
          <a:xfrm>
            <a:off x="-7915129" y="326617"/>
            <a:ext cx="989788" cy="1086456"/>
            <a:chOff x="1608116" y="1872103"/>
            <a:chExt cx="989788" cy="1086456"/>
          </a:xfrm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816E8891-FC66-6C15-331E-584140DAF9EE}"/>
                </a:ext>
              </a:extLst>
            </p:cNvPr>
            <p:cNvSpPr/>
            <p:nvPr/>
          </p:nvSpPr>
          <p:spPr>
            <a:xfrm>
              <a:off x="1608116" y="1872103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>
                <a:solidFill>
                  <a:schemeClr val="bg1"/>
                </a:solidFill>
              </a:endParaRPr>
            </a:p>
          </p:txBody>
        </p:sp>
        <p:pic>
          <p:nvPicPr>
            <p:cNvPr id="44" name="Immagine 43" descr="Immagine che contiene simbolo, schermata, Carattere, logo&#10;&#10;Descrizione generata automaticamente">
              <a:extLst>
                <a:ext uri="{FF2B5EF4-FFF2-40B4-BE49-F238E27FC236}">
                  <a16:creationId xmlns:a16="http://schemas.microsoft.com/office/drawing/2014/main" id="{DE6A2EAA-20CE-45B6-6AC7-43EF6EB5B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2095276"/>
              <a:ext cx="640111" cy="640111"/>
            </a:xfrm>
            <a:prstGeom prst="rect">
              <a:avLst/>
            </a:prstGeom>
          </p:spPr>
        </p:pic>
      </p:grpSp>
      <p:pic>
        <p:nvPicPr>
          <p:cNvPr id="45" name="Immagine 44" descr="Immagine che contiene Elementi grafici, Carattere, logo, grafica&#10;&#10;Descrizione generata automaticamente">
            <a:extLst>
              <a:ext uri="{FF2B5EF4-FFF2-40B4-BE49-F238E27FC236}">
                <a16:creationId xmlns:a16="http://schemas.microsoft.com/office/drawing/2014/main" id="{08536300-3CF0-71F9-EA2E-38BA70750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30799" y="4110174"/>
            <a:ext cx="1086343" cy="73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121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Cassa di risonanza, altoparlante, oratore&#10;&#10;Descrizione generata automaticamente">
            <a:extLst>
              <a:ext uri="{FF2B5EF4-FFF2-40B4-BE49-F238E27FC236}">
                <a16:creationId xmlns:a16="http://schemas.microsoft.com/office/drawing/2014/main" id="{5758688A-7200-95CE-E03A-3E7542DE6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130" y="1912390"/>
            <a:ext cx="6304680" cy="3546383"/>
          </a:xfrm>
          <a:prstGeom prst="rect">
            <a:avLst/>
          </a:prstGeom>
          <a:ln>
            <a:noFill/>
          </a:ln>
        </p:spPr>
      </p:pic>
      <p:sp>
        <p:nvSpPr>
          <p:cNvPr id="21" name="Rettangolo 20">
            <a:extLst>
              <a:ext uri="{FF2B5EF4-FFF2-40B4-BE49-F238E27FC236}">
                <a16:creationId xmlns:a16="http://schemas.microsoft.com/office/drawing/2014/main" id="{5B5A3326-4974-3583-F592-35FE0DE5A075}"/>
              </a:ext>
            </a:extLst>
          </p:cNvPr>
          <p:cNvSpPr/>
          <p:nvPr/>
        </p:nvSpPr>
        <p:spPr>
          <a:xfrm>
            <a:off x="-942" y="0"/>
            <a:ext cx="9740028" cy="6855261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 descr="Immagine che contiene Elementi grafici, clipart, simbolo, grafica&#10;&#10;Descrizione generata automaticamente">
            <a:extLst>
              <a:ext uri="{FF2B5EF4-FFF2-40B4-BE49-F238E27FC236}">
                <a16:creationId xmlns:a16="http://schemas.microsoft.com/office/drawing/2014/main" id="{AFB79372-0438-F5A9-EA91-9DE5C3803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482" y="3971602"/>
            <a:ext cx="1149178" cy="1149178"/>
          </a:xfrm>
          <a:prstGeom prst="rect">
            <a:avLst/>
          </a:prstGeom>
        </p:spPr>
      </p:pic>
      <p:pic>
        <p:nvPicPr>
          <p:cNvPr id="6" name="Immagine 5" descr="Immagine che contiene Carattere, simbolo, Elementi grafici, logo&#10;&#10;Descrizione generata automaticamente">
            <a:extLst>
              <a:ext uri="{FF2B5EF4-FFF2-40B4-BE49-F238E27FC236}">
                <a16:creationId xmlns:a16="http://schemas.microsoft.com/office/drawing/2014/main" id="{306304F0-D02F-F0FE-C75D-DF60A50EC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534" y="2536403"/>
            <a:ext cx="1149178" cy="1149178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034051AC-64A7-1AC5-4F17-5CDB18E33AEE}"/>
              </a:ext>
            </a:extLst>
          </p:cNvPr>
          <p:cNvSpPr txBox="1"/>
          <p:nvPr/>
        </p:nvSpPr>
        <p:spPr>
          <a:xfrm>
            <a:off x="260314" y="3879342"/>
            <a:ext cx="271951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Neo Sans Std"/>
              </a:rPr>
              <a:t>Smart </a:t>
            </a:r>
            <a:r>
              <a:rPr lang="it-IT" sz="2400" b="1" dirty="0" err="1">
                <a:solidFill>
                  <a:schemeClr val="bg1"/>
                </a:solidFill>
                <a:latin typeface="Neo Sans Std"/>
              </a:rPr>
              <a:t>Assistants</a:t>
            </a:r>
            <a:endParaRPr lang="it-IT" sz="2400" b="1" dirty="0">
              <a:solidFill>
                <a:schemeClr val="bg1"/>
              </a:solidFill>
              <a:latin typeface="Neo Sans Std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8406507-41F6-4CB3-89E1-4D8A6B33BFEF}"/>
              </a:ext>
            </a:extLst>
          </p:cNvPr>
          <p:cNvSpPr txBox="1"/>
          <p:nvPr/>
        </p:nvSpPr>
        <p:spPr>
          <a:xfrm>
            <a:off x="3520586" y="5120780"/>
            <a:ext cx="2696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Privacy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Concerns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DFBE59A-0333-7EDC-6415-63A21CCB339E}"/>
              </a:ext>
            </a:extLst>
          </p:cNvPr>
          <p:cNvSpPr txBox="1"/>
          <p:nvPr/>
        </p:nvSpPr>
        <p:spPr>
          <a:xfrm>
            <a:off x="6238366" y="3879342"/>
            <a:ext cx="2889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Behind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the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scenes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pic>
        <p:nvPicPr>
          <p:cNvPr id="12" name="Immagine 11" descr="Immagine che contiene simbolo, Elementi grafici, clipart, Carattere&#10;&#10;Descrizione generata automaticamente">
            <a:extLst>
              <a:ext uri="{FF2B5EF4-FFF2-40B4-BE49-F238E27FC236}">
                <a16:creationId xmlns:a16="http://schemas.microsoft.com/office/drawing/2014/main" id="{CF299ECD-9A89-7011-FE57-95D0B02787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482" y="2536402"/>
            <a:ext cx="1149179" cy="114917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E3969C6-421D-7EDE-84FA-7546D1FF3B36}"/>
              </a:ext>
            </a:extLst>
          </p:cNvPr>
          <p:cNvSpPr txBox="1"/>
          <p:nvPr/>
        </p:nvSpPr>
        <p:spPr>
          <a:xfrm>
            <a:off x="2745409" y="515902"/>
            <a:ext cx="42473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How </a:t>
            </a:r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VVAs</a:t>
            </a:r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 work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36CECFF2-C71F-EFCE-5CF9-7B5E821E0C5A}"/>
              </a:ext>
            </a:extLst>
          </p:cNvPr>
          <p:cNvGrpSpPr/>
          <p:nvPr/>
        </p:nvGrpSpPr>
        <p:grpSpPr>
          <a:xfrm>
            <a:off x="1755621" y="326617"/>
            <a:ext cx="989788" cy="1086456"/>
            <a:chOff x="1608116" y="1872103"/>
            <a:chExt cx="989788" cy="108645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0DE75230-CE8D-98B6-4CAB-BE0EA47E6576}"/>
                </a:ext>
              </a:extLst>
            </p:cNvPr>
            <p:cNvSpPr/>
            <p:nvPr/>
          </p:nvSpPr>
          <p:spPr>
            <a:xfrm>
              <a:off x="1608116" y="1872103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>
                <a:solidFill>
                  <a:schemeClr val="bg1"/>
                </a:solidFill>
              </a:endParaRPr>
            </a:p>
          </p:txBody>
        </p:sp>
        <p:pic>
          <p:nvPicPr>
            <p:cNvPr id="13" name="Immagine 12" descr="Immagine che contiene simbolo, schermata, Carattere, logo&#10;&#10;Descrizione generata automaticamente">
              <a:extLst>
                <a:ext uri="{FF2B5EF4-FFF2-40B4-BE49-F238E27FC236}">
                  <a16:creationId xmlns:a16="http://schemas.microsoft.com/office/drawing/2014/main" id="{84555C3E-8CBA-4DAF-ED63-715BEFCF6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2095276"/>
              <a:ext cx="640111" cy="640111"/>
            </a:xfrm>
            <a:prstGeom prst="rect">
              <a:avLst/>
            </a:prstGeom>
          </p:spPr>
        </p:pic>
      </p:grpSp>
      <p:pic>
        <p:nvPicPr>
          <p:cNvPr id="2" name="Immagine 1" descr="Immagine che contiene Elementi grafici, Carattere, logo, grafica&#10;&#10;Descrizione generata automaticamente">
            <a:extLst>
              <a:ext uri="{FF2B5EF4-FFF2-40B4-BE49-F238E27FC236}">
                <a16:creationId xmlns:a16="http://schemas.microsoft.com/office/drawing/2014/main" id="{E9A095F9-180E-6E29-0B3C-DDF116A51D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951" y="4110174"/>
            <a:ext cx="1086343" cy="73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051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4" descr="Immagine che contiene Cassa di risonanza, altoparlante, oratore&#10;&#10;Descrizione generat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1130" y="1912390"/>
            <a:ext cx="6304680" cy="354638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4"/>
          <p:cNvSpPr/>
          <p:nvPr/>
        </p:nvSpPr>
        <p:spPr>
          <a:xfrm>
            <a:off x="-942" y="0"/>
            <a:ext cx="9740100" cy="685530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4" descr="Immagine che contiene Elementi grafici, clipart, simbolo, grafica&#10;&#10;Descrizione generat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69210" y="5522326"/>
            <a:ext cx="999720" cy="99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4" descr="Immagine che contiene Carattere, simbolo, Elementi grafici, logo&#10;&#10;Descrizione generata automaticament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21411" y="5522327"/>
            <a:ext cx="999718" cy="999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4" descr="Immagine che contiene simbolo, Elementi grafici, clipart, Carattere&#10;&#10;Descrizione generata automaticamente"/>
          <p:cNvPicPr preferRelativeResize="0"/>
          <p:nvPr/>
        </p:nvPicPr>
        <p:blipFill rotWithShape="1">
          <a:blip r:embed="rId6">
            <a:alphaModFix/>
          </a:blip>
          <a:srcRect l="18556" t="3366" r="16055"/>
          <a:stretch/>
        </p:blipFill>
        <p:spPr>
          <a:xfrm>
            <a:off x="3067542" y="5023567"/>
            <a:ext cx="1149178" cy="169826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4"/>
          <p:cNvSpPr txBox="1"/>
          <p:nvPr/>
        </p:nvSpPr>
        <p:spPr>
          <a:xfrm>
            <a:off x="701851" y="1868925"/>
            <a:ext cx="647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</a:pPr>
            <a:r>
              <a:rPr lang="it-IT" sz="2000" b="1" dirty="0" err="1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Enable</a:t>
            </a:r>
            <a:r>
              <a:rPr lang="it-IT" sz="2000" b="1" dirty="0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 </a:t>
            </a:r>
            <a:r>
              <a:rPr lang="it-IT" sz="2000" b="1" dirty="0" err="1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natural</a:t>
            </a:r>
            <a:r>
              <a:rPr lang="it-IT" sz="2000" b="1" dirty="0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 </a:t>
            </a:r>
            <a:r>
              <a:rPr lang="it-IT" sz="2000" b="1" dirty="0" err="1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language</a:t>
            </a:r>
            <a:r>
              <a:rPr lang="it-IT" sz="2000" b="1" dirty="0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 </a:t>
            </a:r>
            <a:r>
              <a:rPr lang="it-IT" sz="2000" b="1" dirty="0" err="1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oral</a:t>
            </a:r>
            <a:r>
              <a:rPr lang="it-IT" sz="2000" b="1" dirty="0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 </a:t>
            </a:r>
            <a:r>
              <a:rPr lang="it-IT" sz="2000" b="1" dirty="0" err="1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communication</a:t>
            </a:r>
            <a:endParaRPr sz="2000" b="1" dirty="0">
              <a:solidFill>
                <a:schemeClr val="lt1"/>
              </a:solidFill>
              <a:latin typeface="Neo Sans Std" panose="020B050403050404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701848" y="2786554"/>
            <a:ext cx="660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</a:pPr>
            <a:r>
              <a:rPr lang="it-IT" sz="2000" b="1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Understand and respond to user requests</a:t>
            </a:r>
            <a:endParaRPr sz="2000" b="1">
              <a:solidFill>
                <a:schemeClr val="lt1"/>
              </a:solidFill>
              <a:latin typeface="Neo Sans Std" panose="020B050403050404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701848" y="3665625"/>
            <a:ext cx="660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</a:pPr>
            <a:r>
              <a:rPr lang="it-IT" sz="2000" b="1" dirty="0" err="1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Perform</a:t>
            </a:r>
            <a:r>
              <a:rPr lang="it-IT" sz="2000" b="1" dirty="0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 </a:t>
            </a:r>
            <a:r>
              <a:rPr lang="it-IT" sz="2000" b="1" dirty="0" err="1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physical</a:t>
            </a:r>
            <a:r>
              <a:rPr lang="it-IT" sz="2000" b="1" dirty="0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 tasks on </a:t>
            </a:r>
            <a:r>
              <a:rPr lang="it-IT" sz="2000" b="1" dirty="0" err="1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connected</a:t>
            </a:r>
            <a:r>
              <a:rPr lang="it-IT" sz="2000" b="1" dirty="0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 devices</a:t>
            </a:r>
            <a:endParaRPr dirty="0">
              <a:latin typeface="Neo Sans Std" panose="020B050403050404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6578B2F-293A-3CBE-7419-513A26364768}"/>
              </a:ext>
            </a:extLst>
          </p:cNvPr>
          <p:cNvSpPr txBox="1"/>
          <p:nvPr/>
        </p:nvSpPr>
        <p:spPr>
          <a:xfrm>
            <a:off x="2745409" y="515902"/>
            <a:ext cx="4300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Smart </a:t>
            </a:r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Assistants</a:t>
            </a:r>
            <a:endParaRPr lang="it-IT" sz="4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5" descr="Immagine che contiene Cassa di risonanza, altoparlante, oratore&#10;&#10;Descrizione generat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1130" y="1912390"/>
            <a:ext cx="6304680" cy="354638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/>
          <p:nvPr/>
        </p:nvSpPr>
        <p:spPr>
          <a:xfrm>
            <a:off x="-942" y="0"/>
            <a:ext cx="9740028" cy="6855261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5" descr="Immagine che contiene Elementi grafici, clipart, simbolo, grafica&#10;&#10;Descrizione generat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8403" y="4771742"/>
            <a:ext cx="1757448" cy="1757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" descr="Immagine che contiene simbolo, Elementi grafici, clipart, Carattere&#10;&#10;Descrizione generata automaticamente"/>
          <p:cNvPicPr preferRelativeResize="0"/>
          <p:nvPr/>
        </p:nvPicPr>
        <p:blipFill rotWithShape="1">
          <a:blip r:embed="rId5">
            <a:alphaModFix/>
          </a:blip>
          <a:srcRect l="18556" t="3366" r="16055"/>
          <a:stretch/>
        </p:blipFill>
        <p:spPr>
          <a:xfrm>
            <a:off x="3127749" y="5522926"/>
            <a:ext cx="676488" cy="99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5" descr="Immagine che contiene Carattere, simbolo, Elementi grafici, logo&#10;&#10;Descrizione generata automaticament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21411" y="5522927"/>
            <a:ext cx="999718" cy="99971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5"/>
          <p:cNvSpPr txBox="1"/>
          <p:nvPr/>
        </p:nvSpPr>
        <p:spPr>
          <a:xfrm>
            <a:off x="802406" y="1844676"/>
            <a:ext cx="558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</a:pPr>
            <a:r>
              <a:rPr lang="it-IT" sz="2000" b="1" dirty="0" err="1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Continuous</a:t>
            </a:r>
            <a:r>
              <a:rPr lang="it-IT" sz="2000" b="1" dirty="0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 </a:t>
            </a:r>
            <a:r>
              <a:rPr lang="it-IT" sz="2000" b="1" dirty="0" err="1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listening</a:t>
            </a:r>
            <a:endParaRPr sz="2000" b="1" dirty="0">
              <a:solidFill>
                <a:schemeClr val="lt1"/>
              </a:solidFill>
              <a:latin typeface="Neo Sans Std" panose="020B050403050404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802400" y="2708250"/>
            <a:ext cx="8861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</a:pPr>
            <a:r>
              <a:rPr lang="it-IT" sz="2000" b="1" dirty="0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Collection of personal data </a:t>
            </a:r>
            <a:r>
              <a:rPr lang="it-IT" sz="2000" b="1" dirty="0" err="1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extends</a:t>
            </a:r>
            <a:r>
              <a:rPr lang="it-IT" sz="2000" b="1" dirty="0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 </a:t>
            </a:r>
            <a:r>
              <a:rPr lang="it-IT" sz="2000" b="1" dirty="0" err="1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beyond</a:t>
            </a:r>
            <a:r>
              <a:rPr lang="it-IT" sz="2000" b="1" dirty="0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 the </a:t>
            </a:r>
            <a:r>
              <a:rPr lang="it-IT" sz="2000" b="1" dirty="0" err="1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direct</a:t>
            </a:r>
            <a:r>
              <a:rPr lang="it-IT" sz="2000" b="1" dirty="0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 user to the </a:t>
            </a:r>
            <a:r>
              <a:rPr lang="it-IT" sz="2000" b="1" dirty="0" err="1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surrounding</a:t>
            </a:r>
            <a:r>
              <a:rPr lang="it-IT" sz="2000" b="1" dirty="0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 </a:t>
            </a:r>
            <a:r>
              <a:rPr lang="it-IT" sz="2000" b="1" dirty="0" err="1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environment</a:t>
            </a:r>
            <a:endParaRPr sz="2000" b="1" dirty="0">
              <a:solidFill>
                <a:schemeClr val="lt1"/>
              </a:solidFill>
              <a:latin typeface="Neo Sans Std" panose="020B050403050404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802399" y="3893900"/>
            <a:ext cx="726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</a:pPr>
            <a:r>
              <a:rPr lang="it-IT" sz="2000" b="1">
                <a:solidFill>
                  <a:schemeClr val="lt1"/>
                </a:solidFill>
                <a:latin typeface="Neo Sans Std" panose="020B0504030504040204" pitchFamily="34" charset="0"/>
                <a:ea typeface="Arial"/>
                <a:cs typeface="Arial"/>
                <a:sym typeface="Arial"/>
              </a:rPr>
              <a:t>Potential surveillance and profiling of individuals</a:t>
            </a:r>
            <a:endParaRPr sz="2000" b="1">
              <a:solidFill>
                <a:schemeClr val="lt1"/>
              </a:solidFill>
              <a:latin typeface="Neo Sans Std" panose="020B050403050404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8BAA7A9-1A50-7AC5-D506-942902407FA6}"/>
              </a:ext>
            </a:extLst>
          </p:cNvPr>
          <p:cNvSpPr txBox="1"/>
          <p:nvPr/>
        </p:nvSpPr>
        <p:spPr>
          <a:xfrm>
            <a:off x="2745409" y="515902"/>
            <a:ext cx="4300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Privacy </a:t>
            </a:r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concerns</a:t>
            </a:r>
            <a:endParaRPr lang="it-IT" sz="4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20">
            <a:extLst>
              <a:ext uri="{FF2B5EF4-FFF2-40B4-BE49-F238E27FC236}">
                <a16:creationId xmlns:a16="http://schemas.microsoft.com/office/drawing/2014/main" id="{5B5A3326-4974-3583-F592-35FE0DE5A075}"/>
              </a:ext>
            </a:extLst>
          </p:cNvPr>
          <p:cNvSpPr/>
          <p:nvPr/>
        </p:nvSpPr>
        <p:spPr>
          <a:xfrm>
            <a:off x="0" y="2739"/>
            <a:ext cx="12192942" cy="6855261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A62F158-C1EC-E4B0-10DF-CB37F29E9920}"/>
              </a:ext>
            </a:extLst>
          </p:cNvPr>
          <p:cNvSpPr txBox="1"/>
          <p:nvPr/>
        </p:nvSpPr>
        <p:spPr>
          <a:xfrm>
            <a:off x="1493708" y="2234662"/>
            <a:ext cx="1378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>
                <a:solidFill>
                  <a:schemeClr val="bg1"/>
                </a:solidFill>
              </a:rPr>
              <a:t>Alexa, tell me the </a:t>
            </a:r>
            <a:r>
              <a:rPr lang="it-IT" sz="1600" i="1" dirty="0" err="1">
                <a:solidFill>
                  <a:schemeClr val="bg1"/>
                </a:solidFill>
              </a:rPr>
              <a:t>weather</a:t>
            </a:r>
            <a:r>
              <a:rPr lang="it-IT" sz="1600" i="1" dirty="0">
                <a:solidFill>
                  <a:schemeClr val="bg1"/>
                </a:solidFill>
              </a:rPr>
              <a:t> in Pisa. 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AEF7A325-2AB0-F2CE-BAAB-07E7D2C19A55}"/>
              </a:ext>
            </a:extLst>
          </p:cNvPr>
          <p:cNvCxnSpPr>
            <a:cxnSpLocks/>
          </p:cNvCxnSpPr>
          <p:nvPr/>
        </p:nvCxnSpPr>
        <p:spPr>
          <a:xfrm>
            <a:off x="7042096" y="3610899"/>
            <a:ext cx="2923916" cy="0"/>
          </a:xfrm>
          <a:prstGeom prst="straightConnector1">
            <a:avLst/>
          </a:prstGeom>
          <a:ln w="762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9323616-E46D-699B-37DF-B0DFDD94927D}"/>
              </a:ext>
            </a:extLst>
          </p:cNvPr>
          <p:cNvSpPr txBox="1"/>
          <p:nvPr/>
        </p:nvSpPr>
        <p:spPr>
          <a:xfrm>
            <a:off x="3904219" y="4124848"/>
            <a:ext cx="4382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1600" b="1" dirty="0">
                <a:solidFill>
                  <a:schemeClr val="bg1"/>
                </a:solidFill>
                <a:effectLst/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ecognition process filters the sound to isolate only the specific word, activating the device and ignoring other sounds.</a:t>
            </a:r>
            <a:r>
              <a:rPr lang="it-IT" sz="1600" b="1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 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6838304-F883-A2E5-5C28-799572F7FA52}"/>
              </a:ext>
            </a:extLst>
          </p:cNvPr>
          <p:cNvSpPr txBox="1"/>
          <p:nvPr/>
        </p:nvSpPr>
        <p:spPr>
          <a:xfrm>
            <a:off x="6547483" y="2523818"/>
            <a:ext cx="3906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ffectLst/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request is encrypted and transmitted to the Amazon cloud</a:t>
            </a:r>
            <a:endParaRPr lang="it-IT" sz="11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3D8FC17-D5AE-6707-FC78-FCFACE865A55}"/>
              </a:ext>
            </a:extLst>
          </p:cNvPr>
          <p:cNvSpPr txBox="1"/>
          <p:nvPr/>
        </p:nvSpPr>
        <p:spPr>
          <a:xfrm>
            <a:off x="1286396" y="1211021"/>
            <a:ext cx="9618133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Echo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device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constant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listening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mode,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until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detects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wake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word,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does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transmit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audio and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performs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operation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than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detecting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specific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word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pic>
        <p:nvPicPr>
          <p:cNvPr id="7" name="Immagine 6" descr="Immagine che contiene Cassa di risonanza, altoparlante, oratore&#10;&#10;Descrizione generata automaticamente">
            <a:extLst>
              <a:ext uri="{FF2B5EF4-FFF2-40B4-BE49-F238E27FC236}">
                <a16:creationId xmlns:a16="http://schemas.microsoft.com/office/drawing/2014/main" id="{5758688A-7200-95CE-E03A-3E7542DE6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474" y="3108593"/>
            <a:ext cx="1785978" cy="1004613"/>
          </a:xfrm>
          <a:prstGeom prst="rect">
            <a:avLst/>
          </a:prstGeom>
        </p:spPr>
      </p:pic>
      <p:pic>
        <p:nvPicPr>
          <p:cNvPr id="4" name="Immagine 3" descr="Immagine che contiene simbolo, Elementi grafici, clipart, Carattere&#10;&#10;Descrizione generata automaticamente">
            <a:extLst>
              <a:ext uri="{FF2B5EF4-FFF2-40B4-BE49-F238E27FC236}">
                <a16:creationId xmlns:a16="http://schemas.microsoft.com/office/drawing/2014/main" id="{FE353EC7-F9B1-9E4E-0A24-18162FF14A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556" t="3367" r="16055"/>
          <a:stretch/>
        </p:blipFill>
        <p:spPr>
          <a:xfrm>
            <a:off x="4745374" y="5722101"/>
            <a:ext cx="676488" cy="999720"/>
          </a:xfrm>
          <a:prstGeom prst="rect">
            <a:avLst/>
          </a:prstGeom>
        </p:spPr>
      </p:pic>
      <p:pic>
        <p:nvPicPr>
          <p:cNvPr id="10" name="Immagine 9" descr="Immagine che contiene Elementi grafici, clipart, simbolo, grafica&#10;&#10;Descrizione generata automaticamente">
            <a:extLst>
              <a:ext uri="{FF2B5EF4-FFF2-40B4-BE49-F238E27FC236}">
                <a16:creationId xmlns:a16="http://schemas.microsoft.com/office/drawing/2014/main" id="{A068728A-62F6-A39E-59F3-BE147DA1A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602" y="5722101"/>
            <a:ext cx="999720" cy="999720"/>
          </a:xfrm>
          <a:prstGeom prst="rect">
            <a:avLst/>
          </a:prstGeom>
        </p:spPr>
      </p:pic>
      <p:pic>
        <p:nvPicPr>
          <p:cNvPr id="11" name="Immagine 10" descr="Immagine che contiene Carattere, simbolo, Elementi grafici, logo&#10;&#10;Descrizione generata automaticamente">
            <a:extLst>
              <a:ext uri="{FF2B5EF4-FFF2-40B4-BE49-F238E27FC236}">
                <a16:creationId xmlns:a16="http://schemas.microsoft.com/office/drawing/2014/main" id="{9A88818E-34D2-445D-E09A-EC2CDB67A0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9062" y="5213278"/>
            <a:ext cx="1517643" cy="1517643"/>
          </a:xfrm>
          <a:prstGeom prst="rect">
            <a:avLst/>
          </a:prstGeom>
        </p:spPr>
      </p:pic>
      <p:pic>
        <p:nvPicPr>
          <p:cNvPr id="24" name="Immagine 23" descr="Immagine che contiene Elementi grafici, simbolo, design&#10;&#10;Descrizione generata automaticamente">
            <a:extLst>
              <a:ext uri="{FF2B5EF4-FFF2-40B4-BE49-F238E27FC236}">
                <a16:creationId xmlns:a16="http://schemas.microsoft.com/office/drawing/2014/main" id="{0ECB3445-2DE5-D0E4-A0AD-C63D8D8A67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338" y="2144605"/>
            <a:ext cx="1331489" cy="1331489"/>
          </a:xfrm>
          <a:prstGeom prst="rect">
            <a:avLst/>
          </a:prstGeom>
        </p:spPr>
      </p:pic>
      <p:pic>
        <p:nvPicPr>
          <p:cNvPr id="26" name="Immagine 25" descr="Immagine che contiene clipart, simbolo, Elementi grafici, cartone animato&#10;&#10;Descrizione generata automaticamente">
            <a:extLst>
              <a:ext uri="{FF2B5EF4-FFF2-40B4-BE49-F238E27FC236}">
                <a16:creationId xmlns:a16="http://schemas.microsoft.com/office/drawing/2014/main" id="{336DC1E4-E18F-7627-0217-2085B8540A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46" y="3056254"/>
            <a:ext cx="1109290" cy="1109290"/>
          </a:xfrm>
          <a:prstGeom prst="rect">
            <a:avLst/>
          </a:prstGeom>
        </p:spPr>
      </p:pic>
      <p:pic>
        <p:nvPicPr>
          <p:cNvPr id="28" name="Immagine 27" descr="Immagine che contiene Elementi grafici&#10;&#10;Descrizione generata automaticamente">
            <a:extLst>
              <a:ext uri="{FF2B5EF4-FFF2-40B4-BE49-F238E27FC236}">
                <a16:creationId xmlns:a16="http://schemas.microsoft.com/office/drawing/2014/main" id="{32AC307A-B726-76BA-5D0E-13D24F7773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410" y="2810349"/>
            <a:ext cx="1517644" cy="1517644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7145BA76-E506-38F7-EF1B-A1FC2983B127}"/>
              </a:ext>
            </a:extLst>
          </p:cNvPr>
          <p:cNvSpPr txBox="1"/>
          <p:nvPr/>
        </p:nvSpPr>
        <p:spPr>
          <a:xfrm>
            <a:off x="3687945" y="495473"/>
            <a:ext cx="4816109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4000" b="1" dirty="0" err="1">
                <a:solidFill>
                  <a:schemeClr val="bg1"/>
                </a:solidFill>
                <a:latin typeface="Neo Sans Std"/>
              </a:rPr>
              <a:t>Behind</a:t>
            </a:r>
            <a:r>
              <a:rPr lang="it-IT" sz="4000" b="1" dirty="0">
                <a:solidFill>
                  <a:schemeClr val="bg1"/>
                </a:solidFill>
                <a:latin typeface="Neo Sans Std"/>
              </a:rPr>
              <a:t> the </a:t>
            </a:r>
            <a:r>
              <a:rPr lang="it-IT" sz="4000" b="1" dirty="0" err="1">
                <a:solidFill>
                  <a:schemeClr val="bg1"/>
                </a:solidFill>
                <a:latin typeface="Neo Sans Std"/>
              </a:rPr>
              <a:t>scenes</a:t>
            </a:r>
            <a:endParaRPr lang="it-IT" sz="4000" b="1" dirty="0">
              <a:solidFill>
                <a:schemeClr val="bg1"/>
              </a:solidFill>
              <a:latin typeface="Neo Sans Std"/>
            </a:endParaRP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47A1698B-FACA-A1E1-A68B-D5787DCB9010}"/>
              </a:ext>
            </a:extLst>
          </p:cNvPr>
          <p:cNvCxnSpPr>
            <a:cxnSpLocks/>
          </p:cNvCxnSpPr>
          <p:nvPr/>
        </p:nvCxnSpPr>
        <p:spPr>
          <a:xfrm>
            <a:off x="2225987" y="3610899"/>
            <a:ext cx="2923916" cy="0"/>
          </a:xfrm>
          <a:prstGeom prst="straightConnector1">
            <a:avLst/>
          </a:prstGeom>
          <a:ln w="762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magine 1" descr="Immagine che contiene Elementi grafici, Carattere, logo, grafica&#10;&#10;Descrizione generata automaticamente">
            <a:extLst>
              <a:ext uri="{FF2B5EF4-FFF2-40B4-BE49-F238E27FC236}">
                <a16:creationId xmlns:a16="http://schemas.microsoft.com/office/drawing/2014/main" id="{C5F24532-D712-4711-5FBE-7DFA557B4B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05" y="402406"/>
            <a:ext cx="1331490" cy="9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461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20">
            <a:extLst>
              <a:ext uri="{FF2B5EF4-FFF2-40B4-BE49-F238E27FC236}">
                <a16:creationId xmlns:a16="http://schemas.microsoft.com/office/drawing/2014/main" id="{5B5A3326-4974-3583-F592-35FE0DE5A075}"/>
              </a:ext>
            </a:extLst>
          </p:cNvPr>
          <p:cNvSpPr/>
          <p:nvPr/>
        </p:nvSpPr>
        <p:spPr>
          <a:xfrm>
            <a:off x="0" y="2739"/>
            <a:ext cx="12192942" cy="6855261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A62F158-C1EC-E4B0-10DF-CB37F29E9920}"/>
              </a:ext>
            </a:extLst>
          </p:cNvPr>
          <p:cNvSpPr txBox="1"/>
          <p:nvPr/>
        </p:nvSpPr>
        <p:spPr>
          <a:xfrm>
            <a:off x="1493708" y="2234662"/>
            <a:ext cx="1378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>
                <a:solidFill>
                  <a:schemeClr val="bg1"/>
                </a:solidFill>
              </a:rPr>
              <a:t>Alexa, tell me the </a:t>
            </a:r>
            <a:r>
              <a:rPr lang="it-IT" sz="1600" i="1" dirty="0" err="1">
                <a:solidFill>
                  <a:schemeClr val="bg1"/>
                </a:solidFill>
              </a:rPr>
              <a:t>weather</a:t>
            </a:r>
            <a:r>
              <a:rPr lang="it-IT" sz="1600" i="1" dirty="0">
                <a:solidFill>
                  <a:schemeClr val="bg1"/>
                </a:solidFill>
              </a:rPr>
              <a:t> in Pisa. 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AEF7A325-2AB0-F2CE-BAAB-07E7D2C19A55}"/>
              </a:ext>
            </a:extLst>
          </p:cNvPr>
          <p:cNvCxnSpPr>
            <a:cxnSpLocks/>
          </p:cNvCxnSpPr>
          <p:nvPr/>
        </p:nvCxnSpPr>
        <p:spPr>
          <a:xfrm>
            <a:off x="7042096" y="3610899"/>
            <a:ext cx="2923916" cy="0"/>
          </a:xfrm>
          <a:prstGeom prst="straightConnector1">
            <a:avLst/>
          </a:prstGeom>
          <a:ln w="762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9323616-E46D-699B-37DF-B0DFDD94927D}"/>
              </a:ext>
            </a:extLst>
          </p:cNvPr>
          <p:cNvSpPr txBox="1"/>
          <p:nvPr/>
        </p:nvSpPr>
        <p:spPr>
          <a:xfrm>
            <a:off x="3904219" y="4124848"/>
            <a:ext cx="4382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1600" b="1" dirty="0">
                <a:solidFill>
                  <a:schemeClr val="bg1"/>
                </a:solidFill>
                <a:effectLst/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ecognition process filters the sound to isolate only the specific word, activating the device and ignoring other sounds.</a:t>
            </a:r>
            <a:r>
              <a:rPr lang="it-IT" sz="1600" b="1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 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6838304-F883-A2E5-5C28-799572F7FA52}"/>
              </a:ext>
            </a:extLst>
          </p:cNvPr>
          <p:cNvSpPr txBox="1"/>
          <p:nvPr/>
        </p:nvSpPr>
        <p:spPr>
          <a:xfrm>
            <a:off x="6547483" y="2523818"/>
            <a:ext cx="3906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ffectLst/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request is encrypted and transmitted to the Amazon cloud</a:t>
            </a:r>
            <a:endParaRPr lang="it-IT" sz="11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3D8FC17-D5AE-6707-FC78-FCFACE865A55}"/>
              </a:ext>
            </a:extLst>
          </p:cNvPr>
          <p:cNvSpPr txBox="1"/>
          <p:nvPr/>
        </p:nvSpPr>
        <p:spPr>
          <a:xfrm>
            <a:off x="1286396" y="1211021"/>
            <a:ext cx="9618133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Echo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device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constant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listening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mode,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until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detects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wake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word,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does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transmit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audio and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performs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operation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than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detecting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specific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word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pic>
        <p:nvPicPr>
          <p:cNvPr id="7" name="Immagine 6" descr="Immagine che contiene Cassa di risonanza, altoparlante, oratore&#10;&#10;Descrizione generata automaticamente">
            <a:extLst>
              <a:ext uri="{FF2B5EF4-FFF2-40B4-BE49-F238E27FC236}">
                <a16:creationId xmlns:a16="http://schemas.microsoft.com/office/drawing/2014/main" id="{5758688A-7200-95CE-E03A-3E7542DE6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474" y="3108593"/>
            <a:ext cx="1785978" cy="1004613"/>
          </a:xfrm>
          <a:prstGeom prst="rect">
            <a:avLst/>
          </a:prstGeom>
          <a:effectLst>
            <a:glow rad="346219">
              <a:schemeClr val="accent4">
                <a:satMod val="175000"/>
                <a:alpha val="72502"/>
              </a:schemeClr>
            </a:glow>
          </a:effectLst>
        </p:spPr>
      </p:pic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47A1698B-FACA-A1E1-A68B-D5787DCB9010}"/>
              </a:ext>
            </a:extLst>
          </p:cNvPr>
          <p:cNvCxnSpPr>
            <a:cxnSpLocks/>
          </p:cNvCxnSpPr>
          <p:nvPr/>
        </p:nvCxnSpPr>
        <p:spPr>
          <a:xfrm>
            <a:off x="2225987" y="3610899"/>
            <a:ext cx="2923916" cy="0"/>
          </a:xfrm>
          <a:prstGeom prst="straightConnector1">
            <a:avLst/>
          </a:prstGeom>
          <a:ln w="762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magine 23" descr="Immagine che contiene Elementi grafici, simbolo, design&#10;&#10;Descrizione generata automaticamente">
            <a:extLst>
              <a:ext uri="{FF2B5EF4-FFF2-40B4-BE49-F238E27FC236}">
                <a16:creationId xmlns:a16="http://schemas.microsoft.com/office/drawing/2014/main" id="{0ECB3445-2DE5-D0E4-A0AD-C63D8D8A6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338" y="2144605"/>
            <a:ext cx="1331489" cy="1331489"/>
          </a:xfrm>
          <a:prstGeom prst="rect">
            <a:avLst/>
          </a:prstGeom>
        </p:spPr>
      </p:pic>
      <p:pic>
        <p:nvPicPr>
          <p:cNvPr id="26" name="Immagine 25" descr="Immagine che contiene clipart, simbolo, Elementi grafici, cartone animato&#10;&#10;Descrizione generata automaticamente">
            <a:extLst>
              <a:ext uri="{FF2B5EF4-FFF2-40B4-BE49-F238E27FC236}">
                <a16:creationId xmlns:a16="http://schemas.microsoft.com/office/drawing/2014/main" id="{336DC1E4-E18F-7627-0217-2085B8540A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46" y="3056254"/>
            <a:ext cx="1109290" cy="1109290"/>
          </a:xfrm>
          <a:prstGeom prst="rect">
            <a:avLst/>
          </a:prstGeom>
        </p:spPr>
      </p:pic>
      <p:pic>
        <p:nvPicPr>
          <p:cNvPr id="28" name="Immagine 27" descr="Immagine che contiene Elementi grafici&#10;&#10;Descrizione generata automaticamente">
            <a:extLst>
              <a:ext uri="{FF2B5EF4-FFF2-40B4-BE49-F238E27FC236}">
                <a16:creationId xmlns:a16="http://schemas.microsoft.com/office/drawing/2014/main" id="{32AC307A-B726-76BA-5D0E-13D24F7773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410" y="2810349"/>
            <a:ext cx="1517644" cy="1517644"/>
          </a:xfrm>
          <a:prstGeom prst="rect">
            <a:avLst/>
          </a:prstGeom>
        </p:spPr>
      </p:pic>
      <p:pic>
        <p:nvPicPr>
          <p:cNvPr id="2" name="Immagine 1" descr="Immagine che contiene simbolo, Elementi grafici, clipart, Carattere&#10;&#10;Descrizione generata automaticamente">
            <a:extLst>
              <a:ext uri="{FF2B5EF4-FFF2-40B4-BE49-F238E27FC236}">
                <a16:creationId xmlns:a16="http://schemas.microsoft.com/office/drawing/2014/main" id="{1182F538-5435-86E1-B7B0-00CFBA04FE6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8556" t="3367" r="16055"/>
          <a:stretch/>
        </p:blipFill>
        <p:spPr>
          <a:xfrm>
            <a:off x="4745374" y="5722101"/>
            <a:ext cx="676488" cy="999720"/>
          </a:xfrm>
          <a:prstGeom prst="rect">
            <a:avLst/>
          </a:prstGeom>
        </p:spPr>
      </p:pic>
      <p:pic>
        <p:nvPicPr>
          <p:cNvPr id="3" name="Immagine 2" descr="Immagine che contiene Elementi grafici, clipart, simbolo, grafica&#10;&#10;Descrizione generata automaticamente">
            <a:extLst>
              <a:ext uri="{FF2B5EF4-FFF2-40B4-BE49-F238E27FC236}">
                <a16:creationId xmlns:a16="http://schemas.microsoft.com/office/drawing/2014/main" id="{D00C3533-6842-EE60-6E1B-E4754A3E8B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5602" y="5722101"/>
            <a:ext cx="999720" cy="999720"/>
          </a:xfrm>
          <a:prstGeom prst="rect">
            <a:avLst/>
          </a:prstGeom>
        </p:spPr>
      </p:pic>
      <p:pic>
        <p:nvPicPr>
          <p:cNvPr id="5" name="Immagine 4" descr="Immagine che contiene Carattere, simbolo, Elementi grafici, logo&#10;&#10;Descrizione generata automaticamente">
            <a:extLst>
              <a:ext uri="{FF2B5EF4-FFF2-40B4-BE49-F238E27FC236}">
                <a16:creationId xmlns:a16="http://schemas.microsoft.com/office/drawing/2014/main" id="{51022D32-E219-D576-EEE1-153405E109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9062" y="5213278"/>
            <a:ext cx="1517643" cy="151764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194617FD-37C4-5268-FDF3-9FD8E7362E4D}"/>
              </a:ext>
            </a:extLst>
          </p:cNvPr>
          <p:cNvSpPr txBox="1"/>
          <p:nvPr/>
        </p:nvSpPr>
        <p:spPr>
          <a:xfrm>
            <a:off x="3687945" y="495473"/>
            <a:ext cx="4816109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4000" b="1" dirty="0" err="1">
                <a:solidFill>
                  <a:schemeClr val="bg1"/>
                </a:solidFill>
                <a:latin typeface="Neo Sans Std"/>
              </a:rPr>
              <a:t>Behind</a:t>
            </a:r>
            <a:r>
              <a:rPr lang="it-IT" sz="4000" b="1" dirty="0">
                <a:solidFill>
                  <a:schemeClr val="bg1"/>
                </a:solidFill>
                <a:latin typeface="Neo Sans Std"/>
              </a:rPr>
              <a:t> the </a:t>
            </a:r>
            <a:r>
              <a:rPr lang="it-IT" sz="4000" b="1" dirty="0" err="1">
                <a:solidFill>
                  <a:schemeClr val="bg1"/>
                </a:solidFill>
                <a:latin typeface="Neo Sans Std"/>
              </a:rPr>
              <a:t>scenes</a:t>
            </a:r>
            <a:endParaRPr lang="it-IT" sz="4000" b="1" dirty="0">
              <a:solidFill>
                <a:schemeClr val="bg1"/>
              </a:solidFill>
              <a:latin typeface="Neo Sans Std"/>
            </a:endParaRPr>
          </a:p>
        </p:txBody>
      </p:sp>
      <p:pic>
        <p:nvPicPr>
          <p:cNvPr id="6" name="Immagine 5" descr="Immagine che contiene Elementi grafici, Carattere, logo, grafica&#10;&#10;Descrizione generata automaticamente">
            <a:extLst>
              <a:ext uri="{FF2B5EF4-FFF2-40B4-BE49-F238E27FC236}">
                <a16:creationId xmlns:a16="http://schemas.microsoft.com/office/drawing/2014/main" id="{82DB1D5C-EE9E-9817-7F6A-265A45D2D3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05" y="402406"/>
            <a:ext cx="1331490" cy="9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248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20">
            <a:extLst>
              <a:ext uri="{FF2B5EF4-FFF2-40B4-BE49-F238E27FC236}">
                <a16:creationId xmlns:a16="http://schemas.microsoft.com/office/drawing/2014/main" id="{5B5A3326-4974-3583-F592-35FE0DE5A075}"/>
              </a:ext>
            </a:extLst>
          </p:cNvPr>
          <p:cNvSpPr/>
          <p:nvPr/>
        </p:nvSpPr>
        <p:spPr>
          <a:xfrm>
            <a:off x="0" y="2739"/>
            <a:ext cx="12192942" cy="6855261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Immagine 1" descr="Immagine che contiene Elementi grafici&#10;&#10;Descrizione generata automaticamente">
            <a:extLst>
              <a:ext uri="{FF2B5EF4-FFF2-40B4-BE49-F238E27FC236}">
                <a16:creationId xmlns:a16="http://schemas.microsoft.com/office/drawing/2014/main" id="{50D5897E-174C-2E5F-3660-FD965DB51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008" y="-2875234"/>
            <a:ext cx="12873161" cy="1239715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3BEEA27-13C1-CA4F-384C-45A5E7168729}"/>
              </a:ext>
            </a:extLst>
          </p:cNvPr>
          <p:cNvSpPr txBox="1"/>
          <p:nvPr/>
        </p:nvSpPr>
        <p:spPr>
          <a:xfrm>
            <a:off x="5164307" y="1078303"/>
            <a:ext cx="244090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ffectLst/>
                <a:latin typeface="Neo Sans Std"/>
                <a:ea typeface="Calibri" panose="020F0502020204030204" pitchFamily="34" charset="0"/>
                <a:cs typeface="Times New Roman"/>
              </a:rPr>
              <a:t>Word verification</a:t>
            </a:r>
            <a:endParaRPr lang="it-IT" sz="1600" b="1" dirty="0">
              <a:solidFill>
                <a:schemeClr val="bg1"/>
              </a:solidFill>
              <a:latin typeface="Neo Sans Std"/>
              <a:cs typeface="Times New Roman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F3A3B09-1FD2-8C0C-EBAE-BCBF3A3C2072}"/>
              </a:ext>
            </a:extLst>
          </p:cNvPr>
          <p:cNvSpPr txBox="1"/>
          <p:nvPr/>
        </p:nvSpPr>
        <p:spPr>
          <a:xfrm>
            <a:off x="3994718" y="2090264"/>
            <a:ext cx="495212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ffectLst/>
                <a:latin typeface="Neo Sans Std"/>
                <a:ea typeface="Calibri" panose="020F0502020204030204" pitchFamily="34" charset="0"/>
                <a:cs typeface="Times New Roman"/>
              </a:rPr>
              <a:t>Automatic Speech Recognition (ASR) converts the audio into text</a:t>
            </a:r>
            <a:r>
              <a:rPr lang="it-IT" sz="1600" b="1" dirty="0">
                <a:solidFill>
                  <a:schemeClr val="bg1"/>
                </a:solidFill>
                <a:latin typeface="Neo Sans Std"/>
              </a:rPr>
              <a:t> 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A2147B9-3452-6ABF-096B-2C46A6B7367C}"/>
              </a:ext>
            </a:extLst>
          </p:cNvPr>
          <p:cNvSpPr txBox="1"/>
          <p:nvPr/>
        </p:nvSpPr>
        <p:spPr>
          <a:xfrm>
            <a:off x="4037974" y="3182802"/>
            <a:ext cx="536118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ffectLst/>
                <a:latin typeface="Neo Sans Std"/>
                <a:ea typeface="Calibri" panose="020F0502020204030204" pitchFamily="34" charset="0"/>
                <a:cs typeface="Times New Roman"/>
              </a:rPr>
              <a:t>Natural Language Understanding (NLU) technology assigns meaning to the text</a:t>
            </a:r>
            <a:r>
              <a:rPr lang="it-IT" sz="1600" b="1" dirty="0">
                <a:solidFill>
                  <a:schemeClr val="bg1"/>
                </a:solidFill>
                <a:latin typeface="Neo Sans Std"/>
              </a:rPr>
              <a:t> 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C516837-FED1-B973-B2D6-793F56A4EB37}"/>
              </a:ext>
            </a:extLst>
          </p:cNvPr>
          <p:cNvSpPr txBox="1"/>
          <p:nvPr/>
        </p:nvSpPr>
        <p:spPr>
          <a:xfrm>
            <a:off x="8117421" y="4622468"/>
            <a:ext cx="3144421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ffectLst/>
                <a:latin typeface="Neo Sans Std"/>
                <a:ea typeface="Calibri" panose="020F0502020204030204" pitchFamily="34" charset="0"/>
                <a:cs typeface="Times New Roman"/>
              </a:rPr>
              <a:t>Text-to-Speech conversion function generates a vocal response and sends it back to the device</a:t>
            </a:r>
            <a:r>
              <a:rPr lang="it-IT" sz="1600" b="1" dirty="0">
                <a:solidFill>
                  <a:schemeClr val="bg1"/>
                </a:solidFill>
                <a:latin typeface="Neo Sans Std"/>
              </a:rPr>
              <a:t> 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357CDDE-1F81-4045-65DC-1CCDB64A2489}"/>
              </a:ext>
            </a:extLst>
          </p:cNvPr>
          <p:cNvSpPr txBox="1"/>
          <p:nvPr/>
        </p:nvSpPr>
        <p:spPr>
          <a:xfrm>
            <a:off x="2536210" y="4622468"/>
            <a:ext cx="2776340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Neo Sans Std"/>
                <a:ea typeface="Calibri" panose="020F0502020204030204" pitchFamily="34" charset="0"/>
                <a:cs typeface="Times New Roman"/>
              </a:rPr>
              <a:t>V</a:t>
            </a:r>
            <a:r>
              <a:rPr lang="en-US" sz="1600" b="1" dirty="0">
                <a:solidFill>
                  <a:schemeClr val="bg1"/>
                </a:solidFill>
                <a:effectLst/>
                <a:latin typeface="Neo Sans Std"/>
                <a:ea typeface="Calibri" panose="020F0502020204030204" pitchFamily="34" charset="0"/>
                <a:cs typeface="Times New Roman"/>
              </a:rPr>
              <a:t>oice recordings and transcriptions of requests are securely stored in the Amazon cloud</a:t>
            </a:r>
            <a:r>
              <a:rPr lang="it-IT" sz="1600" b="1" dirty="0">
                <a:solidFill>
                  <a:schemeClr val="bg1"/>
                </a:solidFill>
                <a:latin typeface="Neo Sans Std"/>
              </a:rPr>
              <a:t> </a:t>
            </a:r>
            <a:endParaRPr lang="it-IT" sz="1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8D01B25E-50EE-9BC0-BF2A-265C64007A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6435" y="909954"/>
            <a:ext cx="675252" cy="675252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6E21B156-9265-4680-639B-966FC0E986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9637" y="2090264"/>
            <a:ext cx="538337" cy="538337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C199A0C9-D7D7-A8D2-D8BB-552738E3EF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48601" y="3108796"/>
            <a:ext cx="640408" cy="640408"/>
          </a:xfrm>
          <a:prstGeom prst="rect">
            <a:avLst/>
          </a:prstGeom>
          <a:noFill/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37FAE5A6-9DFD-E07B-7310-5D82ACE213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78506" y="4779423"/>
            <a:ext cx="640408" cy="640408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470956C2-A617-A3F6-D826-F183255659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56962" y="4746447"/>
            <a:ext cx="660459" cy="660459"/>
          </a:xfrm>
          <a:prstGeom prst="rect">
            <a:avLst/>
          </a:prstGeom>
        </p:spPr>
      </p:pic>
      <p:sp>
        <p:nvSpPr>
          <p:cNvPr id="27" name="Freccia bidirezionale orizzontale 26">
            <a:extLst>
              <a:ext uri="{FF2B5EF4-FFF2-40B4-BE49-F238E27FC236}">
                <a16:creationId xmlns:a16="http://schemas.microsoft.com/office/drawing/2014/main" id="{882BF91B-0319-3CEA-A413-5CE3FD5B2235}"/>
              </a:ext>
            </a:extLst>
          </p:cNvPr>
          <p:cNvSpPr/>
          <p:nvPr/>
        </p:nvSpPr>
        <p:spPr>
          <a:xfrm>
            <a:off x="5633014" y="5030958"/>
            <a:ext cx="1503484" cy="45719"/>
          </a:xfrm>
          <a:prstGeom prst="leftRightArrow">
            <a:avLst/>
          </a:prstGeom>
          <a:solidFill>
            <a:srgbClr val="FFC000"/>
          </a:solidFill>
          <a:ln w="38100"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7344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20">
            <a:extLst>
              <a:ext uri="{FF2B5EF4-FFF2-40B4-BE49-F238E27FC236}">
                <a16:creationId xmlns:a16="http://schemas.microsoft.com/office/drawing/2014/main" id="{5B5A3326-4974-3583-F592-35FE0DE5A075}"/>
              </a:ext>
            </a:extLst>
          </p:cNvPr>
          <p:cNvSpPr/>
          <p:nvPr/>
        </p:nvSpPr>
        <p:spPr>
          <a:xfrm>
            <a:off x="0" y="2739"/>
            <a:ext cx="12192942" cy="6855261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A62F158-C1EC-E4B0-10DF-CB37F29E9920}"/>
              </a:ext>
            </a:extLst>
          </p:cNvPr>
          <p:cNvSpPr txBox="1"/>
          <p:nvPr/>
        </p:nvSpPr>
        <p:spPr>
          <a:xfrm>
            <a:off x="1493708" y="2234662"/>
            <a:ext cx="1378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>
                <a:solidFill>
                  <a:schemeClr val="bg1"/>
                </a:solidFill>
              </a:rPr>
              <a:t>Alexa, tell me the </a:t>
            </a:r>
            <a:r>
              <a:rPr lang="it-IT" sz="1600" i="1" dirty="0" err="1">
                <a:solidFill>
                  <a:schemeClr val="bg1"/>
                </a:solidFill>
              </a:rPr>
              <a:t>weather</a:t>
            </a:r>
            <a:r>
              <a:rPr lang="it-IT" sz="1600" i="1" dirty="0">
                <a:solidFill>
                  <a:schemeClr val="bg1"/>
                </a:solidFill>
              </a:rPr>
              <a:t> in Pisa. 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AEF7A325-2AB0-F2CE-BAAB-07E7D2C19A55}"/>
              </a:ext>
            </a:extLst>
          </p:cNvPr>
          <p:cNvCxnSpPr>
            <a:cxnSpLocks/>
          </p:cNvCxnSpPr>
          <p:nvPr/>
        </p:nvCxnSpPr>
        <p:spPr>
          <a:xfrm>
            <a:off x="7042096" y="3610899"/>
            <a:ext cx="2923916" cy="0"/>
          </a:xfrm>
          <a:prstGeom prst="straightConnector1">
            <a:avLst/>
          </a:prstGeom>
          <a:ln w="762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9323616-E46D-699B-37DF-B0DFDD94927D}"/>
              </a:ext>
            </a:extLst>
          </p:cNvPr>
          <p:cNvSpPr txBox="1"/>
          <p:nvPr/>
        </p:nvSpPr>
        <p:spPr>
          <a:xfrm>
            <a:off x="3904219" y="4124848"/>
            <a:ext cx="4382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1600" b="1" dirty="0">
                <a:solidFill>
                  <a:schemeClr val="bg1"/>
                </a:solidFill>
                <a:effectLst/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ecognition process filters the sound to isolate only the specific word, activating the device and ignoring other sounds.</a:t>
            </a:r>
            <a:r>
              <a:rPr lang="it-IT" sz="1600" b="1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 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6838304-F883-A2E5-5C28-799572F7FA52}"/>
              </a:ext>
            </a:extLst>
          </p:cNvPr>
          <p:cNvSpPr txBox="1"/>
          <p:nvPr/>
        </p:nvSpPr>
        <p:spPr>
          <a:xfrm>
            <a:off x="6547483" y="2523818"/>
            <a:ext cx="3906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ffectLst/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request is encrypted and transmitted to the Amazon cloud</a:t>
            </a:r>
            <a:endParaRPr lang="it-IT" sz="11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3D8FC17-D5AE-6707-FC78-FCFACE865A55}"/>
              </a:ext>
            </a:extLst>
          </p:cNvPr>
          <p:cNvSpPr txBox="1"/>
          <p:nvPr/>
        </p:nvSpPr>
        <p:spPr>
          <a:xfrm>
            <a:off x="1286396" y="1211021"/>
            <a:ext cx="9618133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Echo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device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constant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listening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mode,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until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detects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wake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word,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does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transmit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audio and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performs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operation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than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detecting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it-IT" sz="1600" b="1" dirty="0" err="1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specific</a:t>
            </a:r>
            <a:r>
              <a:rPr lang="it-IT" sz="1600" b="1" dirty="0">
                <a:solidFill>
                  <a:schemeClr val="bg1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word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pic>
        <p:nvPicPr>
          <p:cNvPr id="7" name="Immagine 6" descr="Immagine che contiene Cassa di risonanza, altoparlante, oratore&#10;&#10;Descrizione generata automaticamente">
            <a:extLst>
              <a:ext uri="{FF2B5EF4-FFF2-40B4-BE49-F238E27FC236}">
                <a16:creationId xmlns:a16="http://schemas.microsoft.com/office/drawing/2014/main" id="{5758688A-7200-95CE-E03A-3E7542DE6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474" y="3108593"/>
            <a:ext cx="1785978" cy="1004613"/>
          </a:xfrm>
          <a:prstGeom prst="rect">
            <a:avLst/>
          </a:prstGeom>
        </p:spPr>
      </p:pic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47A1698B-FACA-A1E1-A68B-D5787DCB9010}"/>
              </a:ext>
            </a:extLst>
          </p:cNvPr>
          <p:cNvCxnSpPr>
            <a:cxnSpLocks/>
          </p:cNvCxnSpPr>
          <p:nvPr/>
        </p:nvCxnSpPr>
        <p:spPr>
          <a:xfrm>
            <a:off x="2225987" y="3610899"/>
            <a:ext cx="2923916" cy="0"/>
          </a:xfrm>
          <a:prstGeom prst="straightConnector1">
            <a:avLst/>
          </a:prstGeom>
          <a:ln w="762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magine 23" descr="Immagine che contiene Elementi grafici, simbolo, design&#10;&#10;Descrizione generata automaticamente">
            <a:extLst>
              <a:ext uri="{FF2B5EF4-FFF2-40B4-BE49-F238E27FC236}">
                <a16:creationId xmlns:a16="http://schemas.microsoft.com/office/drawing/2014/main" id="{0ECB3445-2DE5-D0E4-A0AD-C63D8D8A6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338" y="2144605"/>
            <a:ext cx="1331489" cy="1331489"/>
          </a:xfrm>
          <a:prstGeom prst="rect">
            <a:avLst/>
          </a:prstGeom>
        </p:spPr>
      </p:pic>
      <p:pic>
        <p:nvPicPr>
          <p:cNvPr id="26" name="Immagine 25" descr="Immagine che contiene clipart, simbolo, Elementi grafici, cartone animato&#10;&#10;Descrizione generata automaticamente">
            <a:extLst>
              <a:ext uri="{FF2B5EF4-FFF2-40B4-BE49-F238E27FC236}">
                <a16:creationId xmlns:a16="http://schemas.microsoft.com/office/drawing/2014/main" id="{336DC1E4-E18F-7627-0217-2085B8540A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46" y="3056254"/>
            <a:ext cx="1109290" cy="1109290"/>
          </a:xfrm>
          <a:prstGeom prst="rect">
            <a:avLst/>
          </a:prstGeom>
        </p:spPr>
      </p:pic>
      <p:pic>
        <p:nvPicPr>
          <p:cNvPr id="28" name="Immagine 27" descr="Immagine che contiene Elementi grafici&#10;&#10;Descrizione generata automaticamente">
            <a:extLst>
              <a:ext uri="{FF2B5EF4-FFF2-40B4-BE49-F238E27FC236}">
                <a16:creationId xmlns:a16="http://schemas.microsoft.com/office/drawing/2014/main" id="{32AC307A-B726-76BA-5D0E-13D24F7773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410" y="2810349"/>
            <a:ext cx="1517644" cy="1517644"/>
          </a:xfrm>
          <a:prstGeom prst="rect">
            <a:avLst/>
          </a:prstGeom>
        </p:spPr>
      </p:pic>
      <p:pic>
        <p:nvPicPr>
          <p:cNvPr id="2" name="Immagine 1" descr="Immagine che contiene simbolo, Elementi grafici, clipart, Carattere&#10;&#10;Descrizione generata automaticamente">
            <a:extLst>
              <a:ext uri="{FF2B5EF4-FFF2-40B4-BE49-F238E27FC236}">
                <a16:creationId xmlns:a16="http://schemas.microsoft.com/office/drawing/2014/main" id="{C8490D33-87F2-73F2-C67A-5DB3A4F0A7B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8556" t="3367" r="16055"/>
          <a:stretch/>
        </p:blipFill>
        <p:spPr>
          <a:xfrm>
            <a:off x="4745374" y="5722101"/>
            <a:ext cx="676488" cy="999720"/>
          </a:xfrm>
          <a:prstGeom prst="rect">
            <a:avLst/>
          </a:prstGeom>
        </p:spPr>
      </p:pic>
      <p:pic>
        <p:nvPicPr>
          <p:cNvPr id="3" name="Immagine 2" descr="Immagine che contiene Elementi grafici, clipart, simbolo, grafica&#10;&#10;Descrizione generata automaticamente">
            <a:extLst>
              <a:ext uri="{FF2B5EF4-FFF2-40B4-BE49-F238E27FC236}">
                <a16:creationId xmlns:a16="http://schemas.microsoft.com/office/drawing/2014/main" id="{0375E5CB-0B6C-5DA0-9E40-25FD6FC781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5602" y="5722101"/>
            <a:ext cx="999720" cy="999720"/>
          </a:xfrm>
          <a:prstGeom prst="rect">
            <a:avLst/>
          </a:prstGeom>
        </p:spPr>
      </p:pic>
      <p:pic>
        <p:nvPicPr>
          <p:cNvPr id="5" name="Immagine 4" descr="Immagine che contiene Carattere, simbolo, Elementi grafici, logo&#10;&#10;Descrizione generata automaticamente">
            <a:extLst>
              <a:ext uri="{FF2B5EF4-FFF2-40B4-BE49-F238E27FC236}">
                <a16:creationId xmlns:a16="http://schemas.microsoft.com/office/drawing/2014/main" id="{E8412DC2-53CE-A95E-FBDC-8A38496878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9062" y="5213278"/>
            <a:ext cx="1517643" cy="151764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2723C35-1B70-AB73-D430-551596C4456F}"/>
              </a:ext>
            </a:extLst>
          </p:cNvPr>
          <p:cNvSpPr txBox="1"/>
          <p:nvPr/>
        </p:nvSpPr>
        <p:spPr>
          <a:xfrm>
            <a:off x="3687945" y="495473"/>
            <a:ext cx="4816109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4000" b="1" dirty="0" err="1">
                <a:solidFill>
                  <a:schemeClr val="bg1"/>
                </a:solidFill>
                <a:latin typeface="Neo Sans Std"/>
              </a:rPr>
              <a:t>Behind</a:t>
            </a:r>
            <a:r>
              <a:rPr lang="it-IT" sz="4000" b="1" dirty="0">
                <a:solidFill>
                  <a:schemeClr val="bg1"/>
                </a:solidFill>
                <a:latin typeface="Neo Sans Std"/>
              </a:rPr>
              <a:t> the </a:t>
            </a:r>
            <a:r>
              <a:rPr lang="it-IT" sz="4000" b="1" dirty="0" err="1">
                <a:solidFill>
                  <a:schemeClr val="bg1"/>
                </a:solidFill>
                <a:latin typeface="Neo Sans Std"/>
              </a:rPr>
              <a:t>scenes</a:t>
            </a:r>
            <a:endParaRPr lang="it-IT" sz="4000" b="1" dirty="0">
              <a:solidFill>
                <a:schemeClr val="bg1"/>
              </a:solidFill>
              <a:latin typeface="Neo Sans Std"/>
            </a:endParaRPr>
          </a:p>
        </p:txBody>
      </p:sp>
      <p:pic>
        <p:nvPicPr>
          <p:cNvPr id="6" name="Immagine 5" descr="Immagine che contiene Elementi grafici, Carattere, logo, grafica&#10;&#10;Descrizione generata automaticamente">
            <a:extLst>
              <a:ext uri="{FF2B5EF4-FFF2-40B4-BE49-F238E27FC236}">
                <a16:creationId xmlns:a16="http://schemas.microsoft.com/office/drawing/2014/main" id="{C5B29659-8952-4F0A-6EBC-C6D6ECB694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05" y="402406"/>
            <a:ext cx="1331490" cy="9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166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">
        <p159:morph option="byObject"/>
      </p:transition>
    </mc:Choice>
    <mc:Fallback xmlns="">
      <p:transition spd="slow" advTm="3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79FF092-374B-2A67-1F0E-7BAE44452549}"/>
              </a:ext>
            </a:extLst>
          </p:cNvPr>
          <p:cNvSpPr/>
          <p:nvPr/>
        </p:nvSpPr>
        <p:spPr>
          <a:xfrm>
            <a:off x="0" y="0"/>
            <a:ext cx="12192000" cy="685526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134230C-9F4E-5907-E6E2-C96CFDAE9005}"/>
              </a:ext>
            </a:extLst>
          </p:cNvPr>
          <p:cNvSpPr txBox="1"/>
          <p:nvPr/>
        </p:nvSpPr>
        <p:spPr>
          <a:xfrm>
            <a:off x="1606881" y="5100111"/>
            <a:ext cx="989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DPIA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FF91099-221C-9CC3-A079-82FB2E2AA755}"/>
              </a:ext>
            </a:extLst>
          </p:cNvPr>
          <p:cNvSpPr txBox="1"/>
          <p:nvPr/>
        </p:nvSpPr>
        <p:spPr>
          <a:xfrm>
            <a:off x="4997588" y="5126561"/>
            <a:ext cx="2368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 err="1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Violations</a:t>
            </a:r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 of GDPR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746F2DD-D080-E09E-B452-7BAA857E8A17}"/>
              </a:ext>
            </a:extLst>
          </p:cNvPr>
          <p:cNvSpPr txBox="1"/>
          <p:nvPr/>
        </p:nvSpPr>
        <p:spPr>
          <a:xfrm>
            <a:off x="4975525" y="2954274"/>
            <a:ext cx="19551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Personal Data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4DB4DFF-52DE-75E1-26E2-F8E61C829D1D}"/>
              </a:ext>
            </a:extLst>
          </p:cNvPr>
          <p:cNvSpPr txBox="1"/>
          <p:nvPr/>
        </p:nvSpPr>
        <p:spPr>
          <a:xfrm>
            <a:off x="6778438" y="2952733"/>
            <a:ext cx="304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&amp;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1AF09647-A0D8-8B97-8A8C-79BE597FE8D1}"/>
              </a:ext>
            </a:extLst>
          </p:cNvPr>
          <p:cNvSpPr txBox="1"/>
          <p:nvPr/>
        </p:nvSpPr>
        <p:spPr>
          <a:xfrm>
            <a:off x="5642162" y="3251214"/>
            <a:ext cx="956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GDPR</a:t>
            </a:r>
            <a:endParaRPr lang="it-IT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1D4F5AC4-5081-7B0E-5BD5-5F6A824D148A}"/>
              </a:ext>
            </a:extLst>
          </p:cNvPr>
          <p:cNvSpPr txBox="1"/>
          <p:nvPr/>
        </p:nvSpPr>
        <p:spPr>
          <a:xfrm>
            <a:off x="9449709" y="5100111"/>
            <a:ext cx="1480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 err="1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Possible</a:t>
            </a:r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 Solutions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37A9122-DBC9-E6F7-26BD-E0FF983BBBCF}"/>
              </a:ext>
            </a:extLst>
          </p:cNvPr>
          <p:cNvSpPr txBox="1"/>
          <p:nvPr/>
        </p:nvSpPr>
        <p:spPr>
          <a:xfrm>
            <a:off x="3819102" y="267046"/>
            <a:ext cx="455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Table</a:t>
            </a:r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 of </a:t>
            </a:r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Contents</a:t>
            </a:r>
            <a:endParaRPr lang="it-IT" sz="4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CC1D85A5-07A4-B7A0-3366-261087B46798}"/>
              </a:ext>
            </a:extLst>
          </p:cNvPr>
          <p:cNvGrpSpPr/>
          <p:nvPr/>
        </p:nvGrpSpPr>
        <p:grpSpPr>
          <a:xfrm>
            <a:off x="5601105" y="1872103"/>
            <a:ext cx="989788" cy="1086456"/>
            <a:chOff x="5601105" y="1872103"/>
            <a:chExt cx="989788" cy="108645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4E940A52-3718-317F-5F78-7999BAF19B40}"/>
                </a:ext>
              </a:extLst>
            </p:cNvPr>
            <p:cNvSpPr/>
            <p:nvPr/>
          </p:nvSpPr>
          <p:spPr>
            <a:xfrm>
              <a:off x="5601105" y="1872103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7" name="Immagine 6" descr="Immagine che contiene logo, simbolo, Carattere, Elementi grafici&#10;&#10;Descrizione generata automaticamente">
              <a:extLst>
                <a:ext uri="{FF2B5EF4-FFF2-40B4-BE49-F238E27FC236}">
                  <a16:creationId xmlns:a16="http://schemas.microsoft.com/office/drawing/2014/main" id="{A6D20C96-9FF8-9773-2554-0243D1DDC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943" y="2095276"/>
              <a:ext cx="640110" cy="640110"/>
            </a:xfrm>
            <a:prstGeom prst="rect">
              <a:avLst/>
            </a:prstGeom>
          </p:spPr>
        </p:pic>
      </p:grp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7E610907-EA13-8489-0E47-34CAEA020610}"/>
              </a:ext>
            </a:extLst>
          </p:cNvPr>
          <p:cNvGrpSpPr/>
          <p:nvPr/>
        </p:nvGrpSpPr>
        <p:grpSpPr>
          <a:xfrm>
            <a:off x="9704038" y="4040105"/>
            <a:ext cx="989788" cy="1086456"/>
            <a:chOff x="9704038" y="4040105"/>
            <a:chExt cx="989788" cy="108645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E85D2035-9278-423D-E4A3-F7FC7E331453}"/>
                </a:ext>
              </a:extLst>
            </p:cNvPr>
            <p:cNvSpPr/>
            <p:nvPr/>
          </p:nvSpPr>
          <p:spPr>
            <a:xfrm>
              <a:off x="9704038" y="4040105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28" name="Immagine 27" descr="Immagine che contiene Elementi grafici, Carattere, simbolo, logo&#10;&#10;Descrizione generata automaticamente">
              <a:extLst>
                <a:ext uri="{FF2B5EF4-FFF2-40B4-BE49-F238E27FC236}">
                  <a16:creationId xmlns:a16="http://schemas.microsoft.com/office/drawing/2014/main" id="{885A62B1-AA7B-4D4A-EFF2-37CA4F47E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9891" y="4190551"/>
              <a:ext cx="640111" cy="640111"/>
            </a:xfrm>
            <a:prstGeom prst="rect">
              <a:avLst/>
            </a:prstGeom>
          </p:spPr>
        </p:pic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1D77F8E8-291C-EDA7-1473-F4FBB1BF5C66}"/>
              </a:ext>
            </a:extLst>
          </p:cNvPr>
          <p:cNvGrpSpPr/>
          <p:nvPr/>
        </p:nvGrpSpPr>
        <p:grpSpPr>
          <a:xfrm>
            <a:off x="1608116" y="1872103"/>
            <a:ext cx="989788" cy="1086456"/>
            <a:chOff x="1608116" y="1872103"/>
            <a:chExt cx="989788" cy="108645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6BFDEC2A-1A38-1E91-881C-0C87B4A3EE5F}"/>
                </a:ext>
              </a:extLst>
            </p:cNvPr>
            <p:cNvSpPr/>
            <p:nvPr/>
          </p:nvSpPr>
          <p:spPr>
            <a:xfrm>
              <a:off x="1608116" y="1872103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>
                <a:solidFill>
                  <a:schemeClr val="bg1"/>
                </a:solidFill>
              </a:endParaRPr>
            </a:p>
          </p:txBody>
        </p:sp>
        <p:pic>
          <p:nvPicPr>
            <p:cNvPr id="8" name="Immagine 7" descr="Immagine che contiene simbolo, schermata, Carattere, logo&#10;&#10;Descrizione generata automaticamente">
              <a:extLst>
                <a:ext uri="{FF2B5EF4-FFF2-40B4-BE49-F238E27FC236}">
                  <a16:creationId xmlns:a16="http://schemas.microsoft.com/office/drawing/2014/main" id="{71F876E8-D63E-B5D2-5721-883EF3181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2095276"/>
              <a:ext cx="640111" cy="640111"/>
            </a:xfrm>
            <a:prstGeom prst="rect">
              <a:avLst/>
            </a:prstGeom>
          </p:spPr>
        </p:pic>
      </p:grp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E199EC8-6D2F-4648-83DB-541250E8A99C}"/>
              </a:ext>
            </a:extLst>
          </p:cNvPr>
          <p:cNvSpPr txBox="1"/>
          <p:nvPr/>
        </p:nvSpPr>
        <p:spPr>
          <a:xfrm>
            <a:off x="1104966" y="2959471"/>
            <a:ext cx="19551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How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VVAs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work</a:t>
            </a:r>
          </a:p>
        </p:txBody>
      </p: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FE15EFCD-D790-A135-04C6-558E4B2EE372}"/>
              </a:ext>
            </a:extLst>
          </p:cNvPr>
          <p:cNvGrpSpPr/>
          <p:nvPr/>
        </p:nvGrpSpPr>
        <p:grpSpPr>
          <a:xfrm>
            <a:off x="1608114" y="4040561"/>
            <a:ext cx="989788" cy="1086456"/>
            <a:chOff x="1608114" y="4040561"/>
            <a:chExt cx="989788" cy="1086456"/>
          </a:xfrm>
        </p:grpSpPr>
        <p:sp>
          <p:nvSpPr>
            <p:cNvPr id="2" name="Freeform 5">
              <a:extLst>
                <a:ext uri="{FF2B5EF4-FFF2-40B4-BE49-F238E27FC236}">
                  <a16:creationId xmlns:a16="http://schemas.microsoft.com/office/drawing/2014/main" id="{017B18DE-A396-89FA-6CB5-F09FF29C0C78}"/>
                </a:ext>
              </a:extLst>
            </p:cNvPr>
            <p:cNvSpPr/>
            <p:nvPr/>
          </p:nvSpPr>
          <p:spPr>
            <a:xfrm>
              <a:off x="1608114" y="4040561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12" name="Immagine 11" descr="Immagine che contiene Carattere, simbolo, Elementi grafici, design&#10;&#10;Descrizione generata automaticamente">
              <a:extLst>
                <a:ext uri="{FF2B5EF4-FFF2-40B4-BE49-F238E27FC236}">
                  <a16:creationId xmlns:a16="http://schemas.microsoft.com/office/drawing/2014/main" id="{4F9DFE00-FAC0-0DA6-2E1C-70A6D0317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4261506"/>
              <a:ext cx="640111" cy="640111"/>
            </a:xfrm>
            <a:prstGeom prst="rect">
              <a:avLst/>
            </a:prstGeom>
          </p:spPr>
        </p:pic>
      </p:grp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915C9793-8684-92AB-BB7D-77C84D6B35A1}"/>
              </a:ext>
            </a:extLst>
          </p:cNvPr>
          <p:cNvGrpSpPr/>
          <p:nvPr/>
        </p:nvGrpSpPr>
        <p:grpSpPr>
          <a:xfrm>
            <a:off x="5601105" y="4040105"/>
            <a:ext cx="989788" cy="1086456"/>
            <a:chOff x="5601105" y="4040105"/>
            <a:chExt cx="989788" cy="1086456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488CC35A-43D8-B141-980D-F09713659B42}"/>
                </a:ext>
              </a:extLst>
            </p:cNvPr>
            <p:cNvSpPr/>
            <p:nvPr/>
          </p:nvSpPr>
          <p:spPr>
            <a:xfrm>
              <a:off x="5601105" y="4040105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32" name="Immagine 31" descr="Immagine che contiene Carattere, Elementi grafici, simbolo, logo&#10;&#10;Descrizione generata automaticamente">
              <a:extLst>
                <a:ext uri="{FF2B5EF4-FFF2-40B4-BE49-F238E27FC236}">
                  <a16:creationId xmlns:a16="http://schemas.microsoft.com/office/drawing/2014/main" id="{D71C9C73-F96C-F346-DA22-AB93A97BE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3396" y="4261505"/>
              <a:ext cx="640111" cy="640111"/>
            </a:xfrm>
            <a:prstGeom prst="rect">
              <a:avLst/>
            </a:prstGeom>
          </p:spPr>
        </p:pic>
      </p:grp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E318FBC0-1A47-187B-4688-60FC4C78FD3D}"/>
              </a:ext>
            </a:extLst>
          </p:cNvPr>
          <p:cNvSpPr txBox="1"/>
          <p:nvPr/>
        </p:nvSpPr>
        <p:spPr>
          <a:xfrm>
            <a:off x="9570257" y="2964018"/>
            <a:ext cx="1239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Alexa &amp; Privacy</a:t>
            </a:r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383EAF92-DC64-8C0B-BD10-8F9465D93A2F}"/>
              </a:ext>
            </a:extLst>
          </p:cNvPr>
          <p:cNvSpPr/>
          <p:nvPr/>
        </p:nvSpPr>
        <p:spPr>
          <a:xfrm>
            <a:off x="9704038" y="1872103"/>
            <a:ext cx="989788" cy="1086456"/>
          </a:xfrm>
          <a:custGeom>
            <a:avLst/>
            <a:gdLst>
              <a:gd name="connsiteX0" fmla="*/ 1612423 w 1612281"/>
              <a:gd name="connsiteY0" fmla="*/ 1198981 h 1769747"/>
              <a:gd name="connsiteX1" fmla="*/ 1483129 w 1612281"/>
              <a:gd name="connsiteY1" fmla="*/ 1423165 h 1769747"/>
              <a:gd name="connsiteX2" fmla="*/ 936966 w 1612281"/>
              <a:gd name="connsiteY2" fmla="*/ 1738895 h 1769747"/>
              <a:gd name="connsiteX3" fmla="*/ 677807 w 1612281"/>
              <a:gd name="connsiteY3" fmla="*/ 1739218 h 1769747"/>
              <a:gd name="connsiteX4" fmla="*/ 130825 w 1612281"/>
              <a:gd name="connsiteY4" fmla="*/ 1424906 h 1769747"/>
              <a:gd name="connsiteX5" fmla="*/ 951 w 1612281"/>
              <a:gd name="connsiteY5" fmla="*/ 1201017 h 1769747"/>
              <a:gd name="connsiteX6" fmla="*/ 142 w 1612281"/>
              <a:gd name="connsiteY6" fmla="*/ 571003 h 1769747"/>
              <a:gd name="connsiteX7" fmla="*/ 129426 w 1612281"/>
              <a:gd name="connsiteY7" fmla="*/ 346791 h 1769747"/>
              <a:gd name="connsiteX8" fmla="*/ 675637 w 1612281"/>
              <a:gd name="connsiteY8" fmla="*/ 31089 h 1769747"/>
              <a:gd name="connsiteX9" fmla="*/ 934795 w 1612281"/>
              <a:gd name="connsiteY9" fmla="*/ 30756 h 1769747"/>
              <a:gd name="connsiteX10" fmla="*/ 1481777 w 1612281"/>
              <a:gd name="connsiteY10" fmla="*/ 345078 h 1769747"/>
              <a:gd name="connsiteX11" fmla="*/ 1611642 w 1612281"/>
              <a:gd name="connsiteY11" fmla="*/ 568920 h 176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12281" h="1769747">
                <a:moveTo>
                  <a:pt x="1612423" y="1198981"/>
                </a:moveTo>
                <a:cubicBezTo>
                  <a:pt x="1612527" y="1281127"/>
                  <a:pt x="1554350" y="1382025"/>
                  <a:pt x="1483129" y="1423165"/>
                </a:cubicBezTo>
                <a:lnTo>
                  <a:pt x="936966" y="1738895"/>
                </a:lnTo>
                <a:cubicBezTo>
                  <a:pt x="865736" y="1780063"/>
                  <a:pt x="749132" y="1780187"/>
                  <a:pt x="677807" y="1739218"/>
                </a:cubicBezTo>
                <a:lnTo>
                  <a:pt x="130825" y="1424906"/>
                </a:lnTo>
                <a:cubicBezTo>
                  <a:pt x="59500" y="1383909"/>
                  <a:pt x="1056" y="1283144"/>
                  <a:pt x="951" y="1201017"/>
                </a:cubicBezTo>
                <a:lnTo>
                  <a:pt x="142" y="571003"/>
                </a:lnTo>
                <a:cubicBezTo>
                  <a:pt x="46" y="488838"/>
                  <a:pt x="58215" y="387968"/>
                  <a:pt x="129426" y="346791"/>
                </a:cubicBezTo>
                <a:lnTo>
                  <a:pt x="675637" y="31089"/>
                </a:lnTo>
                <a:cubicBezTo>
                  <a:pt x="746857" y="-10088"/>
                  <a:pt x="863470" y="-10231"/>
                  <a:pt x="934795" y="30756"/>
                </a:cubicBezTo>
                <a:lnTo>
                  <a:pt x="1481777" y="345078"/>
                </a:lnTo>
                <a:cubicBezTo>
                  <a:pt x="1553102" y="386046"/>
                  <a:pt x="1611547" y="486793"/>
                  <a:pt x="1611642" y="568920"/>
                </a:cubicBezTo>
                <a:close/>
              </a:path>
            </a:pathLst>
          </a:custGeom>
          <a:solidFill>
            <a:srgbClr val="222E3E"/>
          </a:solidFill>
          <a:ln w="9511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IT"/>
          </a:p>
        </p:txBody>
      </p:sp>
      <p:pic>
        <p:nvPicPr>
          <p:cNvPr id="34" name="Immagine 33" descr="Immagine che contiene simbolo, logo, Carattere, Elementi grafici&#10;&#10;Descrizione generata automaticamente">
            <a:extLst>
              <a:ext uri="{FF2B5EF4-FFF2-40B4-BE49-F238E27FC236}">
                <a16:creationId xmlns:a16="http://schemas.microsoft.com/office/drawing/2014/main" id="{8729871B-33E9-D921-57E6-EE2AAD11C8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876" y="2092351"/>
            <a:ext cx="640111" cy="64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363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20">
            <a:extLst>
              <a:ext uri="{FF2B5EF4-FFF2-40B4-BE49-F238E27FC236}">
                <a16:creationId xmlns:a16="http://schemas.microsoft.com/office/drawing/2014/main" id="{5B5A3326-4974-3583-F592-35FE0DE5A075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1203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211A720-4B0D-214C-54E9-BADB251D3101}"/>
              </a:ext>
            </a:extLst>
          </p:cNvPr>
          <p:cNvSpPr txBox="1"/>
          <p:nvPr/>
        </p:nvSpPr>
        <p:spPr>
          <a:xfrm>
            <a:off x="1688233" y="707122"/>
            <a:ext cx="2719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Personal Data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359DDA5-61BE-4125-760C-13AE2E9EEB46}"/>
              </a:ext>
            </a:extLst>
          </p:cNvPr>
          <p:cNvSpPr txBox="1"/>
          <p:nvPr/>
        </p:nvSpPr>
        <p:spPr>
          <a:xfrm>
            <a:off x="129458" y="3177147"/>
            <a:ext cx="58370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European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Data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Protection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Board (EDPB)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51899F46-A9FC-FB6F-5FE9-C4928A96D863}"/>
              </a:ext>
            </a:extLst>
          </p:cNvPr>
          <p:cNvCxnSpPr>
            <a:cxnSpLocks/>
          </p:cNvCxnSpPr>
          <p:nvPr/>
        </p:nvCxnSpPr>
        <p:spPr>
          <a:xfrm>
            <a:off x="3047992" y="1198974"/>
            <a:ext cx="0" cy="726743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536614D-0410-F181-1DAE-F39C974A57C1}"/>
              </a:ext>
            </a:extLst>
          </p:cNvPr>
          <p:cNvSpPr txBox="1"/>
          <p:nvPr/>
        </p:nvSpPr>
        <p:spPr>
          <a:xfrm>
            <a:off x="7455742" y="1411884"/>
            <a:ext cx="3870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Different</a:t>
            </a:r>
            <a:r>
              <a:rPr lang="it-IT" sz="2400" b="1" dirty="0">
                <a:solidFill>
                  <a:srgbClr val="11203A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types</a:t>
            </a:r>
            <a:r>
              <a:rPr lang="it-IT" sz="2400" b="1" dirty="0">
                <a:solidFill>
                  <a:srgbClr val="11203A"/>
                </a:solidFill>
                <a:latin typeface="Neo Sans Std" panose="020B0504030504040204" pitchFamily="34" charset="0"/>
              </a:rPr>
              <a:t> of Data and Stakeholders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964E07F-0065-9B23-B941-063E4B08AECA}"/>
              </a:ext>
            </a:extLst>
          </p:cNvPr>
          <p:cNvSpPr txBox="1"/>
          <p:nvPr/>
        </p:nvSpPr>
        <p:spPr>
          <a:xfrm>
            <a:off x="8042986" y="3548012"/>
            <a:ext cx="2693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Purposes</a:t>
            </a:r>
            <a:r>
              <a:rPr lang="it-IT" sz="2400" b="1" dirty="0">
                <a:solidFill>
                  <a:srgbClr val="11203A"/>
                </a:solidFill>
                <a:latin typeface="Neo Sans Std" panose="020B0504030504040204" pitchFamily="34" charset="0"/>
              </a:rPr>
              <a:t> of Data Processing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10E196E8-7B04-4C60-5A4C-32F26CD5D4D4}"/>
              </a:ext>
            </a:extLst>
          </p:cNvPr>
          <p:cNvSpPr txBox="1"/>
          <p:nvPr/>
        </p:nvSpPr>
        <p:spPr>
          <a:xfrm>
            <a:off x="7894296" y="4797953"/>
            <a:ext cx="2990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11203A"/>
                </a:solidFill>
                <a:latin typeface="Neo Sans Std" panose="020B0504030504040204" pitchFamily="34" charset="0"/>
              </a:rPr>
              <a:t>Data </a:t>
            </a:r>
            <a:r>
              <a:rPr lang="it-IT" sz="24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Minimization</a:t>
            </a:r>
            <a:endParaRPr lang="it-IT" sz="2400" b="1" dirty="0">
              <a:solidFill>
                <a:srgbClr val="11203A"/>
              </a:solidFill>
              <a:latin typeface="Neo Sans Std" panose="020B050403050404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0602740B-7E6D-F3BD-B1D9-70B0209AE870}"/>
              </a:ext>
            </a:extLst>
          </p:cNvPr>
          <p:cNvSpPr txBox="1"/>
          <p:nvPr/>
        </p:nvSpPr>
        <p:spPr>
          <a:xfrm>
            <a:off x="8304262" y="2661826"/>
            <a:ext cx="2172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Transparency</a:t>
            </a:r>
            <a:endParaRPr lang="it-IT" sz="2400" b="1" dirty="0">
              <a:solidFill>
                <a:srgbClr val="11203A"/>
              </a:solidFill>
              <a:latin typeface="Neo Sans Std" panose="020B050403050404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7D3EA027-838D-878D-6F71-B054BBF9A7B7}"/>
              </a:ext>
            </a:extLst>
          </p:cNvPr>
          <p:cNvSpPr txBox="1"/>
          <p:nvPr/>
        </p:nvSpPr>
        <p:spPr>
          <a:xfrm>
            <a:off x="8304262" y="5692724"/>
            <a:ext cx="2174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11203A"/>
                </a:solidFill>
                <a:latin typeface="Neo Sans Std" panose="020B0504030504040204" pitchFamily="34" charset="0"/>
              </a:rPr>
              <a:t>Users’ </a:t>
            </a:r>
            <a:r>
              <a:rPr lang="it-IT" sz="24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Rights</a:t>
            </a:r>
            <a:endParaRPr lang="it-IT" sz="2400" b="1" dirty="0">
              <a:solidFill>
                <a:srgbClr val="11203A"/>
              </a:solidFill>
              <a:latin typeface="Neo Sans Std" panose="020B0504030504040204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432C96B3-D0D4-161A-EDD9-5FF4B175AA43}"/>
              </a:ext>
            </a:extLst>
          </p:cNvPr>
          <p:cNvSpPr txBox="1"/>
          <p:nvPr/>
        </p:nvSpPr>
        <p:spPr>
          <a:xfrm>
            <a:off x="2235192" y="1943457"/>
            <a:ext cx="162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GDPR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3BB54348-B3C1-C867-FA95-C7DED42157CA}"/>
              </a:ext>
            </a:extLst>
          </p:cNvPr>
          <p:cNvCxnSpPr>
            <a:cxnSpLocks/>
          </p:cNvCxnSpPr>
          <p:nvPr/>
        </p:nvCxnSpPr>
        <p:spPr>
          <a:xfrm rot="10800000">
            <a:off x="3047994" y="2420216"/>
            <a:ext cx="0" cy="726743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6CEA7D9-3F9D-36FD-D49A-4A41D8F5268B}"/>
              </a:ext>
            </a:extLst>
          </p:cNvPr>
          <p:cNvSpPr txBox="1"/>
          <p:nvPr/>
        </p:nvSpPr>
        <p:spPr>
          <a:xfrm>
            <a:off x="726821" y="4844525"/>
            <a:ext cx="4642337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91C6B"/>
                </a:solidFill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000" dirty="0">
                <a:solidFill>
                  <a:srgbClr val="091C6B"/>
                </a:solidFill>
                <a:effectLst/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 processing of voice data by Smart Assistant must be based on a legal basis clearly outlined in the privacy policy</a:t>
            </a:r>
            <a:r>
              <a:rPr lang="it-IT" sz="2000" dirty="0">
                <a:solidFill>
                  <a:srgbClr val="091C6B"/>
                </a:solidFill>
                <a:effectLst/>
                <a:latin typeface="Neo Sans Std" panose="020B0504030504040204" pitchFamily="34" charset="0"/>
              </a:rPr>
              <a:t> </a:t>
            </a:r>
            <a:endParaRPr lang="it-IT" sz="2000" dirty="0">
              <a:solidFill>
                <a:srgbClr val="091C6B"/>
              </a:solidFill>
              <a:latin typeface="Neo Sans Std" panose="020B050403050404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D532FE3-0D28-4E79-F2BE-35922E27BC7A}"/>
              </a:ext>
            </a:extLst>
          </p:cNvPr>
          <p:cNvSpPr txBox="1"/>
          <p:nvPr/>
        </p:nvSpPr>
        <p:spPr>
          <a:xfrm>
            <a:off x="4803068" y="5923558"/>
            <a:ext cx="815661" cy="369332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Art. 6</a:t>
            </a:r>
          </a:p>
        </p:txBody>
      </p:sp>
      <p:pic>
        <p:nvPicPr>
          <p:cNvPr id="12" name="Immagine 11" descr="Immagine che contiene Elementi grafici, schermata, Carattere, simbolo&#10;&#10;Descrizione generata automaticamente">
            <a:extLst>
              <a:ext uri="{FF2B5EF4-FFF2-40B4-BE49-F238E27FC236}">
                <a16:creationId xmlns:a16="http://schemas.microsoft.com/office/drawing/2014/main" id="{45478136-E4FA-6267-D9D3-A2F241455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94" y="1428508"/>
            <a:ext cx="748525" cy="748525"/>
          </a:xfrm>
          <a:prstGeom prst="rect">
            <a:avLst/>
          </a:prstGeom>
        </p:spPr>
      </p:pic>
      <p:pic>
        <p:nvPicPr>
          <p:cNvPr id="14" name="Immagine 13" descr="Immagine che contiene cerchio, Elementi grafici, simbolo, design&#10;&#10;Descrizione generata automaticamente">
            <a:extLst>
              <a:ext uri="{FF2B5EF4-FFF2-40B4-BE49-F238E27FC236}">
                <a16:creationId xmlns:a16="http://schemas.microsoft.com/office/drawing/2014/main" id="{0715C1BF-4EEB-B2AD-2DD3-0B34689518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216" y="3589247"/>
            <a:ext cx="748526" cy="748526"/>
          </a:xfrm>
          <a:prstGeom prst="rect">
            <a:avLst/>
          </a:prstGeom>
        </p:spPr>
      </p:pic>
      <p:pic>
        <p:nvPicPr>
          <p:cNvPr id="18" name="Immagine 17" descr="Immagine che contiene schermata, Elementi grafici, simbolo, design&#10;&#10;Descrizione generata automaticamente">
            <a:extLst>
              <a:ext uri="{FF2B5EF4-FFF2-40B4-BE49-F238E27FC236}">
                <a16:creationId xmlns:a16="http://schemas.microsoft.com/office/drawing/2014/main" id="{27291B94-9BCF-4D58-B9AA-624D70D8EB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216" y="2523971"/>
            <a:ext cx="748526" cy="748526"/>
          </a:xfrm>
          <a:prstGeom prst="rect">
            <a:avLst/>
          </a:prstGeom>
        </p:spPr>
      </p:pic>
      <p:pic>
        <p:nvPicPr>
          <p:cNvPr id="24" name="Immagine 23" descr="Immagine che contiene schermata, Elementi grafici, design&#10;&#10;Descrizione generata automaticamente">
            <a:extLst>
              <a:ext uri="{FF2B5EF4-FFF2-40B4-BE49-F238E27FC236}">
                <a16:creationId xmlns:a16="http://schemas.microsoft.com/office/drawing/2014/main" id="{A39F9C83-506C-87E7-3D8C-8A5660C04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7216" y="4654523"/>
            <a:ext cx="748526" cy="748526"/>
          </a:xfrm>
          <a:prstGeom prst="rect">
            <a:avLst/>
          </a:prstGeom>
        </p:spPr>
      </p:pic>
      <p:pic>
        <p:nvPicPr>
          <p:cNvPr id="27" name="Immagine 26" descr="Immagine che contiene simbolo, Elementi grafici, logo, Carattere&#10;&#10;Descrizione generata automaticamente">
            <a:extLst>
              <a:ext uri="{FF2B5EF4-FFF2-40B4-BE49-F238E27FC236}">
                <a16:creationId xmlns:a16="http://schemas.microsoft.com/office/drawing/2014/main" id="{1573D4E9-08CD-DF08-79E1-23E7DFAC23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217" y="5549295"/>
            <a:ext cx="748525" cy="748525"/>
          </a:xfrm>
          <a:prstGeom prst="rect">
            <a:avLst/>
          </a:prstGeom>
        </p:spPr>
      </p:pic>
      <p:grpSp>
        <p:nvGrpSpPr>
          <p:cNvPr id="28" name="Gruppo 27">
            <a:extLst>
              <a:ext uri="{FF2B5EF4-FFF2-40B4-BE49-F238E27FC236}">
                <a16:creationId xmlns:a16="http://schemas.microsoft.com/office/drawing/2014/main" id="{25B2D614-A4D0-EF72-42B3-E6BD2B83C1AD}"/>
              </a:ext>
            </a:extLst>
          </p:cNvPr>
          <p:cNvGrpSpPr/>
          <p:nvPr/>
        </p:nvGrpSpPr>
        <p:grpSpPr>
          <a:xfrm>
            <a:off x="8649098" y="160383"/>
            <a:ext cx="989788" cy="1086456"/>
            <a:chOff x="5601105" y="1872103"/>
            <a:chExt cx="989788" cy="1086456"/>
          </a:xfrm>
        </p:grpSpPr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7F942282-88D2-0DBA-71A3-34E464B26414}"/>
                </a:ext>
              </a:extLst>
            </p:cNvPr>
            <p:cNvSpPr/>
            <p:nvPr/>
          </p:nvSpPr>
          <p:spPr>
            <a:xfrm>
              <a:off x="5601105" y="1872103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30" name="Immagine 29" descr="Immagine che contiene logo, simbolo, Carattere, Elementi grafici&#10;&#10;Descrizione generata automaticamente">
              <a:extLst>
                <a:ext uri="{FF2B5EF4-FFF2-40B4-BE49-F238E27FC236}">
                  <a16:creationId xmlns:a16="http://schemas.microsoft.com/office/drawing/2014/main" id="{D4759310-5B88-245C-5D72-847734FB9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943" y="2095276"/>
              <a:ext cx="640110" cy="6401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492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20">
            <a:extLst>
              <a:ext uri="{FF2B5EF4-FFF2-40B4-BE49-F238E27FC236}">
                <a16:creationId xmlns:a16="http://schemas.microsoft.com/office/drawing/2014/main" id="{5B5A3326-4974-3583-F592-35FE0DE5A075}"/>
              </a:ext>
            </a:extLst>
          </p:cNvPr>
          <p:cNvSpPr/>
          <p:nvPr/>
        </p:nvSpPr>
        <p:spPr>
          <a:xfrm>
            <a:off x="0" y="1464816"/>
            <a:ext cx="12192000" cy="5393184"/>
          </a:xfrm>
          <a:prstGeom prst="rect">
            <a:avLst/>
          </a:prstGeom>
          <a:solidFill>
            <a:srgbClr val="11203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5F1FA8BA-361B-82DC-5E0B-A48F8C11DCE9}"/>
              </a:ext>
            </a:extLst>
          </p:cNvPr>
          <p:cNvSpPr/>
          <p:nvPr/>
        </p:nvSpPr>
        <p:spPr>
          <a:xfrm>
            <a:off x="6881572" y="1959524"/>
            <a:ext cx="4497239" cy="4403765"/>
          </a:xfrm>
          <a:prstGeom prst="roundRect">
            <a:avLst/>
          </a:prstGeom>
          <a:noFill/>
          <a:ln w="76200"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43F5D908-5D89-E152-4935-41092AEB6C07}"/>
              </a:ext>
            </a:extLst>
          </p:cNvPr>
          <p:cNvSpPr/>
          <p:nvPr/>
        </p:nvSpPr>
        <p:spPr>
          <a:xfrm>
            <a:off x="813189" y="1959525"/>
            <a:ext cx="4497239" cy="4403765"/>
          </a:xfrm>
          <a:prstGeom prst="roundRect">
            <a:avLst/>
          </a:prstGeom>
          <a:noFill/>
          <a:ln w="76200"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536614D-0410-F181-1DAE-F39C974A57C1}"/>
              </a:ext>
            </a:extLst>
          </p:cNvPr>
          <p:cNvSpPr txBox="1"/>
          <p:nvPr/>
        </p:nvSpPr>
        <p:spPr>
          <a:xfrm>
            <a:off x="864983" y="409789"/>
            <a:ext cx="10462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Different</a:t>
            </a:r>
            <a:r>
              <a:rPr lang="it-IT" sz="4000" b="1" dirty="0">
                <a:solidFill>
                  <a:srgbClr val="11203A"/>
                </a:solidFill>
                <a:latin typeface="Neo Sans Std" panose="020B0504030504040204" pitchFamily="34" charset="0"/>
              </a:rPr>
              <a:t> </a:t>
            </a:r>
            <a:r>
              <a:rPr lang="it-IT" sz="4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types</a:t>
            </a:r>
            <a:r>
              <a:rPr lang="it-IT" sz="4000" b="1" dirty="0">
                <a:solidFill>
                  <a:srgbClr val="11203A"/>
                </a:solidFill>
                <a:latin typeface="Neo Sans Std" panose="020B0504030504040204" pitchFamily="34" charset="0"/>
              </a:rPr>
              <a:t> of Data and Stakeholders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4E66A8C-F2B9-2F67-984B-7321D9876390}"/>
              </a:ext>
            </a:extLst>
          </p:cNvPr>
          <p:cNvSpPr txBox="1"/>
          <p:nvPr/>
        </p:nvSpPr>
        <p:spPr>
          <a:xfrm>
            <a:off x="1864229" y="2093747"/>
            <a:ext cx="2315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Data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categories</a:t>
            </a:r>
            <a:endParaRPr lang="it-IT" sz="2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D63B9A3-0A09-3CC0-D78B-4D7BEBE9D185}"/>
              </a:ext>
            </a:extLst>
          </p:cNvPr>
          <p:cNvSpPr txBox="1"/>
          <p:nvPr/>
        </p:nvSpPr>
        <p:spPr>
          <a:xfrm>
            <a:off x="3291284" y="3799797"/>
            <a:ext cx="1628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Observed</a:t>
            </a:r>
            <a:endParaRPr lang="it-IT" sz="2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F9565FF-ACDA-C92B-084A-FCA44FB67838}"/>
              </a:ext>
            </a:extLst>
          </p:cNvPr>
          <p:cNvSpPr txBox="1"/>
          <p:nvPr/>
        </p:nvSpPr>
        <p:spPr>
          <a:xfrm>
            <a:off x="1246951" y="4889174"/>
            <a:ext cx="1628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Derived</a:t>
            </a:r>
            <a:endParaRPr lang="it-IT" sz="2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5E338C6-1AD6-9C0C-89E7-4A3C80DFEAC9}"/>
              </a:ext>
            </a:extLst>
          </p:cNvPr>
          <p:cNvSpPr txBox="1"/>
          <p:nvPr/>
        </p:nvSpPr>
        <p:spPr>
          <a:xfrm>
            <a:off x="864984" y="2710135"/>
            <a:ext cx="2396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Primary</a:t>
            </a:r>
            <a:endParaRPr lang="it-IT" sz="2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8E2854C-7994-4552-C455-FD4A31984776}"/>
              </a:ext>
            </a:extLst>
          </p:cNvPr>
          <p:cNvSpPr txBox="1"/>
          <p:nvPr/>
        </p:nvSpPr>
        <p:spPr>
          <a:xfrm>
            <a:off x="8225978" y="2093747"/>
            <a:ext cx="2101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Types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of users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B8BE014-3CF2-D68D-DA33-1AF89E9E9D6A}"/>
              </a:ext>
            </a:extLst>
          </p:cNvPr>
          <p:cNvSpPr txBox="1"/>
          <p:nvPr/>
        </p:nvSpPr>
        <p:spPr>
          <a:xfrm>
            <a:off x="7267701" y="3070406"/>
            <a:ext cx="1916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Registered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users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05BEACC-7909-0D77-3188-F1E911167099}"/>
              </a:ext>
            </a:extLst>
          </p:cNvPr>
          <p:cNvSpPr txBox="1"/>
          <p:nvPr/>
        </p:nvSpPr>
        <p:spPr>
          <a:xfrm>
            <a:off x="9276874" y="3915098"/>
            <a:ext cx="1852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Unregistered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users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BCBB778-6EF0-0764-C2BD-F5B66050BEE3}"/>
              </a:ext>
            </a:extLst>
          </p:cNvPr>
          <p:cNvSpPr txBox="1"/>
          <p:nvPr/>
        </p:nvSpPr>
        <p:spPr>
          <a:xfrm>
            <a:off x="7460390" y="4889174"/>
            <a:ext cx="1531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Accidental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users</a:t>
            </a:r>
          </a:p>
        </p:txBody>
      </p:sp>
      <p:pic>
        <p:nvPicPr>
          <p:cNvPr id="2" name="Immagine 1" descr="Immagine che contiene Elementi grafici, schermata, Carattere, simbolo&#10;&#10;Descrizione generata automaticamente">
            <a:extLst>
              <a:ext uri="{FF2B5EF4-FFF2-40B4-BE49-F238E27FC236}">
                <a16:creationId xmlns:a16="http://schemas.microsoft.com/office/drawing/2014/main" id="{BF051593-254E-7EEE-E06A-AEC58271D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57" y="389469"/>
            <a:ext cx="748525" cy="748525"/>
          </a:xfrm>
          <a:prstGeom prst="rect">
            <a:avLst/>
          </a:prstGeom>
        </p:spPr>
      </p:pic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19C3FECC-68C6-ACBB-A2FA-F10E7060A90F}"/>
              </a:ext>
            </a:extLst>
          </p:cNvPr>
          <p:cNvCxnSpPr/>
          <p:nvPr/>
        </p:nvCxnSpPr>
        <p:spPr>
          <a:xfrm>
            <a:off x="813189" y="2580238"/>
            <a:ext cx="4497239" cy="0"/>
          </a:xfrm>
          <a:prstGeom prst="line">
            <a:avLst/>
          </a:prstGeom>
          <a:ln w="571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BCBC292B-2D8C-FC5F-E86F-FCF85C88CAE1}"/>
              </a:ext>
            </a:extLst>
          </p:cNvPr>
          <p:cNvCxnSpPr/>
          <p:nvPr/>
        </p:nvCxnSpPr>
        <p:spPr>
          <a:xfrm>
            <a:off x="6881572" y="2580238"/>
            <a:ext cx="4497239" cy="0"/>
          </a:xfrm>
          <a:prstGeom prst="line">
            <a:avLst/>
          </a:prstGeom>
          <a:ln w="571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4ADB72A-8D1C-3B79-C8CF-AADEA26EE7F3}"/>
              </a:ext>
            </a:extLst>
          </p:cNvPr>
          <p:cNvSpPr txBox="1"/>
          <p:nvPr/>
        </p:nvSpPr>
        <p:spPr>
          <a:xfrm>
            <a:off x="813189" y="3338428"/>
            <a:ext cx="2396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00" b="1" i="1" dirty="0">
                <a:solidFill>
                  <a:schemeClr val="bg1"/>
                </a:solidFill>
                <a:latin typeface="Neo Sans Std" panose="020B0504030504040204" pitchFamily="34" charset="0"/>
              </a:rPr>
              <a:t>Account data and Voice Recordings</a:t>
            </a:r>
          </a:p>
          <a:p>
            <a:pPr algn="ctr"/>
            <a:endParaRPr lang="it-IT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41B656B-6D1E-D478-2D99-12EBE6F6358F}"/>
              </a:ext>
            </a:extLst>
          </p:cNvPr>
          <p:cNvSpPr txBox="1"/>
          <p:nvPr/>
        </p:nvSpPr>
        <p:spPr>
          <a:xfrm>
            <a:off x="1197092" y="5515298"/>
            <a:ext cx="16284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00" b="1" i="1" dirty="0">
                <a:solidFill>
                  <a:schemeClr val="bg1"/>
                </a:solidFill>
                <a:latin typeface="Neo Sans Std" panose="020B0504030504040204" pitchFamily="34" charset="0"/>
              </a:rPr>
              <a:t>User profiling</a:t>
            </a:r>
          </a:p>
          <a:p>
            <a:pPr algn="ctr"/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3E5CB8D-DF2B-4A64-40B3-E8F8B808F0E1}"/>
              </a:ext>
            </a:extLst>
          </p:cNvPr>
          <p:cNvSpPr txBox="1"/>
          <p:nvPr/>
        </p:nvSpPr>
        <p:spPr>
          <a:xfrm>
            <a:off x="3103880" y="4428090"/>
            <a:ext cx="20032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00" b="1" i="1" dirty="0">
                <a:solidFill>
                  <a:schemeClr val="bg1"/>
                </a:solidFill>
                <a:latin typeface="Neo Sans Std" panose="020B0504030504040204" pitchFamily="34" charset="0"/>
              </a:rPr>
              <a:t>Device Data and Online Activities</a:t>
            </a:r>
          </a:p>
          <a:p>
            <a:pPr algn="ctr"/>
            <a:endParaRPr lang="it-IT" dirty="0"/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78357779-F36A-F78A-64E4-AB94B2300B74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2011333" y="3110245"/>
            <a:ext cx="1" cy="22818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AA85F171-BE8F-3E4E-5460-AE8194835881}"/>
              </a:ext>
            </a:extLst>
          </p:cNvPr>
          <p:cNvCxnSpPr>
            <a:cxnSpLocks/>
          </p:cNvCxnSpPr>
          <p:nvPr/>
        </p:nvCxnSpPr>
        <p:spPr>
          <a:xfrm>
            <a:off x="2011332" y="5308455"/>
            <a:ext cx="1" cy="22818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DB5330D8-5E50-16C3-5C07-EFF2D1B6335F}"/>
              </a:ext>
            </a:extLst>
          </p:cNvPr>
          <p:cNvCxnSpPr>
            <a:cxnSpLocks/>
          </p:cNvCxnSpPr>
          <p:nvPr/>
        </p:nvCxnSpPr>
        <p:spPr>
          <a:xfrm>
            <a:off x="4105523" y="4195022"/>
            <a:ext cx="1" cy="22818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791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6BE9417E-E0EE-E4A4-2793-9DDF6AA7FB46}"/>
              </a:ext>
            </a:extLst>
          </p:cNvPr>
          <p:cNvSpPr txBox="1"/>
          <p:nvPr/>
        </p:nvSpPr>
        <p:spPr>
          <a:xfrm>
            <a:off x="7019133" y="885791"/>
            <a:ext cx="1835004" cy="369332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Art. 12 and 13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5B5A3326-4974-3583-F592-35FE0DE5A075}"/>
              </a:ext>
            </a:extLst>
          </p:cNvPr>
          <p:cNvSpPr/>
          <p:nvPr/>
        </p:nvSpPr>
        <p:spPr>
          <a:xfrm>
            <a:off x="0" y="1464816"/>
            <a:ext cx="12192000" cy="5393184"/>
          </a:xfrm>
          <a:prstGeom prst="rect">
            <a:avLst/>
          </a:prstGeom>
          <a:solidFill>
            <a:srgbClr val="1120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4E66A8C-F2B9-2F67-984B-7321D9876390}"/>
              </a:ext>
            </a:extLst>
          </p:cNvPr>
          <p:cNvSpPr txBox="1"/>
          <p:nvPr/>
        </p:nvSpPr>
        <p:spPr>
          <a:xfrm>
            <a:off x="1365379" y="1986251"/>
            <a:ext cx="686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Transparency</a:t>
            </a:r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is</a:t>
            </a:r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crucial</a:t>
            </a:r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 in Smart </a:t>
            </a:r>
            <a:r>
              <a:rPr lang="it-IT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Assistants</a:t>
            </a:r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’ data processing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356DE14-1731-64E5-2698-647FE348A4CE}"/>
              </a:ext>
            </a:extLst>
          </p:cNvPr>
          <p:cNvSpPr txBox="1"/>
          <p:nvPr/>
        </p:nvSpPr>
        <p:spPr>
          <a:xfrm>
            <a:off x="1467175" y="2678542"/>
            <a:ext cx="924943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kern="100" dirty="0">
                <a:solidFill>
                  <a:schemeClr val="bg1"/>
                </a:solidFill>
                <a:effectLst/>
                <a:latin typeface="Neo Sans Std"/>
                <a:ea typeface="Calibri" panose="020F0502020204030204" pitchFamily="34" charset="0"/>
                <a:cs typeface="Times New Roman"/>
              </a:rPr>
              <a:t>They must comply with GDPR’s Article 12 and 13 and clearly communicating the processing of personal data</a:t>
            </a:r>
            <a:endParaRPr lang="it-IT" b="1" dirty="0">
              <a:solidFill>
                <a:schemeClr val="bg1"/>
              </a:solidFill>
              <a:latin typeface="Neo Sans Std"/>
              <a:cs typeface="Times New Roman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77E40D9-80C1-0103-791C-D85E47384F1F}"/>
              </a:ext>
            </a:extLst>
          </p:cNvPr>
          <p:cNvSpPr txBox="1"/>
          <p:nvPr/>
        </p:nvSpPr>
        <p:spPr>
          <a:xfrm>
            <a:off x="1467175" y="3651514"/>
            <a:ext cx="867370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b="1" dirty="0" err="1">
                <a:solidFill>
                  <a:schemeClr val="bg1"/>
                </a:solidFill>
                <a:latin typeface="Neo Sans Std"/>
              </a:rPr>
              <a:t>Failure</a:t>
            </a:r>
            <a:r>
              <a:rPr lang="it-IT" b="1" dirty="0">
                <a:solidFill>
                  <a:schemeClr val="bg1"/>
                </a:solidFill>
                <a:latin typeface="Neo Sans Std"/>
              </a:rPr>
              <a:t> to </a:t>
            </a:r>
            <a:r>
              <a:rPr lang="it-IT" b="1" dirty="0" err="1">
                <a:solidFill>
                  <a:schemeClr val="bg1"/>
                </a:solidFill>
                <a:latin typeface="Neo Sans Std"/>
              </a:rPr>
              <a:t>communicate</a:t>
            </a:r>
            <a:r>
              <a:rPr lang="it-IT" b="1" dirty="0">
                <a:solidFill>
                  <a:schemeClr val="bg1"/>
                </a:solidFill>
                <a:latin typeface="Neo Sans Std"/>
              </a:rPr>
              <a:t> </a:t>
            </a:r>
            <a:r>
              <a:rPr lang="it-IT" b="1" dirty="0" err="1">
                <a:solidFill>
                  <a:schemeClr val="bg1"/>
                </a:solidFill>
                <a:latin typeface="Neo Sans Std"/>
              </a:rPr>
              <a:t>represents</a:t>
            </a:r>
            <a:r>
              <a:rPr lang="it-IT" b="1" dirty="0">
                <a:solidFill>
                  <a:schemeClr val="bg1"/>
                </a:solidFill>
                <a:latin typeface="Neo Sans Std"/>
              </a:rPr>
              <a:t> a </a:t>
            </a:r>
            <a:r>
              <a:rPr lang="it-IT" b="1" dirty="0" err="1">
                <a:solidFill>
                  <a:schemeClr val="bg1"/>
                </a:solidFill>
                <a:latin typeface="Neo Sans Std"/>
              </a:rPr>
              <a:t>violation</a:t>
            </a:r>
            <a:r>
              <a:rPr lang="it-IT" b="1" dirty="0">
                <a:solidFill>
                  <a:schemeClr val="bg1"/>
                </a:solidFill>
                <a:latin typeface="Neo Sans Std"/>
              </a:rPr>
              <a:t> with impacts on the </a:t>
            </a:r>
            <a:r>
              <a:rPr lang="it-IT" b="1" dirty="0" err="1">
                <a:solidFill>
                  <a:schemeClr val="bg1"/>
                </a:solidFill>
                <a:latin typeface="Neo Sans Std"/>
              </a:rPr>
              <a:t>lowfulness</a:t>
            </a:r>
            <a:r>
              <a:rPr lang="it-IT" b="1" dirty="0">
                <a:solidFill>
                  <a:schemeClr val="bg1"/>
                </a:solidFill>
                <a:latin typeface="Neo Sans Std"/>
              </a:rPr>
              <a:t> of data processing</a:t>
            </a:r>
            <a:endParaRPr lang="it-IT" dirty="0">
              <a:solidFill>
                <a:schemeClr val="bg1"/>
              </a:solidFill>
              <a:latin typeface="Neo Sans Std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38ABBBA-24CC-988D-BB57-4E58B9C59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255" y="1832788"/>
            <a:ext cx="676257" cy="67625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DBE02C58-AD59-632B-85BC-22D71683F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4030" y="2663578"/>
            <a:ext cx="676257" cy="67625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B71F145F-F617-B439-8436-735740BA3B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254" y="3624358"/>
            <a:ext cx="676257" cy="67625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22EE4BD2-63A4-3A5C-9022-6466D53F8D27}"/>
              </a:ext>
            </a:extLst>
          </p:cNvPr>
          <p:cNvSpPr txBox="1"/>
          <p:nvPr/>
        </p:nvSpPr>
        <p:spPr>
          <a:xfrm>
            <a:off x="793073" y="4918243"/>
            <a:ext cx="10597639" cy="1477328"/>
          </a:xfrm>
          <a:prstGeom prst="rect">
            <a:avLst/>
          </a:prstGeom>
          <a:noFill/>
          <a:ln w="19050">
            <a:solidFill>
              <a:srgbClr val="FF9900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1800" b="1" kern="100" dirty="0">
                <a:solidFill>
                  <a:schemeClr val="bg1"/>
                </a:solidFill>
                <a:effectLst/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principle should be ensured from the early stages of interaction, especially considering unwanted activations of Smart Assistants.</a:t>
            </a:r>
          </a:p>
          <a:p>
            <a:pPr algn="ctr"/>
            <a:r>
              <a:rPr lang="en-US" sz="1800" b="1" kern="100" dirty="0">
                <a:solidFill>
                  <a:schemeClr val="bg1"/>
                </a:solidFill>
                <a:effectLst/>
                <a:latin typeface="Neo Sans Std" panose="020B05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the case of accidental processing of data, the Data Controller must verify the legal basis for each purpose and, if lacking, proceed with the deletion of accidentally collected data.</a:t>
            </a:r>
            <a:endParaRPr lang="it-IT" sz="1800" b="1" kern="100" dirty="0">
              <a:solidFill>
                <a:schemeClr val="bg1"/>
              </a:solidFill>
              <a:effectLst/>
              <a:latin typeface="Neo Sans Std" panose="020B05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  <p:pic>
        <p:nvPicPr>
          <p:cNvPr id="7" name="Immagine 6" descr="Immagine che contiene schermata, Elementi grafici, simbolo, design&#10;&#10;Descrizione generata automaticamente">
            <a:extLst>
              <a:ext uri="{FF2B5EF4-FFF2-40B4-BE49-F238E27FC236}">
                <a16:creationId xmlns:a16="http://schemas.microsoft.com/office/drawing/2014/main" id="{9878C23C-4695-5DB3-8368-9B71A38737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013" y="317000"/>
            <a:ext cx="748526" cy="748526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536614D-0410-F181-1DAE-F39C974A57C1}"/>
              </a:ext>
            </a:extLst>
          </p:cNvPr>
          <p:cNvSpPr txBox="1"/>
          <p:nvPr/>
        </p:nvSpPr>
        <p:spPr>
          <a:xfrm>
            <a:off x="4338539" y="333956"/>
            <a:ext cx="35149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Transparency</a:t>
            </a:r>
            <a:endParaRPr lang="it-IT" sz="2400" b="1" dirty="0">
              <a:solidFill>
                <a:srgbClr val="11203A"/>
              </a:solidFill>
              <a:latin typeface="Neo Sans Std" panose="020B05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518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20">
            <a:extLst>
              <a:ext uri="{FF2B5EF4-FFF2-40B4-BE49-F238E27FC236}">
                <a16:creationId xmlns:a16="http://schemas.microsoft.com/office/drawing/2014/main" id="{5B5A3326-4974-3583-F592-35FE0DE5A075}"/>
              </a:ext>
            </a:extLst>
          </p:cNvPr>
          <p:cNvSpPr/>
          <p:nvPr/>
        </p:nvSpPr>
        <p:spPr>
          <a:xfrm>
            <a:off x="0" y="1464816"/>
            <a:ext cx="12192000" cy="5393184"/>
          </a:xfrm>
          <a:prstGeom prst="rect">
            <a:avLst/>
          </a:prstGeom>
          <a:solidFill>
            <a:srgbClr val="1120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4E66A8C-F2B9-2F67-984B-7321D9876390}"/>
              </a:ext>
            </a:extLst>
          </p:cNvPr>
          <p:cNvSpPr txBox="1"/>
          <p:nvPr/>
        </p:nvSpPr>
        <p:spPr>
          <a:xfrm>
            <a:off x="1070633" y="2328587"/>
            <a:ext cx="3043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Execution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of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Requests</a:t>
            </a:r>
            <a:endParaRPr lang="it-IT" sz="2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356DE14-1731-64E5-2698-647FE348A4CE}"/>
              </a:ext>
            </a:extLst>
          </p:cNvPr>
          <p:cNvSpPr txBox="1"/>
          <p:nvPr/>
        </p:nvSpPr>
        <p:spPr>
          <a:xfrm>
            <a:off x="3178844" y="3238500"/>
            <a:ext cx="4469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Improvement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through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Training and Manual Review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77E40D9-80C1-0103-791C-D85E47384F1F}"/>
              </a:ext>
            </a:extLst>
          </p:cNvPr>
          <p:cNvSpPr txBox="1"/>
          <p:nvPr/>
        </p:nvSpPr>
        <p:spPr>
          <a:xfrm>
            <a:off x="6907755" y="4288782"/>
            <a:ext cx="2946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User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identification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using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voice data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846B363-8F44-5808-2993-196D670C4979}"/>
              </a:ext>
            </a:extLst>
          </p:cNvPr>
          <p:cNvSpPr txBox="1"/>
          <p:nvPr/>
        </p:nvSpPr>
        <p:spPr>
          <a:xfrm>
            <a:off x="9770374" y="5450460"/>
            <a:ext cx="1490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Profiling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E1314CF-2DEB-D521-9014-5A65D865A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402" y="2154026"/>
            <a:ext cx="749231" cy="74923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3528CB27-E2FA-4FE2-77DD-F07FECBC8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38500" y="3197155"/>
            <a:ext cx="749231" cy="749231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F07F26D8-C6C9-4118-A12C-471A758AC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4997" y="5275899"/>
            <a:ext cx="749232" cy="74923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D5695CE8-5958-5462-17DE-E550BDABA6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54116" y="4268109"/>
            <a:ext cx="749231" cy="749231"/>
          </a:xfrm>
          <a:prstGeom prst="rect">
            <a:avLst/>
          </a:prstGeom>
        </p:spPr>
      </p:pic>
      <p:pic>
        <p:nvPicPr>
          <p:cNvPr id="6" name="Immagine 5" descr="Immagine che contiene cerchio, Elementi grafici, simbolo, design&#10;&#10;Descrizione generata automaticamente">
            <a:extLst>
              <a:ext uri="{FF2B5EF4-FFF2-40B4-BE49-F238E27FC236}">
                <a16:creationId xmlns:a16="http://schemas.microsoft.com/office/drawing/2014/main" id="{4DA09A2D-3980-A8D4-050A-45F3CEEE6D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044" y="358970"/>
            <a:ext cx="748526" cy="748526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F3119963-59FC-225C-9888-4496FA1581EB}"/>
              </a:ext>
            </a:extLst>
          </p:cNvPr>
          <p:cNvSpPr txBox="1"/>
          <p:nvPr/>
        </p:nvSpPr>
        <p:spPr>
          <a:xfrm>
            <a:off x="8913103" y="923183"/>
            <a:ext cx="1496787" cy="369332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Art. 6 and 9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536614D-0410-F181-1DAE-F39C974A57C1}"/>
              </a:ext>
            </a:extLst>
          </p:cNvPr>
          <p:cNvSpPr txBox="1"/>
          <p:nvPr/>
        </p:nvSpPr>
        <p:spPr>
          <a:xfrm>
            <a:off x="2227462" y="379290"/>
            <a:ext cx="7737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Purposes</a:t>
            </a:r>
            <a:r>
              <a:rPr lang="it-IT" sz="4000" b="1" dirty="0">
                <a:solidFill>
                  <a:srgbClr val="11203A"/>
                </a:solidFill>
                <a:latin typeface="Neo Sans Std" panose="020B0504030504040204" pitchFamily="34" charset="0"/>
              </a:rPr>
              <a:t> of Data Processing</a:t>
            </a:r>
          </a:p>
        </p:txBody>
      </p:sp>
    </p:spTree>
    <p:extLst>
      <p:ext uri="{BB962C8B-B14F-4D97-AF65-F5344CB8AC3E}">
        <p14:creationId xmlns:p14="http://schemas.microsoft.com/office/powerpoint/2010/main" val="1994729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20">
            <a:extLst>
              <a:ext uri="{FF2B5EF4-FFF2-40B4-BE49-F238E27FC236}">
                <a16:creationId xmlns:a16="http://schemas.microsoft.com/office/drawing/2014/main" id="{5B5A3326-4974-3583-F592-35FE0DE5A075}"/>
              </a:ext>
            </a:extLst>
          </p:cNvPr>
          <p:cNvSpPr/>
          <p:nvPr/>
        </p:nvSpPr>
        <p:spPr>
          <a:xfrm>
            <a:off x="0" y="1464816"/>
            <a:ext cx="12192000" cy="5393184"/>
          </a:xfrm>
          <a:prstGeom prst="rect">
            <a:avLst/>
          </a:prstGeom>
          <a:solidFill>
            <a:srgbClr val="1120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11203A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356DE14-1731-64E5-2698-647FE348A4CE}"/>
              </a:ext>
            </a:extLst>
          </p:cNvPr>
          <p:cNvSpPr txBox="1"/>
          <p:nvPr/>
        </p:nvSpPr>
        <p:spPr>
          <a:xfrm>
            <a:off x="3163613" y="2089889"/>
            <a:ext cx="586477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kern="100" dirty="0">
                <a:solidFill>
                  <a:schemeClr val="bg1"/>
                </a:solidFill>
                <a:latin typeface="Neo Sans Std"/>
                <a:ea typeface="Calibri" panose="020F0502020204030204" pitchFamily="34" charset="0"/>
                <a:cs typeface="Times New Roman"/>
              </a:rPr>
              <a:t>Reduce the amount of information collected</a:t>
            </a:r>
            <a:endParaRPr lang="it-IT" sz="2000" b="1" dirty="0">
              <a:solidFill>
                <a:schemeClr val="bg1"/>
              </a:solidFill>
              <a:latin typeface="Neo Sans Std"/>
              <a:cs typeface="Times New Roman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77E40D9-80C1-0103-791C-D85E47384F1F}"/>
              </a:ext>
            </a:extLst>
          </p:cNvPr>
          <p:cNvSpPr txBox="1"/>
          <p:nvPr/>
        </p:nvSpPr>
        <p:spPr>
          <a:xfrm>
            <a:off x="1619400" y="3471171"/>
            <a:ext cx="308842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000" b="1" dirty="0" err="1">
                <a:solidFill>
                  <a:schemeClr val="bg1"/>
                </a:solidFill>
                <a:latin typeface="Neo Sans Std"/>
              </a:rPr>
              <a:t>Avoid</a:t>
            </a:r>
            <a:r>
              <a:rPr lang="it-IT" sz="2000" b="1" dirty="0">
                <a:solidFill>
                  <a:schemeClr val="bg1"/>
                </a:solidFill>
                <a:latin typeface="Neo Sans Std"/>
              </a:rPr>
              <a:t> data </a:t>
            </a:r>
            <a:r>
              <a:rPr lang="it-IT" sz="2000" b="1" dirty="0" err="1">
                <a:solidFill>
                  <a:schemeClr val="bg1"/>
                </a:solidFill>
                <a:latin typeface="Neo Sans Std"/>
              </a:rPr>
              <a:t>analysis</a:t>
            </a:r>
            <a:r>
              <a:rPr lang="it-IT" sz="2000" b="1" dirty="0">
                <a:solidFill>
                  <a:schemeClr val="bg1"/>
                </a:solidFill>
                <a:latin typeface="Neo Sans Std"/>
              </a:rPr>
              <a:t> 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9EE0293-12C9-FEC9-AAA0-A21485F00F7E}"/>
              </a:ext>
            </a:extLst>
          </p:cNvPr>
          <p:cNvSpPr txBox="1"/>
          <p:nvPr/>
        </p:nvSpPr>
        <p:spPr>
          <a:xfrm>
            <a:off x="7484173" y="3471171"/>
            <a:ext cx="308842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000" b="1" dirty="0" err="1">
                <a:solidFill>
                  <a:schemeClr val="bg1"/>
                </a:solidFill>
                <a:latin typeface="Neo Sans Std"/>
              </a:rPr>
              <a:t>Proper</a:t>
            </a:r>
            <a:r>
              <a:rPr lang="it-IT" sz="2000" b="1" dirty="0">
                <a:solidFill>
                  <a:schemeClr val="bg1"/>
                </a:solidFill>
                <a:latin typeface="Neo Sans Std"/>
              </a:rPr>
              <a:t> Default Settings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AC456BE-CE86-47AC-6513-3726BB6EA7A7}"/>
              </a:ext>
            </a:extLst>
          </p:cNvPr>
          <p:cNvSpPr txBox="1"/>
          <p:nvPr/>
        </p:nvSpPr>
        <p:spPr>
          <a:xfrm>
            <a:off x="1619400" y="4852453"/>
            <a:ext cx="3088426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/>
              </a:rPr>
              <a:t>Limit the knowledge </a:t>
            </a:r>
            <a:r>
              <a:rPr lang="it-IT" sz="2000" b="1" dirty="0" err="1">
                <a:solidFill>
                  <a:schemeClr val="bg1"/>
                </a:solidFill>
                <a:latin typeface="Neo Sans Std"/>
              </a:rPr>
              <a:t>about</a:t>
            </a:r>
            <a:r>
              <a:rPr lang="it-IT" sz="2000" b="1" dirty="0">
                <a:solidFill>
                  <a:schemeClr val="bg1"/>
                </a:solidFill>
                <a:latin typeface="Neo Sans Std"/>
              </a:rPr>
              <a:t> </a:t>
            </a:r>
            <a:r>
              <a:rPr lang="it-IT" sz="2000" b="1" dirty="0" err="1">
                <a:solidFill>
                  <a:schemeClr val="bg1"/>
                </a:solidFill>
                <a:latin typeface="Neo Sans Std"/>
              </a:rPr>
              <a:t>habits</a:t>
            </a:r>
            <a:r>
              <a:rPr lang="it-IT" sz="2000" b="1" dirty="0">
                <a:solidFill>
                  <a:schemeClr val="bg1"/>
                </a:solidFill>
                <a:latin typeface="Neo Sans Std"/>
              </a:rPr>
              <a:t> or </a:t>
            </a:r>
            <a:r>
              <a:rPr lang="it-IT" sz="2000" b="1" dirty="0" err="1">
                <a:solidFill>
                  <a:schemeClr val="bg1"/>
                </a:solidFill>
                <a:latin typeface="Neo Sans Std"/>
              </a:rPr>
              <a:t>medical</a:t>
            </a:r>
            <a:r>
              <a:rPr lang="it-IT" sz="2000" b="1" dirty="0">
                <a:solidFill>
                  <a:schemeClr val="bg1"/>
                </a:solidFill>
                <a:latin typeface="Neo Sans Std"/>
              </a:rPr>
              <a:t> </a:t>
            </a:r>
            <a:r>
              <a:rPr lang="it-IT" sz="2000" b="1" dirty="0" err="1">
                <a:solidFill>
                  <a:schemeClr val="bg1"/>
                </a:solidFill>
                <a:latin typeface="Neo Sans Std"/>
              </a:rPr>
              <a:t>issue</a:t>
            </a:r>
            <a:endParaRPr lang="it-IT" sz="2000" b="1" dirty="0">
              <a:solidFill>
                <a:schemeClr val="bg1"/>
              </a:solidFill>
              <a:latin typeface="Neo Sans Std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F7D8339-DE1D-EE05-2252-9B77F2F32ABF}"/>
              </a:ext>
            </a:extLst>
          </p:cNvPr>
          <p:cNvSpPr txBox="1"/>
          <p:nvPr/>
        </p:nvSpPr>
        <p:spPr>
          <a:xfrm>
            <a:off x="7370196" y="4852453"/>
            <a:ext cx="3316379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/>
              </a:rPr>
              <a:t>Reduce the </a:t>
            </a:r>
            <a:r>
              <a:rPr lang="it-IT" sz="2000" b="1" dirty="0" err="1">
                <a:solidFill>
                  <a:schemeClr val="bg1"/>
                </a:solidFill>
                <a:latin typeface="Neo Sans Std"/>
              </a:rPr>
              <a:t>amount</a:t>
            </a:r>
            <a:r>
              <a:rPr lang="it-IT" sz="2000" b="1" dirty="0">
                <a:solidFill>
                  <a:schemeClr val="bg1"/>
                </a:solidFill>
                <a:latin typeface="Neo Sans Std"/>
              </a:rPr>
              <a:t> of information </a:t>
            </a:r>
            <a:r>
              <a:rPr lang="it-IT" sz="2000" b="1" dirty="0" err="1">
                <a:solidFill>
                  <a:schemeClr val="bg1"/>
                </a:solidFill>
                <a:latin typeface="Neo Sans Std"/>
              </a:rPr>
              <a:t>at</a:t>
            </a:r>
            <a:r>
              <a:rPr lang="it-IT" sz="2000" b="1" dirty="0">
                <a:solidFill>
                  <a:schemeClr val="bg1"/>
                </a:solidFill>
                <a:latin typeface="Neo Sans Std"/>
              </a:rPr>
              <a:t> the minimum</a:t>
            </a:r>
          </a:p>
        </p:txBody>
      </p:sp>
      <p:pic>
        <p:nvPicPr>
          <p:cNvPr id="14" name="Immagine 13" descr="Immagine che contiene schermata, Elementi grafici, design&#10;&#10;Descrizione generata automaticamente">
            <a:extLst>
              <a:ext uri="{FF2B5EF4-FFF2-40B4-BE49-F238E27FC236}">
                <a16:creationId xmlns:a16="http://schemas.microsoft.com/office/drawing/2014/main" id="{20552A5D-651A-A7ED-7246-0D165AA5F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101" y="235440"/>
            <a:ext cx="872357" cy="872357"/>
          </a:xfrm>
          <a:prstGeom prst="rect">
            <a:avLst/>
          </a:prstGeom>
        </p:spPr>
      </p:pic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9B9716DA-4570-7614-A6C2-B7A5877E4832}"/>
              </a:ext>
            </a:extLst>
          </p:cNvPr>
          <p:cNvCxnSpPr>
            <a:cxnSpLocks/>
          </p:cNvCxnSpPr>
          <p:nvPr/>
        </p:nvCxnSpPr>
        <p:spPr>
          <a:xfrm>
            <a:off x="3163613" y="4051299"/>
            <a:ext cx="0" cy="729695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8117BAFF-27C7-BC2D-3945-E52BA25F0522}"/>
              </a:ext>
            </a:extLst>
          </p:cNvPr>
          <p:cNvCxnSpPr>
            <a:cxnSpLocks/>
          </p:cNvCxnSpPr>
          <p:nvPr/>
        </p:nvCxnSpPr>
        <p:spPr>
          <a:xfrm>
            <a:off x="9028386" y="4051298"/>
            <a:ext cx="0" cy="729695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5A808EE-1E57-FC6A-3F14-4D4B70955574}"/>
              </a:ext>
            </a:extLst>
          </p:cNvPr>
          <p:cNvSpPr txBox="1"/>
          <p:nvPr/>
        </p:nvSpPr>
        <p:spPr>
          <a:xfrm>
            <a:off x="7888446" y="851074"/>
            <a:ext cx="1496787" cy="369332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Art. 5(1)(c)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C6B88E7-D54B-79B8-335A-38ADD437D7E3}"/>
              </a:ext>
            </a:extLst>
          </p:cNvPr>
          <p:cNvSpPr txBox="1"/>
          <p:nvPr/>
        </p:nvSpPr>
        <p:spPr>
          <a:xfrm>
            <a:off x="3706458" y="322592"/>
            <a:ext cx="47790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>
                <a:solidFill>
                  <a:srgbClr val="11203A"/>
                </a:solidFill>
                <a:latin typeface="Neo Sans Std" panose="020B0504030504040204" pitchFamily="34" charset="0"/>
              </a:rPr>
              <a:t>Data </a:t>
            </a:r>
            <a:r>
              <a:rPr lang="it-IT" sz="4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Minimization</a:t>
            </a:r>
            <a:endParaRPr lang="it-IT" sz="2400" b="1" dirty="0">
              <a:solidFill>
                <a:srgbClr val="11203A"/>
              </a:solidFill>
              <a:latin typeface="Neo Sans Std" panose="020B0504030504040204" pitchFamily="34" charset="0"/>
            </a:endParaRPr>
          </a:p>
        </p:txBody>
      </p:sp>
      <p:cxnSp>
        <p:nvCxnSpPr>
          <p:cNvPr id="20" name="Connettore 1 19">
            <a:extLst>
              <a:ext uri="{FF2B5EF4-FFF2-40B4-BE49-F238E27FC236}">
                <a16:creationId xmlns:a16="http://schemas.microsoft.com/office/drawing/2014/main" id="{8EE769E7-0BD2-8CBD-7A17-677197CCDCF6}"/>
              </a:ext>
            </a:extLst>
          </p:cNvPr>
          <p:cNvCxnSpPr>
            <a:cxnSpLocks/>
          </p:cNvCxnSpPr>
          <p:nvPr/>
        </p:nvCxnSpPr>
        <p:spPr>
          <a:xfrm>
            <a:off x="3163613" y="2960185"/>
            <a:ext cx="5864773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110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C2F2B9E-4EA2-0A5C-E2E9-2EC49CE9F842}"/>
              </a:ext>
            </a:extLst>
          </p:cNvPr>
          <p:cNvSpPr/>
          <p:nvPr/>
        </p:nvSpPr>
        <p:spPr>
          <a:xfrm>
            <a:off x="0" y="1464816"/>
            <a:ext cx="12192000" cy="5393184"/>
          </a:xfrm>
          <a:prstGeom prst="rect">
            <a:avLst/>
          </a:prstGeom>
          <a:solidFill>
            <a:srgbClr val="11203A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11203A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94E1CBB-58C2-CC8F-9A5E-6648C92308C0}"/>
              </a:ext>
            </a:extLst>
          </p:cNvPr>
          <p:cNvSpPr txBox="1"/>
          <p:nvPr/>
        </p:nvSpPr>
        <p:spPr>
          <a:xfrm>
            <a:off x="2048477" y="3975358"/>
            <a:ext cx="13894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Access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Right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1242582-D11B-19F9-2EB3-C58BBF1D651D}"/>
              </a:ext>
            </a:extLst>
          </p:cNvPr>
          <p:cNvSpPr txBox="1"/>
          <p:nvPr/>
        </p:nvSpPr>
        <p:spPr>
          <a:xfrm>
            <a:off x="4992000" y="3975358"/>
            <a:ext cx="2207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Rectification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Right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54C4F9D-4B85-20B6-EB29-676C58A1BA5A}"/>
              </a:ext>
            </a:extLst>
          </p:cNvPr>
          <p:cNvSpPr txBox="1"/>
          <p:nvPr/>
        </p:nvSpPr>
        <p:spPr>
          <a:xfrm>
            <a:off x="8630997" y="3975358"/>
            <a:ext cx="1635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Deletion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Right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54EB2EB-D4DC-D23C-80B4-2A8F0A531ABD}"/>
              </a:ext>
            </a:extLst>
          </p:cNvPr>
          <p:cNvSpPr txBox="1"/>
          <p:nvPr/>
        </p:nvSpPr>
        <p:spPr>
          <a:xfrm>
            <a:off x="2221871" y="54601"/>
            <a:ext cx="77482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>
                <a:solidFill>
                  <a:srgbClr val="222E3E"/>
                </a:solidFill>
                <a:latin typeface="Neo Sans Std"/>
              </a:rPr>
              <a:t>Mechanisms</a:t>
            </a:r>
            <a:r>
              <a:rPr lang="it-IT" sz="4000" b="1" dirty="0">
                <a:solidFill>
                  <a:srgbClr val="222E3E"/>
                </a:solidFill>
                <a:latin typeface="Neo Sans Std"/>
              </a:rPr>
              <a:t> for the </a:t>
            </a:r>
            <a:r>
              <a:rPr lang="it-IT" sz="4000" b="1" dirty="0" err="1">
                <a:solidFill>
                  <a:srgbClr val="222E3E"/>
                </a:solidFill>
                <a:latin typeface="Neo Sans Std"/>
              </a:rPr>
              <a:t>exercise</a:t>
            </a:r>
            <a:r>
              <a:rPr lang="it-IT" sz="4000" b="1" dirty="0">
                <a:solidFill>
                  <a:srgbClr val="222E3E"/>
                </a:solidFill>
                <a:latin typeface="Neo Sans Std"/>
              </a:rPr>
              <a:t> of </a:t>
            </a:r>
            <a:r>
              <a:rPr lang="it-IT" sz="4000" b="1" dirty="0" err="1">
                <a:solidFill>
                  <a:srgbClr val="222E3E"/>
                </a:solidFill>
                <a:latin typeface="Neo Sans Std"/>
              </a:rPr>
              <a:t>interested</a:t>
            </a:r>
            <a:r>
              <a:rPr lang="it-IT" sz="4000" b="1" dirty="0">
                <a:solidFill>
                  <a:srgbClr val="222E3E"/>
                </a:solidFill>
                <a:latin typeface="Neo Sans Std"/>
              </a:rPr>
              <a:t> party </a:t>
            </a:r>
            <a:r>
              <a:rPr lang="it-IT" sz="4000" b="1" dirty="0" err="1">
                <a:solidFill>
                  <a:srgbClr val="222E3E"/>
                </a:solidFill>
                <a:latin typeface="Neo Sans Std"/>
              </a:rPr>
              <a:t>rights</a:t>
            </a:r>
            <a:endParaRPr lang="it-IT" sz="4000" b="1" dirty="0">
              <a:solidFill>
                <a:srgbClr val="222E3E"/>
              </a:solidFill>
              <a:latin typeface="Neo Sans Std"/>
            </a:endParaRPr>
          </a:p>
        </p:txBody>
      </p:sp>
      <p:pic>
        <p:nvPicPr>
          <p:cNvPr id="6" name="Immagine 5" descr="Immagine che contiene simbolo, Elementi grafici, logo, Carattere&#10;&#10;Descrizione generata automaticamente">
            <a:extLst>
              <a:ext uri="{FF2B5EF4-FFF2-40B4-BE49-F238E27FC236}">
                <a16:creationId xmlns:a16="http://schemas.microsoft.com/office/drawing/2014/main" id="{DBCE9171-1B80-D98E-B663-D4E9B46E7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346" y="342058"/>
            <a:ext cx="748525" cy="748525"/>
          </a:xfrm>
          <a:prstGeom prst="rect">
            <a:avLst/>
          </a:prstGeom>
        </p:spPr>
      </p:pic>
      <p:pic>
        <p:nvPicPr>
          <p:cNvPr id="8" name="Immagine 7" descr="Immagine che contiene giallo, simbolo, design&#10;&#10;Descrizione generata automaticamente">
            <a:extLst>
              <a:ext uri="{FF2B5EF4-FFF2-40B4-BE49-F238E27FC236}">
                <a16:creationId xmlns:a16="http://schemas.microsoft.com/office/drawing/2014/main" id="{A581753E-B4BB-E1D4-EBFF-6CEBD973F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092" y="2907767"/>
            <a:ext cx="999415" cy="999415"/>
          </a:xfrm>
          <a:prstGeom prst="rect">
            <a:avLst/>
          </a:prstGeom>
        </p:spPr>
      </p:pic>
      <p:pic>
        <p:nvPicPr>
          <p:cNvPr id="11" name="Immagine 10" descr="Immagine che contiene simbolo, Carattere, giallo, linea&#10;&#10;Descrizione generata automaticamente">
            <a:extLst>
              <a:ext uri="{FF2B5EF4-FFF2-40B4-BE49-F238E27FC236}">
                <a16:creationId xmlns:a16="http://schemas.microsoft.com/office/drawing/2014/main" id="{125D7AED-1AB6-617A-AFD4-041EF6F60F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92" y="2975943"/>
            <a:ext cx="999415" cy="999415"/>
          </a:xfrm>
          <a:prstGeom prst="rect">
            <a:avLst/>
          </a:prstGeom>
        </p:spPr>
      </p:pic>
      <p:pic>
        <p:nvPicPr>
          <p:cNvPr id="15" name="Immagine 14" descr="Immagine che contiene logo, simbolo, Elementi grafici, Carattere&#10;&#10;Descrizione generata automaticamente">
            <a:extLst>
              <a:ext uri="{FF2B5EF4-FFF2-40B4-BE49-F238E27FC236}">
                <a16:creationId xmlns:a16="http://schemas.microsoft.com/office/drawing/2014/main" id="{85B9C976-ECEB-52D0-E287-F0BC2A02DB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292" y="2889167"/>
            <a:ext cx="999415" cy="99941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134FBD0-9D39-8D4C-D9A4-A493FE663CD1}"/>
              </a:ext>
            </a:extLst>
          </p:cNvPr>
          <p:cNvSpPr txBox="1"/>
          <p:nvPr/>
        </p:nvSpPr>
        <p:spPr>
          <a:xfrm>
            <a:off x="3274141" y="8320423"/>
            <a:ext cx="5643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Registered</a:t>
            </a:r>
            <a:r>
              <a:rPr lang="it-IT" sz="2400" b="1" dirty="0">
                <a:solidFill>
                  <a:schemeClr val="bg2"/>
                </a:solidFill>
                <a:latin typeface="Neo Sans Std" panose="020B0504030504040204" pitchFamily="34" charset="0"/>
              </a:rPr>
              <a:t> and </a:t>
            </a:r>
            <a:r>
              <a:rPr lang="it-IT" sz="24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unregistered</a:t>
            </a:r>
            <a:r>
              <a:rPr lang="it-IT" sz="2400" b="1" dirty="0">
                <a:solidFill>
                  <a:schemeClr val="bg2"/>
                </a:solidFill>
                <a:latin typeface="Neo Sans Std" panose="020B0504030504040204" pitchFamily="34" charset="0"/>
              </a:rPr>
              <a:t> users</a:t>
            </a:r>
          </a:p>
        </p:txBody>
      </p:sp>
      <p:sp>
        <p:nvSpPr>
          <p:cNvPr id="10" name="Parentesi graffa chiusa 9">
            <a:extLst>
              <a:ext uri="{FF2B5EF4-FFF2-40B4-BE49-F238E27FC236}">
                <a16:creationId xmlns:a16="http://schemas.microsoft.com/office/drawing/2014/main" id="{F901DEBF-8DE0-50B4-E843-F8365E806B19}"/>
              </a:ext>
            </a:extLst>
          </p:cNvPr>
          <p:cNvSpPr/>
          <p:nvPr/>
        </p:nvSpPr>
        <p:spPr>
          <a:xfrm rot="5400000">
            <a:off x="5744691" y="4150801"/>
            <a:ext cx="702613" cy="7151519"/>
          </a:xfrm>
          <a:prstGeom prst="rightBrace">
            <a:avLst/>
          </a:prstGeom>
          <a:ln w="571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80339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C2F2B9E-4EA2-0A5C-E2E9-2EC49CE9F842}"/>
              </a:ext>
            </a:extLst>
          </p:cNvPr>
          <p:cNvSpPr/>
          <p:nvPr/>
        </p:nvSpPr>
        <p:spPr>
          <a:xfrm>
            <a:off x="0" y="1464816"/>
            <a:ext cx="12192000" cy="5393184"/>
          </a:xfrm>
          <a:prstGeom prst="rect">
            <a:avLst/>
          </a:prstGeom>
          <a:solidFill>
            <a:srgbClr val="11203A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11203A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94E1CBB-58C2-CC8F-9A5E-6648C92308C0}"/>
              </a:ext>
            </a:extLst>
          </p:cNvPr>
          <p:cNvSpPr txBox="1"/>
          <p:nvPr/>
        </p:nvSpPr>
        <p:spPr>
          <a:xfrm>
            <a:off x="2048477" y="3087856"/>
            <a:ext cx="13894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Access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Right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1242582-D11B-19F9-2EB3-C58BBF1D651D}"/>
              </a:ext>
            </a:extLst>
          </p:cNvPr>
          <p:cNvSpPr txBox="1"/>
          <p:nvPr/>
        </p:nvSpPr>
        <p:spPr>
          <a:xfrm>
            <a:off x="4992000" y="3087856"/>
            <a:ext cx="2207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Rectification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Right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54C4F9D-4B85-20B6-EB29-676C58A1BA5A}"/>
              </a:ext>
            </a:extLst>
          </p:cNvPr>
          <p:cNvSpPr txBox="1"/>
          <p:nvPr/>
        </p:nvSpPr>
        <p:spPr>
          <a:xfrm>
            <a:off x="8630997" y="3087856"/>
            <a:ext cx="1635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Deletion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Right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pic>
        <p:nvPicPr>
          <p:cNvPr id="6" name="Immagine 5" descr="Immagine che contiene simbolo, Elementi grafici, logo, Carattere&#10;&#10;Descrizione generata automaticamente">
            <a:extLst>
              <a:ext uri="{FF2B5EF4-FFF2-40B4-BE49-F238E27FC236}">
                <a16:creationId xmlns:a16="http://schemas.microsoft.com/office/drawing/2014/main" id="{DBCE9171-1B80-D98E-B663-D4E9B46E7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346" y="342058"/>
            <a:ext cx="748525" cy="748525"/>
          </a:xfrm>
          <a:prstGeom prst="rect">
            <a:avLst/>
          </a:prstGeom>
        </p:spPr>
      </p:pic>
      <p:pic>
        <p:nvPicPr>
          <p:cNvPr id="8" name="Immagine 7" descr="Immagine che contiene giallo, simbolo, design&#10;&#10;Descrizione generata automaticamente">
            <a:extLst>
              <a:ext uri="{FF2B5EF4-FFF2-40B4-BE49-F238E27FC236}">
                <a16:creationId xmlns:a16="http://schemas.microsoft.com/office/drawing/2014/main" id="{A581753E-B4BB-E1D4-EBFF-6CEBD973F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092" y="2020265"/>
            <a:ext cx="999415" cy="999415"/>
          </a:xfrm>
          <a:prstGeom prst="rect">
            <a:avLst/>
          </a:prstGeom>
        </p:spPr>
      </p:pic>
      <p:pic>
        <p:nvPicPr>
          <p:cNvPr id="11" name="Immagine 10" descr="Immagine che contiene simbolo, Carattere, giallo, linea&#10;&#10;Descrizione generata automaticamente">
            <a:extLst>
              <a:ext uri="{FF2B5EF4-FFF2-40B4-BE49-F238E27FC236}">
                <a16:creationId xmlns:a16="http://schemas.microsoft.com/office/drawing/2014/main" id="{125D7AED-1AB6-617A-AFD4-041EF6F60F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92" y="2088441"/>
            <a:ext cx="999415" cy="999415"/>
          </a:xfrm>
          <a:prstGeom prst="rect">
            <a:avLst/>
          </a:prstGeom>
        </p:spPr>
      </p:pic>
      <p:pic>
        <p:nvPicPr>
          <p:cNvPr id="15" name="Immagine 14" descr="Immagine che contiene logo, simbolo, Elementi grafici, Carattere&#10;&#10;Descrizione generata automaticamente">
            <a:extLst>
              <a:ext uri="{FF2B5EF4-FFF2-40B4-BE49-F238E27FC236}">
                <a16:creationId xmlns:a16="http://schemas.microsoft.com/office/drawing/2014/main" id="{85B9C976-ECEB-52D0-E287-F0BC2A02DB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292" y="2001665"/>
            <a:ext cx="999415" cy="99941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134FBD0-9D39-8D4C-D9A4-A493FE663CD1}"/>
              </a:ext>
            </a:extLst>
          </p:cNvPr>
          <p:cNvSpPr txBox="1"/>
          <p:nvPr/>
        </p:nvSpPr>
        <p:spPr>
          <a:xfrm>
            <a:off x="3274141" y="5106577"/>
            <a:ext cx="5643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Registered</a:t>
            </a:r>
            <a:r>
              <a:rPr lang="it-IT" sz="2400" b="1" dirty="0">
                <a:solidFill>
                  <a:schemeClr val="bg2"/>
                </a:solidFill>
                <a:latin typeface="Neo Sans Std" panose="020B0504030504040204" pitchFamily="34" charset="0"/>
              </a:rPr>
              <a:t> and </a:t>
            </a:r>
            <a:r>
              <a:rPr lang="it-IT" sz="24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unregistered</a:t>
            </a:r>
            <a:r>
              <a:rPr lang="it-IT" sz="2400" b="1" dirty="0">
                <a:solidFill>
                  <a:schemeClr val="bg2"/>
                </a:solidFill>
                <a:latin typeface="Neo Sans Std" panose="020B0504030504040204" pitchFamily="34" charset="0"/>
              </a:rPr>
              <a:t> users</a:t>
            </a:r>
          </a:p>
        </p:txBody>
      </p:sp>
      <p:sp>
        <p:nvSpPr>
          <p:cNvPr id="10" name="Parentesi graffa chiusa 9">
            <a:extLst>
              <a:ext uri="{FF2B5EF4-FFF2-40B4-BE49-F238E27FC236}">
                <a16:creationId xmlns:a16="http://schemas.microsoft.com/office/drawing/2014/main" id="{F901DEBF-8DE0-50B4-E843-F8365E806B19}"/>
              </a:ext>
            </a:extLst>
          </p:cNvPr>
          <p:cNvSpPr/>
          <p:nvPr/>
        </p:nvSpPr>
        <p:spPr>
          <a:xfrm rot="5400000">
            <a:off x="5744691" y="936955"/>
            <a:ext cx="702613" cy="7151519"/>
          </a:xfrm>
          <a:prstGeom prst="rightBrace">
            <a:avLst/>
          </a:prstGeom>
          <a:ln w="571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264FA05-616E-5F34-2C9A-3F9D46E658D9}"/>
              </a:ext>
            </a:extLst>
          </p:cNvPr>
          <p:cNvSpPr txBox="1"/>
          <p:nvPr/>
        </p:nvSpPr>
        <p:spPr>
          <a:xfrm>
            <a:off x="2221871" y="54601"/>
            <a:ext cx="77482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>
                <a:solidFill>
                  <a:srgbClr val="222E3E"/>
                </a:solidFill>
                <a:latin typeface="Neo Sans Std"/>
              </a:rPr>
              <a:t>Mechanisms</a:t>
            </a:r>
            <a:r>
              <a:rPr lang="it-IT" sz="4000" b="1" dirty="0">
                <a:solidFill>
                  <a:srgbClr val="222E3E"/>
                </a:solidFill>
                <a:latin typeface="Neo Sans Std"/>
              </a:rPr>
              <a:t> for the </a:t>
            </a:r>
            <a:r>
              <a:rPr lang="it-IT" sz="4000" b="1" dirty="0" err="1">
                <a:solidFill>
                  <a:srgbClr val="222E3E"/>
                </a:solidFill>
                <a:latin typeface="Neo Sans Std"/>
              </a:rPr>
              <a:t>exercise</a:t>
            </a:r>
            <a:r>
              <a:rPr lang="it-IT" sz="4000" b="1" dirty="0">
                <a:solidFill>
                  <a:srgbClr val="222E3E"/>
                </a:solidFill>
                <a:latin typeface="Neo Sans Std"/>
              </a:rPr>
              <a:t> of </a:t>
            </a:r>
            <a:r>
              <a:rPr lang="it-IT" sz="4000" b="1" dirty="0" err="1">
                <a:solidFill>
                  <a:srgbClr val="222E3E"/>
                </a:solidFill>
                <a:latin typeface="Neo Sans Std"/>
              </a:rPr>
              <a:t>interested</a:t>
            </a:r>
            <a:r>
              <a:rPr lang="it-IT" sz="4000" b="1" dirty="0">
                <a:solidFill>
                  <a:srgbClr val="222E3E"/>
                </a:solidFill>
                <a:latin typeface="Neo Sans Std"/>
              </a:rPr>
              <a:t> party </a:t>
            </a:r>
            <a:r>
              <a:rPr lang="it-IT" sz="4000" b="1" dirty="0" err="1">
                <a:solidFill>
                  <a:srgbClr val="222E3E"/>
                </a:solidFill>
                <a:latin typeface="Neo Sans Std"/>
              </a:rPr>
              <a:t>rights</a:t>
            </a:r>
            <a:endParaRPr lang="it-IT" sz="4000" b="1" dirty="0">
              <a:solidFill>
                <a:srgbClr val="222E3E"/>
              </a:solidFill>
              <a:latin typeface="Neo Sans Std"/>
            </a:endParaRPr>
          </a:p>
        </p:txBody>
      </p:sp>
    </p:spTree>
    <p:extLst>
      <p:ext uri="{BB962C8B-B14F-4D97-AF65-F5344CB8AC3E}">
        <p14:creationId xmlns:p14="http://schemas.microsoft.com/office/powerpoint/2010/main" val="1020967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1242582-D11B-19F9-2EB3-C58BBF1D651D}"/>
              </a:ext>
            </a:extLst>
          </p:cNvPr>
          <p:cNvSpPr txBox="1"/>
          <p:nvPr/>
        </p:nvSpPr>
        <p:spPr>
          <a:xfrm>
            <a:off x="1096298" y="2121513"/>
            <a:ext cx="9999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Every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user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should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be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able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to access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his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personal data in a common format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54C4F9D-4B85-20B6-EB29-676C58A1BA5A}"/>
              </a:ext>
            </a:extLst>
          </p:cNvPr>
          <p:cNvSpPr txBox="1"/>
          <p:nvPr/>
        </p:nvSpPr>
        <p:spPr>
          <a:xfrm>
            <a:off x="4497601" y="3040213"/>
            <a:ext cx="3196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Audio Data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E78017C-B6BF-134A-A4BE-67E03CC623A8}"/>
              </a:ext>
            </a:extLst>
          </p:cNvPr>
          <p:cNvSpPr txBox="1"/>
          <p:nvPr/>
        </p:nvSpPr>
        <p:spPr>
          <a:xfrm>
            <a:off x="1347982" y="4403115"/>
            <a:ext cx="3196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Transcription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74F91A6-5C8A-774E-FA33-ACDF25158FE8}"/>
              </a:ext>
            </a:extLst>
          </p:cNvPr>
          <p:cNvSpPr txBox="1"/>
          <p:nvPr/>
        </p:nvSpPr>
        <p:spPr>
          <a:xfrm>
            <a:off x="7694399" y="4380051"/>
            <a:ext cx="3196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Vocal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Recording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EF9650F8-5681-792B-5145-85F69D237684}"/>
              </a:ext>
            </a:extLst>
          </p:cNvPr>
          <p:cNvCxnSpPr>
            <a:cxnSpLocks/>
          </p:cNvCxnSpPr>
          <p:nvPr/>
        </p:nvCxnSpPr>
        <p:spPr>
          <a:xfrm>
            <a:off x="2946381" y="3806416"/>
            <a:ext cx="0" cy="573635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620AEF7C-7E0B-28DE-9CDC-1B2653CCF07E}"/>
              </a:ext>
            </a:extLst>
          </p:cNvPr>
          <p:cNvCxnSpPr/>
          <p:nvPr/>
        </p:nvCxnSpPr>
        <p:spPr>
          <a:xfrm>
            <a:off x="3930649" y="3657600"/>
            <a:ext cx="43307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B2633365-8CCE-6617-CD1B-DA1A70FF6A51}"/>
              </a:ext>
            </a:extLst>
          </p:cNvPr>
          <p:cNvCxnSpPr>
            <a:cxnSpLocks/>
          </p:cNvCxnSpPr>
          <p:nvPr/>
        </p:nvCxnSpPr>
        <p:spPr>
          <a:xfrm>
            <a:off x="9194781" y="3806416"/>
            <a:ext cx="0" cy="573635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tangolo 14">
            <a:extLst>
              <a:ext uri="{FF2B5EF4-FFF2-40B4-BE49-F238E27FC236}">
                <a16:creationId xmlns:a16="http://schemas.microsoft.com/office/drawing/2014/main" id="{5DC94759-082C-BB21-31A4-E65AC7A0B6EC}"/>
              </a:ext>
            </a:extLst>
          </p:cNvPr>
          <p:cNvSpPr/>
          <p:nvPr/>
        </p:nvSpPr>
        <p:spPr>
          <a:xfrm>
            <a:off x="0" y="1470302"/>
            <a:ext cx="12192000" cy="5393184"/>
          </a:xfrm>
          <a:prstGeom prst="rect">
            <a:avLst/>
          </a:prstGeom>
          <a:solidFill>
            <a:srgbClr val="1120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5C4E786-717D-EC58-BCD9-9C52A96D73C4}"/>
              </a:ext>
            </a:extLst>
          </p:cNvPr>
          <p:cNvSpPr txBox="1"/>
          <p:nvPr/>
        </p:nvSpPr>
        <p:spPr>
          <a:xfrm>
            <a:off x="595213" y="2121513"/>
            <a:ext cx="10992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Every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user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should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be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able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to access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his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personal data in a common format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4FAF69C-F2D2-BF5D-1ED1-AED12C568138}"/>
              </a:ext>
            </a:extLst>
          </p:cNvPr>
          <p:cNvSpPr txBox="1"/>
          <p:nvPr/>
        </p:nvSpPr>
        <p:spPr>
          <a:xfrm>
            <a:off x="4497601" y="3175364"/>
            <a:ext cx="3196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Audio Data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BCEF133-A0A8-3356-68D1-8742CB9B47BD}"/>
              </a:ext>
            </a:extLst>
          </p:cNvPr>
          <p:cNvSpPr txBox="1"/>
          <p:nvPr/>
        </p:nvSpPr>
        <p:spPr>
          <a:xfrm>
            <a:off x="2713709" y="4369866"/>
            <a:ext cx="3196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Transcription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B399794-9076-7738-3713-98902FB0DB05}"/>
              </a:ext>
            </a:extLst>
          </p:cNvPr>
          <p:cNvSpPr txBox="1"/>
          <p:nvPr/>
        </p:nvSpPr>
        <p:spPr>
          <a:xfrm>
            <a:off x="6134389" y="4398602"/>
            <a:ext cx="3196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Vocal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Recording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2296B23-BB42-5030-4D92-CC1DAF3B7D71}"/>
              </a:ext>
            </a:extLst>
          </p:cNvPr>
          <p:cNvSpPr txBox="1"/>
          <p:nvPr/>
        </p:nvSpPr>
        <p:spPr>
          <a:xfrm>
            <a:off x="2392105" y="5809938"/>
            <a:ext cx="7398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chemeClr val="bg2"/>
                </a:solidFill>
                <a:latin typeface="Neo Sans Std" panose="020B0504030504040204" pitchFamily="34" charset="0"/>
              </a:rPr>
              <a:t>No </a:t>
            </a:r>
            <a:r>
              <a:rPr lang="it-IT" sz="32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need</a:t>
            </a:r>
            <a:r>
              <a:rPr lang="it-IT" sz="3200" b="1" dirty="0">
                <a:solidFill>
                  <a:schemeClr val="bg2"/>
                </a:solidFill>
                <a:latin typeface="Neo Sans Std" panose="020B0504030504040204" pitchFamily="34" charset="0"/>
              </a:rPr>
              <a:t> to </a:t>
            </a:r>
            <a:r>
              <a:rPr lang="it-IT" sz="32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buy</a:t>
            </a:r>
            <a:r>
              <a:rPr lang="it-IT" sz="3200" b="1" dirty="0">
                <a:solidFill>
                  <a:schemeClr val="bg2"/>
                </a:solidFill>
                <a:latin typeface="Neo Sans Std" panose="020B0504030504040204" pitchFamily="34" charset="0"/>
              </a:rPr>
              <a:t> a </a:t>
            </a:r>
            <a:r>
              <a:rPr lang="it-IT" sz="32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specific</a:t>
            </a:r>
            <a:r>
              <a:rPr lang="it-IT" sz="3200" b="1" dirty="0">
                <a:solidFill>
                  <a:schemeClr val="bg2"/>
                </a:solidFill>
                <a:latin typeface="Neo Sans Std" panose="020B0504030504040204" pitchFamily="34" charset="0"/>
              </a:rPr>
              <a:t> software 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FCDCBACC-83FB-12C5-E236-A291EB8D7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290" y="5257669"/>
            <a:ext cx="524446" cy="524446"/>
          </a:xfrm>
          <a:prstGeom prst="rect">
            <a:avLst/>
          </a:prstGeom>
        </p:spPr>
      </p:pic>
      <p:pic>
        <p:nvPicPr>
          <p:cNvPr id="27" name="Immagine 26" descr="Immagine che contiene schermata, design&#10;&#10;Descrizione generata automaticamente">
            <a:extLst>
              <a:ext uri="{FF2B5EF4-FFF2-40B4-BE49-F238E27FC236}">
                <a16:creationId xmlns:a16="http://schemas.microsoft.com/office/drawing/2014/main" id="{3481D9DE-524C-FDE7-2BAC-A9CD31DD6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815" y="393801"/>
            <a:ext cx="590293" cy="590293"/>
          </a:xfrm>
          <a:prstGeom prst="rect">
            <a:avLst/>
          </a:prstGeom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18957D5B-BB3B-671E-F065-EA606025C532}"/>
              </a:ext>
            </a:extLst>
          </p:cNvPr>
          <p:cNvSpPr txBox="1"/>
          <p:nvPr/>
        </p:nvSpPr>
        <p:spPr>
          <a:xfrm>
            <a:off x="7204228" y="807968"/>
            <a:ext cx="1057121" cy="369332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Art. 15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5D14FC5-C86C-F8D9-5271-235EDDD4960E}"/>
              </a:ext>
            </a:extLst>
          </p:cNvPr>
          <p:cNvSpPr txBox="1"/>
          <p:nvPr/>
        </p:nvSpPr>
        <p:spPr>
          <a:xfrm>
            <a:off x="4316177" y="331705"/>
            <a:ext cx="355964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4000" b="1" dirty="0">
                <a:solidFill>
                  <a:srgbClr val="222E3E"/>
                </a:solidFill>
                <a:latin typeface="Neo Sans Std"/>
              </a:rPr>
              <a:t>Access </a:t>
            </a:r>
            <a:r>
              <a:rPr lang="it-IT" sz="4000" b="1" dirty="0" err="1">
                <a:solidFill>
                  <a:srgbClr val="222E3E"/>
                </a:solidFill>
                <a:latin typeface="Neo Sans Std"/>
              </a:rPr>
              <a:t>Right</a:t>
            </a:r>
            <a:endParaRPr lang="it-IT" sz="4000" b="1" dirty="0">
              <a:solidFill>
                <a:srgbClr val="222E3E"/>
              </a:solidFill>
              <a:latin typeface="Neo Sans Std"/>
            </a:endParaRPr>
          </a:p>
        </p:txBody>
      </p: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DC7FE195-DBA3-12D2-2E96-61A211E82BDE}"/>
              </a:ext>
            </a:extLst>
          </p:cNvPr>
          <p:cNvCxnSpPr>
            <a:cxnSpLocks/>
          </p:cNvCxnSpPr>
          <p:nvPr/>
        </p:nvCxnSpPr>
        <p:spPr>
          <a:xfrm flipV="1">
            <a:off x="4488633" y="3955944"/>
            <a:ext cx="3205766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293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1242582-D11B-19F9-2EB3-C58BBF1D651D}"/>
              </a:ext>
            </a:extLst>
          </p:cNvPr>
          <p:cNvSpPr txBox="1"/>
          <p:nvPr/>
        </p:nvSpPr>
        <p:spPr>
          <a:xfrm>
            <a:off x="2076982" y="2678738"/>
            <a:ext cx="7119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Modify</a:t>
            </a:r>
            <a:r>
              <a:rPr lang="it-IT" sz="2400" b="1" dirty="0">
                <a:solidFill>
                  <a:schemeClr val="bg2"/>
                </a:solidFill>
                <a:latin typeface="Neo Sans Std" panose="020B0504030504040204" pitchFamily="34" charset="0"/>
              </a:rPr>
              <a:t> or Update </a:t>
            </a:r>
            <a:r>
              <a:rPr lang="it-IT" sz="2400" b="1" dirty="0">
                <a:solidFill>
                  <a:srgbClr val="FFC000"/>
                </a:solidFill>
                <a:latin typeface="Neo Sans Std" panose="020B0504030504040204" pitchFamily="34" charset="0"/>
              </a:rPr>
              <a:t>personal data </a:t>
            </a:r>
            <a:r>
              <a:rPr lang="it-IT" sz="24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at</a:t>
            </a:r>
            <a:r>
              <a:rPr lang="it-IT" sz="2400" b="1" dirty="0">
                <a:solidFill>
                  <a:schemeClr val="bg2"/>
                </a:solidFill>
                <a:latin typeface="Neo Sans Std" panose="020B0504030504040204" pitchFamily="34" charset="0"/>
              </a:rPr>
              <a:t> any time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2183D64-88C1-2229-40E7-6A86332031E8}"/>
              </a:ext>
            </a:extLst>
          </p:cNvPr>
          <p:cNvSpPr txBox="1"/>
          <p:nvPr/>
        </p:nvSpPr>
        <p:spPr>
          <a:xfrm>
            <a:off x="7751181" y="923724"/>
            <a:ext cx="1043242" cy="369332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Art. 16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54C4F9D-4B85-20B6-EB29-676C58A1BA5A}"/>
              </a:ext>
            </a:extLst>
          </p:cNvPr>
          <p:cNvSpPr txBox="1"/>
          <p:nvPr/>
        </p:nvSpPr>
        <p:spPr>
          <a:xfrm>
            <a:off x="3747440" y="3682241"/>
            <a:ext cx="5002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Profile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Management Application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5D14FC5-C86C-F8D9-5271-235EDDD4960E}"/>
              </a:ext>
            </a:extLst>
          </p:cNvPr>
          <p:cNvSpPr txBox="1"/>
          <p:nvPr/>
        </p:nvSpPr>
        <p:spPr>
          <a:xfrm>
            <a:off x="3681925" y="447786"/>
            <a:ext cx="4828149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4000" b="1" dirty="0" err="1">
                <a:solidFill>
                  <a:srgbClr val="222E3E"/>
                </a:solidFill>
                <a:latin typeface="Neo Sans Std"/>
              </a:rPr>
              <a:t>Rectification</a:t>
            </a:r>
            <a:r>
              <a:rPr lang="it-IT" sz="4000" dirty="0">
                <a:solidFill>
                  <a:srgbClr val="222E3E"/>
                </a:solidFill>
                <a:latin typeface="Neo Sans Std"/>
              </a:rPr>
              <a:t> </a:t>
            </a:r>
            <a:r>
              <a:rPr lang="it-IT" sz="4000" b="1" dirty="0" err="1">
                <a:solidFill>
                  <a:srgbClr val="222E3E"/>
                </a:solidFill>
                <a:latin typeface="Neo Sans Std"/>
              </a:rPr>
              <a:t>Right</a:t>
            </a:r>
            <a:endParaRPr lang="it-IT" sz="4000" b="1" dirty="0">
              <a:solidFill>
                <a:srgbClr val="222E3E"/>
              </a:solidFill>
              <a:latin typeface="Neo Sans Std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068D350-610C-FDCF-2B68-39A171426470}"/>
              </a:ext>
            </a:extLst>
          </p:cNvPr>
          <p:cNvSpPr txBox="1"/>
          <p:nvPr/>
        </p:nvSpPr>
        <p:spPr>
          <a:xfrm>
            <a:off x="3939418" y="4698174"/>
            <a:ext cx="6580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Update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should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be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notified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FFC000"/>
                </a:solidFill>
                <a:latin typeface="Neo Sans Std" panose="020B0504030504040204" pitchFamily="34" charset="0"/>
              </a:rPr>
              <a:t>verbally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or by </a:t>
            </a:r>
            <a:r>
              <a:rPr lang="it-IT" sz="2400" b="1" dirty="0" err="1">
                <a:solidFill>
                  <a:srgbClr val="FFC000"/>
                </a:solidFill>
                <a:latin typeface="Neo Sans Std" panose="020B0504030504040204" pitchFamily="34" charset="0"/>
              </a:rPr>
              <a:t>texting</a:t>
            </a:r>
            <a:endParaRPr lang="it-IT" sz="2400" b="1" dirty="0">
              <a:solidFill>
                <a:srgbClr val="FFC000"/>
              </a:solidFill>
              <a:latin typeface="Neo Sans Std" panose="020B050403050404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8BFD230-9FDE-B1A7-2AEF-D3DB56EAD3E5}"/>
              </a:ext>
            </a:extLst>
          </p:cNvPr>
          <p:cNvSpPr txBox="1"/>
          <p:nvPr/>
        </p:nvSpPr>
        <p:spPr>
          <a:xfrm>
            <a:off x="369286" y="1714565"/>
            <a:ext cx="4317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rgbClr val="FFC000"/>
                </a:solidFill>
                <a:latin typeface="Neo Sans Std" panose="020B0504030504040204" pitchFamily="34" charset="0"/>
              </a:rPr>
              <a:t>Logged</a:t>
            </a:r>
            <a:r>
              <a:rPr lang="it-IT" sz="2400" b="1" dirty="0">
                <a:solidFill>
                  <a:srgbClr val="FFC000"/>
                </a:solidFill>
                <a:latin typeface="Neo Sans Std" panose="020B0504030504040204" pitchFamily="34" charset="0"/>
              </a:rPr>
              <a:t> in 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users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5EE5F30-F5C4-6648-B4A4-9BFDC27B3AE4}"/>
              </a:ext>
            </a:extLst>
          </p:cNvPr>
          <p:cNvSpPr txBox="1"/>
          <p:nvPr/>
        </p:nvSpPr>
        <p:spPr>
          <a:xfrm>
            <a:off x="6480958" y="1710689"/>
            <a:ext cx="4317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	</a:t>
            </a:r>
            <a:r>
              <a:rPr lang="it-IT" sz="2400" b="1" dirty="0">
                <a:solidFill>
                  <a:srgbClr val="FFC000"/>
                </a:solidFill>
                <a:latin typeface="Neo Sans Std" panose="020B0504030504040204" pitchFamily="34" charset="0"/>
              </a:rPr>
              <a:t>No </a:t>
            </a:r>
            <a:r>
              <a:rPr lang="it-IT" sz="2400" b="1" dirty="0" err="1">
                <a:solidFill>
                  <a:srgbClr val="FFC000"/>
                </a:solidFill>
                <a:latin typeface="Neo Sans Std" panose="020B0504030504040204" pitchFamily="34" charset="0"/>
              </a:rPr>
              <a:t>logged</a:t>
            </a:r>
            <a:r>
              <a:rPr lang="it-IT" sz="2400" b="1" dirty="0">
                <a:solidFill>
                  <a:srgbClr val="FFC000"/>
                </a:solidFill>
                <a:latin typeface="Neo Sans Std" panose="020B0504030504040204" pitchFamily="34" charset="0"/>
              </a:rPr>
              <a:t> in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users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FEC632D-E567-FBB4-93C9-3209EE607BF6}"/>
              </a:ext>
            </a:extLst>
          </p:cNvPr>
          <p:cNvSpPr/>
          <p:nvPr/>
        </p:nvSpPr>
        <p:spPr>
          <a:xfrm>
            <a:off x="0" y="1464816"/>
            <a:ext cx="12192000" cy="5393184"/>
          </a:xfrm>
          <a:prstGeom prst="rect">
            <a:avLst/>
          </a:prstGeom>
          <a:solidFill>
            <a:srgbClr val="1120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6056792-B99E-E36E-B088-DE18B6799505}"/>
              </a:ext>
            </a:extLst>
          </p:cNvPr>
          <p:cNvSpPr txBox="1"/>
          <p:nvPr/>
        </p:nvSpPr>
        <p:spPr>
          <a:xfrm>
            <a:off x="2536356" y="2194950"/>
            <a:ext cx="7119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Modify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or Update personal data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at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any time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E1FD678-C117-CC7A-E2E6-AC88CA2F67D2}"/>
              </a:ext>
            </a:extLst>
          </p:cNvPr>
          <p:cNvSpPr txBox="1"/>
          <p:nvPr/>
        </p:nvSpPr>
        <p:spPr>
          <a:xfrm>
            <a:off x="1242205" y="4977685"/>
            <a:ext cx="37276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Profile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Management Application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9EBB65E-DBED-5441-18C7-1B82CE108106}"/>
              </a:ext>
            </a:extLst>
          </p:cNvPr>
          <p:cNvSpPr txBox="1"/>
          <p:nvPr/>
        </p:nvSpPr>
        <p:spPr>
          <a:xfrm>
            <a:off x="7229784" y="4929006"/>
            <a:ext cx="37276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Update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should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be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notified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verbally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or by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texting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pic>
        <p:nvPicPr>
          <p:cNvPr id="18" name="Immagine 17" descr="Immagine che contiene logo, Elementi grafici, schermata, simbolo&#10;&#10;Descrizione generata automaticamente">
            <a:extLst>
              <a:ext uri="{FF2B5EF4-FFF2-40B4-BE49-F238E27FC236}">
                <a16:creationId xmlns:a16="http://schemas.microsoft.com/office/drawing/2014/main" id="{44D4E5D8-A041-4424-97FA-7CF6A9182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012" y="493996"/>
            <a:ext cx="641428" cy="641428"/>
          </a:xfrm>
          <a:prstGeom prst="rect">
            <a:avLst/>
          </a:prstGeom>
        </p:spPr>
      </p:pic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4259CFB8-76CB-36CF-5704-C46A8DE7EEB7}"/>
              </a:ext>
            </a:extLst>
          </p:cNvPr>
          <p:cNvCxnSpPr>
            <a:cxnSpLocks/>
          </p:cNvCxnSpPr>
          <p:nvPr/>
        </p:nvCxnSpPr>
        <p:spPr>
          <a:xfrm>
            <a:off x="3535922" y="3140403"/>
            <a:ext cx="5099397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B13202-B5A1-7C82-D962-2AB577FE9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5359" y="3766664"/>
            <a:ext cx="1076462" cy="107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9A0982D-717B-42DF-B9D1-6689F9068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779" y="3746650"/>
            <a:ext cx="1076463" cy="107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082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1242582-D11B-19F9-2EB3-C58BBF1D651D}"/>
              </a:ext>
            </a:extLst>
          </p:cNvPr>
          <p:cNvSpPr txBox="1"/>
          <p:nvPr/>
        </p:nvSpPr>
        <p:spPr>
          <a:xfrm>
            <a:off x="-271798" y="2418564"/>
            <a:ext cx="7119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All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user’s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data </a:t>
            </a:r>
            <a:r>
              <a:rPr lang="it-IT" sz="2400" b="1" dirty="0" err="1">
                <a:solidFill>
                  <a:schemeClr val="accent4"/>
                </a:solidFill>
                <a:latin typeface="Neo Sans Std" panose="020B0504030504040204" pitchFamily="34" charset="0"/>
              </a:rPr>
              <a:t>deleted</a:t>
            </a:r>
            <a:r>
              <a:rPr lang="it-IT" sz="2400" b="1" dirty="0">
                <a:solidFill>
                  <a:schemeClr val="accent4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after a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request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54C4F9D-4B85-20B6-EB29-676C58A1BA5A}"/>
              </a:ext>
            </a:extLst>
          </p:cNvPr>
          <p:cNvSpPr txBox="1"/>
          <p:nvPr/>
        </p:nvSpPr>
        <p:spPr>
          <a:xfrm>
            <a:off x="2997662" y="3784363"/>
            <a:ext cx="6196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Using a </a:t>
            </a:r>
            <a:r>
              <a:rPr lang="it-IT" sz="2400" b="1" dirty="0">
                <a:solidFill>
                  <a:srgbClr val="FFC000"/>
                </a:solidFill>
                <a:latin typeface="Neo Sans Std" panose="020B0504030504040204" pitchFamily="34" charset="0"/>
              </a:rPr>
              <a:t>voice </a:t>
            </a:r>
            <a:r>
              <a:rPr lang="it-IT" sz="2400" b="1" dirty="0" err="1">
                <a:solidFill>
                  <a:srgbClr val="FFC000"/>
                </a:solidFill>
                <a:latin typeface="Neo Sans Std" panose="020B0504030504040204" pitchFamily="34" charset="0"/>
              </a:rPr>
              <a:t>command</a:t>
            </a:r>
            <a:r>
              <a:rPr lang="it-IT" sz="2400" b="1" dirty="0">
                <a:solidFill>
                  <a:srgbClr val="FFC000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to facilitate the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process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F394E93-0283-A009-4240-FDB90068FA63}"/>
              </a:ext>
            </a:extLst>
          </p:cNvPr>
          <p:cNvSpPr txBox="1"/>
          <p:nvPr/>
        </p:nvSpPr>
        <p:spPr>
          <a:xfrm>
            <a:off x="7393205" y="926360"/>
            <a:ext cx="1043242" cy="369332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Art. 17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74F91A6-5C8A-774E-FA33-ACDF25158FE8}"/>
              </a:ext>
            </a:extLst>
          </p:cNvPr>
          <p:cNvSpPr txBox="1"/>
          <p:nvPr/>
        </p:nvSpPr>
        <p:spPr>
          <a:xfrm>
            <a:off x="7921345" y="2418564"/>
            <a:ext cx="3196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accent4"/>
                </a:solidFill>
                <a:latin typeface="Neo Sans Std" panose="020B0504030504040204" pitchFamily="34" charset="0"/>
              </a:rPr>
              <a:t>Logged</a:t>
            </a:r>
            <a:r>
              <a:rPr lang="it-IT" sz="2400" b="1" dirty="0">
                <a:solidFill>
                  <a:schemeClr val="accent4"/>
                </a:solidFill>
                <a:latin typeface="Neo Sans Std" panose="020B0504030504040204" pitchFamily="34" charset="0"/>
              </a:rPr>
              <a:t> in or not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5D14FC5-C86C-F8D9-5271-235EDDD4960E}"/>
              </a:ext>
            </a:extLst>
          </p:cNvPr>
          <p:cNvSpPr txBox="1"/>
          <p:nvPr/>
        </p:nvSpPr>
        <p:spPr>
          <a:xfrm>
            <a:off x="2536355" y="445224"/>
            <a:ext cx="7119287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4000" b="1" dirty="0" err="1">
                <a:solidFill>
                  <a:srgbClr val="222E3E"/>
                </a:solidFill>
                <a:latin typeface="Neo Sans Std"/>
              </a:rPr>
              <a:t>Deletion</a:t>
            </a:r>
            <a:r>
              <a:rPr lang="it-IT" sz="4000" b="1" dirty="0">
                <a:solidFill>
                  <a:srgbClr val="222E3E"/>
                </a:solidFill>
                <a:latin typeface="Neo Sans Std"/>
              </a:rPr>
              <a:t> </a:t>
            </a:r>
            <a:r>
              <a:rPr lang="it-IT" sz="4000" b="1" dirty="0" err="1">
                <a:solidFill>
                  <a:srgbClr val="222E3E"/>
                </a:solidFill>
                <a:latin typeface="Neo Sans Std"/>
              </a:rPr>
              <a:t>Right</a:t>
            </a:r>
            <a:endParaRPr lang="it-IT" sz="4000" b="1" dirty="0">
              <a:solidFill>
                <a:srgbClr val="222E3E"/>
              </a:solidFill>
              <a:latin typeface="Neo Sans Std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432E48F6-8D88-DD59-6D99-0809A996BFB7}"/>
              </a:ext>
            </a:extLst>
          </p:cNvPr>
          <p:cNvSpPr/>
          <p:nvPr/>
        </p:nvSpPr>
        <p:spPr>
          <a:xfrm>
            <a:off x="-4" y="1464816"/>
            <a:ext cx="12192000" cy="5393184"/>
          </a:xfrm>
          <a:prstGeom prst="rect">
            <a:avLst/>
          </a:prstGeom>
          <a:solidFill>
            <a:srgbClr val="1120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2D11F00-E418-8357-6BA9-81953C01AA79}"/>
              </a:ext>
            </a:extLst>
          </p:cNvPr>
          <p:cNvSpPr txBox="1"/>
          <p:nvPr/>
        </p:nvSpPr>
        <p:spPr>
          <a:xfrm>
            <a:off x="2997659" y="2567639"/>
            <a:ext cx="6196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All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user’s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data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deleted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after a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request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846F42D-0639-723B-6D03-AC202D46D16C}"/>
              </a:ext>
            </a:extLst>
          </p:cNvPr>
          <p:cNvSpPr txBox="1"/>
          <p:nvPr/>
        </p:nvSpPr>
        <p:spPr>
          <a:xfrm>
            <a:off x="2997659" y="3618604"/>
            <a:ext cx="7222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Using a voice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command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to facilitate the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process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6626E0A-7AC3-24E2-EC84-F8EF516895B4}"/>
              </a:ext>
            </a:extLst>
          </p:cNvPr>
          <p:cNvSpPr txBox="1"/>
          <p:nvPr/>
        </p:nvSpPr>
        <p:spPr>
          <a:xfrm>
            <a:off x="2310649" y="5543749"/>
            <a:ext cx="75706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Deletion</a:t>
            </a:r>
            <a:r>
              <a:rPr lang="it-IT" sz="3200" b="1" dirty="0">
                <a:solidFill>
                  <a:schemeClr val="bg2"/>
                </a:solidFill>
                <a:latin typeface="Neo Sans Std" panose="020B0504030504040204" pitchFamily="34" charset="0"/>
              </a:rPr>
              <a:t> </a:t>
            </a:r>
            <a:r>
              <a:rPr lang="it-IT" sz="32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right</a:t>
            </a:r>
            <a:r>
              <a:rPr lang="it-IT" sz="3200" b="1" dirty="0">
                <a:solidFill>
                  <a:schemeClr val="bg2"/>
                </a:solidFill>
                <a:latin typeface="Neo Sans Std" panose="020B0504030504040204" pitchFamily="34" charset="0"/>
              </a:rPr>
              <a:t> </a:t>
            </a:r>
            <a:r>
              <a:rPr lang="it-IT" sz="32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may</a:t>
            </a:r>
            <a:r>
              <a:rPr lang="it-IT" sz="3200" b="1" dirty="0">
                <a:solidFill>
                  <a:schemeClr val="bg2"/>
                </a:solidFill>
                <a:latin typeface="Neo Sans Std" panose="020B0504030504040204" pitchFamily="34" charset="0"/>
              </a:rPr>
              <a:t> be </a:t>
            </a:r>
            <a:r>
              <a:rPr lang="it-IT" sz="32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subject</a:t>
            </a:r>
            <a:r>
              <a:rPr lang="it-IT" sz="3200" b="1" dirty="0">
                <a:solidFill>
                  <a:schemeClr val="bg2"/>
                </a:solidFill>
                <a:latin typeface="Neo Sans Std" panose="020B0504030504040204" pitchFamily="34" charset="0"/>
              </a:rPr>
              <a:t> of technical or </a:t>
            </a:r>
            <a:r>
              <a:rPr lang="it-IT" sz="32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legal</a:t>
            </a:r>
            <a:r>
              <a:rPr lang="it-IT" sz="3200" b="1" dirty="0">
                <a:solidFill>
                  <a:schemeClr val="bg2"/>
                </a:solidFill>
                <a:latin typeface="Neo Sans Std" panose="020B0504030504040204" pitchFamily="34" charset="0"/>
              </a:rPr>
              <a:t> </a:t>
            </a:r>
            <a:r>
              <a:rPr lang="it-IT" sz="32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limitation</a:t>
            </a:r>
            <a:endParaRPr lang="it-IT" sz="3200" b="1" dirty="0">
              <a:solidFill>
                <a:schemeClr val="bg2"/>
              </a:solidFill>
              <a:latin typeface="Neo Sans Std" panose="020B0504030504040204" pitchFamily="34" charset="0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64EEE9E4-3728-DCAE-E805-917DD2DAB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164" y="5142350"/>
            <a:ext cx="461665" cy="461665"/>
          </a:xfrm>
          <a:prstGeom prst="rect">
            <a:avLst/>
          </a:prstGeom>
        </p:spPr>
      </p:pic>
      <p:pic>
        <p:nvPicPr>
          <p:cNvPr id="15" name="Immagine 14" descr="Immagine che contiene design&#10;&#10;Descrizione generata automaticamente con attendibilità media">
            <a:extLst>
              <a:ext uri="{FF2B5EF4-FFF2-40B4-BE49-F238E27FC236}">
                <a16:creationId xmlns:a16="http://schemas.microsoft.com/office/drawing/2014/main" id="{4BB5BF19-3271-1D1F-562D-3C24FD970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152" y="476244"/>
            <a:ext cx="645846" cy="645846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75EC033-4727-62FD-7D52-21190D45C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537" y="2410835"/>
            <a:ext cx="723636" cy="723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E97FCB5-32A8-A390-B149-4F0EB9384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537" y="3487618"/>
            <a:ext cx="723636" cy="723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531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79FF092-374B-2A67-1F0E-7BAE44452549}"/>
              </a:ext>
            </a:extLst>
          </p:cNvPr>
          <p:cNvSpPr/>
          <p:nvPr/>
        </p:nvSpPr>
        <p:spPr>
          <a:xfrm>
            <a:off x="0" y="0"/>
            <a:ext cx="12192000" cy="685526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134230C-9F4E-5907-E6E2-C96CFDAE9005}"/>
              </a:ext>
            </a:extLst>
          </p:cNvPr>
          <p:cNvSpPr txBox="1"/>
          <p:nvPr/>
        </p:nvSpPr>
        <p:spPr>
          <a:xfrm>
            <a:off x="1606881" y="5100111"/>
            <a:ext cx="989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DPIA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FF91099-221C-9CC3-A079-82FB2E2AA755}"/>
              </a:ext>
            </a:extLst>
          </p:cNvPr>
          <p:cNvSpPr txBox="1"/>
          <p:nvPr/>
        </p:nvSpPr>
        <p:spPr>
          <a:xfrm>
            <a:off x="4997588" y="5126561"/>
            <a:ext cx="2368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 err="1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Violations</a:t>
            </a:r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 of GDPR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D07126B-9BB1-3E44-C045-BE2FBAC3CE9A}"/>
              </a:ext>
            </a:extLst>
          </p:cNvPr>
          <p:cNvSpPr txBox="1"/>
          <p:nvPr/>
        </p:nvSpPr>
        <p:spPr>
          <a:xfrm>
            <a:off x="9570257" y="2964018"/>
            <a:ext cx="1239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Alexa &amp; Privacy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1D4F5AC4-5081-7B0E-5BD5-5F6A824D148A}"/>
              </a:ext>
            </a:extLst>
          </p:cNvPr>
          <p:cNvSpPr txBox="1"/>
          <p:nvPr/>
        </p:nvSpPr>
        <p:spPr>
          <a:xfrm>
            <a:off x="9449709" y="5100111"/>
            <a:ext cx="1480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 err="1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Possible</a:t>
            </a:r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 Solutions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37A9122-DBC9-E6F7-26BD-E0FF983BBBCF}"/>
              </a:ext>
            </a:extLst>
          </p:cNvPr>
          <p:cNvSpPr txBox="1"/>
          <p:nvPr/>
        </p:nvSpPr>
        <p:spPr>
          <a:xfrm>
            <a:off x="3819102" y="267046"/>
            <a:ext cx="455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Table</a:t>
            </a:r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 of </a:t>
            </a:r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Contents</a:t>
            </a:r>
            <a:endParaRPr lang="it-IT" sz="4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CC1D85A5-07A4-B7A0-3366-261087B46798}"/>
              </a:ext>
            </a:extLst>
          </p:cNvPr>
          <p:cNvGrpSpPr/>
          <p:nvPr/>
        </p:nvGrpSpPr>
        <p:grpSpPr>
          <a:xfrm>
            <a:off x="5601105" y="1872103"/>
            <a:ext cx="989788" cy="1086456"/>
            <a:chOff x="5601105" y="1872103"/>
            <a:chExt cx="989788" cy="108645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4E940A52-3718-317F-5F78-7999BAF19B40}"/>
                </a:ext>
              </a:extLst>
            </p:cNvPr>
            <p:cNvSpPr/>
            <p:nvPr/>
          </p:nvSpPr>
          <p:spPr>
            <a:xfrm>
              <a:off x="5601105" y="1872103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7" name="Immagine 6" descr="Immagine che contiene logo, simbolo, Carattere, Elementi grafici&#10;&#10;Descrizione generata automaticamente">
              <a:extLst>
                <a:ext uri="{FF2B5EF4-FFF2-40B4-BE49-F238E27FC236}">
                  <a16:creationId xmlns:a16="http://schemas.microsoft.com/office/drawing/2014/main" id="{A6D20C96-9FF8-9773-2554-0243D1DDC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943" y="2095276"/>
              <a:ext cx="640110" cy="640110"/>
            </a:xfrm>
            <a:prstGeom prst="rect">
              <a:avLst/>
            </a:prstGeom>
          </p:spPr>
        </p:pic>
      </p:grpSp>
      <p:sp>
        <p:nvSpPr>
          <p:cNvPr id="14" name="Freeform 5">
            <a:extLst>
              <a:ext uri="{FF2B5EF4-FFF2-40B4-BE49-F238E27FC236}">
                <a16:creationId xmlns:a16="http://schemas.microsoft.com/office/drawing/2014/main" id="{4B794181-D643-C43A-E24D-A5593B38716F}"/>
              </a:ext>
            </a:extLst>
          </p:cNvPr>
          <p:cNvSpPr/>
          <p:nvPr/>
        </p:nvSpPr>
        <p:spPr>
          <a:xfrm>
            <a:off x="9704038" y="1872103"/>
            <a:ext cx="989788" cy="1086456"/>
          </a:xfrm>
          <a:custGeom>
            <a:avLst/>
            <a:gdLst>
              <a:gd name="connsiteX0" fmla="*/ 1612423 w 1612281"/>
              <a:gd name="connsiteY0" fmla="*/ 1198981 h 1769747"/>
              <a:gd name="connsiteX1" fmla="*/ 1483129 w 1612281"/>
              <a:gd name="connsiteY1" fmla="*/ 1423165 h 1769747"/>
              <a:gd name="connsiteX2" fmla="*/ 936966 w 1612281"/>
              <a:gd name="connsiteY2" fmla="*/ 1738895 h 1769747"/>
              <a:gd name="connsiteX3" fmla="*/ 677807 w 1612281"/>
              <a:gd name="connsiteY3" fmla="*/ 1739218 h 1769747"/>
              <a:gd name="connsiteX4" fmla="*/ 130825 w 1612281"/>
              <a:gd name="connsiteY4" fmla="*/ 1424906 h 1769747"/>
              <a:gd name="connsiteX5" fmla="*/ 951 w 1612281"/>
              <a:gd name="connsiteY5" fmla="*/ 1201017 h 1769747"/>
              <a:gd name="connsiteX6" fmla="*/ 142 w 1612281"/>
              <a:gd name="connsiteY6" fmla="*/ 571003 h 1769747"/>
              <a:gd name="connsiteX7" fmla="*/ 129426 w 1612281"/>
              <a:gd name="connsiteY7" fmla="*/ 346791 h 1769747"/>
              <a:gd name="connsiteX8" fmla="*/ 675637 w 1612281"/>
              <a:gd name="connsiteY8" fmla="*/ 31089 h 1769747"/>
              <a:gd name="connsiteX9" fmla="*/ 934795 w 1612281"/>
              <a:gd name="connsiteY9" fmla="*/ 30756 h 1769747"/>
              <a:gd name="connsiteX10" fmla="*/ 1481777 w 1612281"/>
              <a:gd name="connsiteY10" fmla="*/ 345078 h 1769747"/>
              <a:gd name="connsiteX11" fmla="*/ 1611642 w 1612281"/>
              <a:gd name="connsiteY11" fmla="*/ 568920 h 176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12281" h="1769747">
                <a:moveTo>
                  <a:pt x="1612423" y="1198981"/>
                </a:moveTo>
                <a:cubicBezTo>
                  <a:pt x="1612527" y="1281127"/>
                  <a:pt x="1554350" y="1382025"/>
                  <a:pt x="1483129" y="1423165"/>
                </a:cubicBezTo>
                <a:lnTo>
                  <a:pt x="936966" y="1738895"/>
                </a:lnTo>
                <a:cubicBezTo>
                  <a:pt x="865736" y="1780063"/>
                  <a:pt x="749132" y="1780187"/>
                  <a:pt x="677807" y="1739218"/>
                </a:cubicBezTo>
                <a:lnTo>
                  <a:pt x="130825" y="1424906"/>
                </a:lnTo>
                <a:cubicBezTo>
                  <a:pt x="59500" y="1383909"/>
                  <a:pt x="1056" y="1283144"/>
                  <a:pt x="951" y="1201017"/>
                </a:cubicBezTo>
                <a:lnTo>
                  <a:pt x="142" y="571003"/>
                </a:lnTo>
                <a:cubicBezTo>
                  <a:pt x="46" y="488838"/>
                  <a:pt x="58215" y="387968"/>
                  <a:pt x="129426" y="346791"/>
                </a:cubicBezTo>
                <a:lnTo>
                  <a:pt x="675637" y="31089"/>
                </a:lnTo>
                <a:cubicBezTo>
                  <a:pt x="746857" y="-10088"/>
                  <a:pt x="863470" y="-10231"/>
                  <a:pt x="934795" y="30756"/>
                </a:cubicBezTo>
                <a:lnTo>
                  <a:pt x="1481777" y="345078"/>
                </a:lnTo>
                <a:cubicBezTo>
                  <a:pt x="1553102" y="386046"/>
                  <a:pt x="1611547" y="486793"/>
                  <a:pt x="1611642" y="568920"/>
                </a:cubicBezTo>
                <a:close/>
              </a:path>
            </a:pathLst>
          </a:custGeom>
          <a:solidFill>
            <a:srgbClr val="222E3E"/>
          </a:solidFill>
          <a:ln w="9511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IT"/>
          </a:p>
        </p:txBody>
      </p:sp>
      <p:pic>
        <p:nvPicPr>
          <p:cNvPr id="10" name="Immagine 9" descr="Immagine che contiene simbolo, logo, Carattere, Elementi grafici&#10;&#10;Descrizione generata automaticamente">
            <a:extLst>
              <a:ext uri="{FF2B5EF4-FFF2-40B4-BE49-F238E27FC236}">
                <a16:creationId xmlns:a16="http://schemas.microsoft.com/office/drawing/2014/main" id="{838A6D04-B477-7861-C856-163D069E2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876" y="2092351"/>
            <a:ext cx="640111" cy="640111"/>
          </a:xfrm>
          <a:prstGeom prst="rect">
            <a:avLst/>
          </a:prstGeom>
        </p:spPr>
      </p:pic>
      <p:grpSp>
        <p:nvGrpSpPr>
          <p:cNvPr id="31" name="Gruppo 30">
            <a:extLst>
              <a:ext uri="{FF2B5EF4-FFF2-40B4-BE49-F238E27FC236}">
                <a16:creationId xmlns:a16="http://schemas.microsoft.com/office/drawing/2014/main" id="{7E610907-EA13-8489-0E47-34CAEA020610}"/>
              </a:ext>
            </a:extLst>
          </p:cNvPr>
          <p:cNvGrpSpPr/>
          <p:nvPr/>
        </p:nvGrpSpPr>
        <p:grpSpPr>
          <a:xfrm>
            <a:off x="9704038" y="4040105"/>
            <a:ext cx="989788" cy="1086456"/>
            <a:chOff x="9704038" y="4040105"/>
            <a:chExt cx="989788" cy="108645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E85D2035-9278-423D-E4A3-F7FC7E331453}"/>
                </a:ext>
              </a:extLst>
            </p:cNvPr>
            <p:cNvSpPr/>
            <p:nvPr/>
          </p:nvSpPr>
          <p:spPr>
            <a:xfrm>
              <a:off x="9704038" y="4040105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28" name="Immagine 27" descr="Immagine che contiene Elementi grafici, Carattere, simbolo, logo&#10;&#10;Descrizione generata automaticamente">
              <a:extLst>
                <a:ext uri="{FF2B5EF4-FFF2-40B4-BE49-F238E27FC236}">
                  <a16:creationId xmlns:a16="http://schemas.microsoft.com/office/drawing/2014/main" id="{885A62B1-AA7B-4D4A-EFF2-37CA4F47E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9891" y="4190551"/>
              <a:ext cx="640111" cy="640111"/>
            </a:xfrm>
            <a:prstGeom prst="rect">
              <a:avLst/>
            </a:prstGeom>
          </p:spPr>
        </p:pic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1D77F8E8-291C-EDA7-1473-F4FBB1BF5C66}"/>
              </a:ext>
            </a:extLst>
          </p:cNvPr>
          <p:cNvGrpSpPr/>
          <p:nvPr/>
        </p:nvGrpSpPr>
        <p:grpSpPr>
          <a:xfrm>
            <a:off x="1608116" y="1872103"/>
            <a:ext cx="989788" cy="1086456"/>
            <a:chOff x="1608116" y="1872103"/>
            <a:chExt cx="989788" cy="108645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6BFDEC2A-1A38-1E91-881C-0C87B4A3EE5F}"/>
                </a:ext>
              </a:extLst>
            </p:cNvPr>
            <p:cNvSpPr/>
            <p:nvPr/>
          </p:nvSpPr>
          <p:spPr>
            <a:xfrm>
              <a:off x="1608116" y="1872103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>
                <a:solidFill>
                  <a:schemeClr val="bg1"/>
                </a:solidFill>
              </a:endParaRPr>
            </a:p>
          </p:txBody>
        </p:sp>
        <p:pic>
          <p:nvPicPr>
            <p:cNvPr id="8" name="Immagine 7" descr="Immagine che contiene simbolo, schermata, Carattere, logo&#10;&#10;Descrizione generata automaticamente">
              <a:extLst>
                <a:ext uri="{FF2B5EF4-FFF2-40B4-BE49-F238E27FC236}">
                  <a16:creationId xmlns:a16="http://schemas.microsoft.com/office/drawing/2014/main" id="{71F876E8-D63E-B5D2-5721-883EF3181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2095276"/>
              <a:ext cx="640111" cy="640111"/>
            </a:xfrm>
            <a:prstGeom prst="rect">
              <a:avLst/>
            </a:prstGeom>
          </p:spPr>
        </p:pic>
      </p:grp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E199EC8-6D2F-4648-83DB-541250E8A99C}"/>
              </a:ext>
            </a:extLst>
          </p:cNvPr>
          <p:cNvSpPr txBox="1"/>
          <p:nvPr/>
        </p:nvSpPr>
        <p:spPr>
          <a:xfrm>
            <a:off x="1104966" y="2959471"/>
            <a:ext cx="19551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How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VVAs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work</a:t>
            </a:r>
          </a:p>
        </p:txBody>
      </p: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FE15EFCD-D790-A135-04C6-558E4B2EE372}"/>
              </a:ext>
            </a:extLst>
          </p:cNvPr>
          <p:cNvGrpSpPr/>
          <p:nvPr/>
        </p:nvGrpSpPr>
        <p:grpSpPr>
          <a:xfrm>
            <a:off x="1608114" y="4040561"/>
            <a:ext cx="989788" cy="1086456"/>
            <a:chOff x="1608114" y="4040561"/>
            <a:chExt cx="989788" cy="1086456"/>
          </a:xfrm>
        </p:grpSpPr>
        <p:sp>
          <p:nvSpPr>
            <p:cNvPr id="2" name="Freeform 5">
              <a:extLst>
                <a:ext uri="{FF2B5EF4-FFF2-40B4-BE49-F238E27FC236}">
                  <a16:creationId xmlns:a16="http://schemas.microsoft.com/office/drawing/2014/main" id="{017B18DE-A396-89FA-6CB5-F09FF29C0C78}"/>
                </a:ext>
              </a:extLst>
            </p:cNvPr>
            <p:cNvSpPr/>
            <p:nvPr/>
          </p:nvSpPr>
          <p:spPr>
            <a:xfrm>
              <a:off x="1608114" y="4040561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12" name="Immagine 11" descr="Immagine che contiene Carattere, simbolo, Elementi grafici, design&#10;&#10;Descrizione generata automaticamente">
              <a:extLst>
                <a:ext uri="{FF2B5EF4-FFF2-40B4-BE49-F238E27FC236}">
                  <a16:creationId xmlns:a16="http://schemas.microsoft.com/office/drawing/2014/main" id="{4F9DFE00-FAC0-0DA6-2E1C-70A6D0317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4261506"/>
              <a:ext cx="640111" cy="640111"/>
            </a:xfrm>
            <a:prstGeom prst="rect">
              <a:avLst/>
            </a:prstGeom>
          </p:spPr>
        </p:pic>
      </p:grp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915C9793-8684-92AB-BB7D-77C84D6B35A1}"/>
              </a:ext>
            </a:extLst>
          </p:cNvPr>
          <p:cNvGrpSpPr/>
          <p:nvPr/>
        </p:nvGrpSpPr>
        <p:grpSpPr>
          <a:xfrm>
            <a:off x="5601105" y="4040105"/>
            <a:ext cx="989788" cy="1086456"/>
            <a:chOff x="5601105" y="4040105"/>
            <a:chExt cx="989788" cy="1086456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488CC35A-43D8-B141-980D-F09713659B42}"/>
                </a:ext>
              </a:extLst>
            </p:cNvPr>
            <p:cNvSpPr/>
            <p:nvPr/>
          </p:nvSpPr>
          <p:spPr>
            <a:xfrm>
              <a:off x="5601105" y="4040105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32" name="Immagine 31" descr="Immagine che contiene Carattere, Elementi grafici, simbolo, logo&#10;&#10;Descrizione generata automaticamente">
              <a:extLst>
                <a:ext uri="{FF2B5EF4-FFF2-40B4-BE49-F238E27FC236}">
                  <a16:creationId xmlns:a16="http://schemas.microsoft.com/office/drawing/2014/main" id="{D71C9C73-F96C-F346-DA22-AB93A97BE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3396" y="4261505"/>
              <a:ext cx="640111" cy="640111"/>
            </a:xfrm>
            <a:prstGeom prst="rect">
              <a:avLst/>
            </a:prstGeom>
          </p:spPr>
        </p:pic>
      </p:grp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03A2BB81-CCA7-1C02-FE61-96BCE9758773}"/>
              </a:ext>
            </a:extLst>
          </p:cNvPr>
          <p:cNvSpPr txBox="1"/>
          <p:nvPr/>
        </p:nvSpPr>
        <p:spPr>
          <a:xfrm>
            <a:off x="4997588" y="2954043"/>
            <a:ext cx="21303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Personal Data &amp; GDPR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9370AAB1-7534-6929-7C4A-71117122BAEE}"/>
              </a:ext>
            </a:extLst>
          </p:cNvPr>
          <p:cNvSpPr txBox="1"/>
          <p:nvPr/>
        </p:nvSpPr>
        <p:spPr>
          <a:xfrm>
            <a:off x="4718761" y="6964083"/>
            <a:ext cx="27539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solidFill>
                  <a:schemeClr val="bg1"/>
                </a:solidFill>
              </a:rPr>
              <a:t>CASE STUDY</a:t>
            </a:r>
          </a:p>
        </p:txBody>
      </p:sp>
      <p:pic>
        <p:nvPicPr>
          <p:cNvPr id="36" name="Immagine 35" descr="Immagine che contiene Carattere, Elementi grafici, logo, grafica&#10;&#10;Descrizione generata automaticamente">
            <a:extLst>
              <a:ext uri="{FF2B5EF4-FFF2-40B4-BE49-F238E27FC236}">
                <a16:creationId xmlns:a16="http://schemas.microsoft.com/office/drawing/2014/main" id="{ACACCA4B-C8C1-9C48-EBCC-8E0B0BFF35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18" y="8444178"/>
            <a:ext cx="5165164" cy="187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183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20">
            <a:extLst>
              <a:ext uri="{FF2B5EF4-FFF2-40B4-BE49-F238E27FC236}">
                <a16:creationId xmlns:a16="http://schemas.microsoft.com/office/drawing/2014/main" id="{5B5A3326-4974-3583-F592-35FE0DE5A0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0E1DCEB5-F40C-58F0-F5A1-AD06C90FCA19}"/>
              </a:ext>
            </a:extLst>
          </p:cNvPr>
          <p:cNvSpPr/>
          <p:nvPr/>
        </p:nvSpPr>
        <p:spPr>
          <a:xfrm>
            <a:off x="5601105" y="623957"/>
            <a:ext cx="989788" cy="1086456"/>
          </a:xfrm>
          <a:custGeom>
            <a:avLst/>
            <a:gdLst>
              <a:gd name="connsiteX0" fmla="*/ 1612423 w 1612281"/>
              <a:gd name="connsiteY0" fmla="*/ 1198981 h 1769747"/>
              <a:gd name="connsiteX1" fmla="*/ 1483129 w 1612281"/>
              <a:gd name="connsiteY1" fmla="*/ 1423165 h 1769747"/>
              <a:gd name="connsiteX2" fmla="*/ 936966 w 1612281"/>
              <a:gd name="connsiteY2" fmla="*/ 1738895 h 1769747"/>
              <a:gd name="connsiteX3" fmla="*/ 677807 w 1612281"/>
              <a:gd name="connsiteY3" fmla="*/ 1739218 h 1769747"/>
              <a:gd name="connsiteX4" fmla="*/ 130825 w 1612281"/>
              <a:gd name="connsiteY4" fmla="*/ 1424906 h 1769747"/>
              <a:gd name="connsiteX5" fmla="*/ 951 w 1612281"/>
              <a:gd name="connsiteY5" fmla="*/ 1201017 h 1769747"/>
              <a:gd name="connsiteX6" fmla="*/ 142 w 1612281"/>
              <a:gd name="connsiteY6" fmla="*/ 571003 h 1769747"/>
              <a:gd name="connsiteX7" fmla="*/ 129426 w 1612281"/>
              <a:gd name="connsiteY7" fmla="*/ 346791 h 1769747"/>
              <a:gd name="connsiteX8" fmla="*/ 675637 w 1612281"/>
              <a:gd name="connsiteY8" fmla="*/ 31089 h 1769747"/>
              <a:gd name="connsiteX9" fmla="*/ 934795 w 1612281"/>
              <a:gd name="connsiteY9" fmla="*/ 30756 h 1769747"/>
              <a:gd name="connsiteX10" fmla="*/ 1481777 w 1612281"/>
              <a:gd name="connsiteY10" fmla="*/ 345078 h 1769747"/>
              <a:gd name="connsiteX11" fmla="*/ 1611642 w 1612281"/>
              <a:gd name="connsiteY11" fmla="*/ 568920 h 176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12281" h="1769747">
                <a:moveTo>
                  <a:pt x="1612423" y="1198981"/>
                </a:moveTo>
                <a:cubicBezTo>
                  <a:pt x="1612527" y="1281127"/>
                  <a:pt x="1554350" y="1382025"/>
                  <a:pt x="1483129" y="1423165"/>
                </a:cubicBezTo>
                <a:lnTo>
                  <a:pt x="936966" y="1738895"/>
                </a:lnTo>
                <a:cubicBezTo>
                  <a:pt x="865736" y="1780063"/>
                  <a:pt x="749132" y="1780187"/>
                  <a:pt x="677807" y="1739218"/>
                </a:cubicBezTo>
                <a:lnTo>
                  <a:pt x="130825" y="1424906"/>
                </a:lnTo>
                <a:cubicBezTo>
                  <a:pt x="59500" y="1383909"/>
                  <a:pt x="1056" y="1283144"/>
                  <a:pt x="951" y="1201017"/>
                </a:cubicBezTo>
                <a:lnTo>
                  <a:pt x="142" y="571003"/>
                </a:lnTo>
                <a:cubicBezTo>
                  <a:pt x="46" y="488838"/>
                  <a:pt x="58215" y="387968"/>
                  <a:pt x="129426" y="346791"/>
                </a:cubicBezTo>
                <a:lnTo>
                  <a:pt x="675637" y="31089"/>
                </a:lnTo>
                <a:cubicBezTo>
                  <a:pt x="746857" y="-10088"/>
                  <a:pt x="863470" y="-10231"/>
                  <a:pt x="934795" y="30756"/>
                </a:cubicBezTo>
                <a:lnTo>
                  <a:pt x="1481777" y="345078"/>
                </a:lnTo>
                <a:cubicBezTo>
                  <a:pt x="1553102" y="386046"/>
                  <a:pt x="1611547" y="486793"/>
                  <a:pt x="1611642" y="568920"/>
                </a:cubicBezTo>
                <a:close/>
              </a:path>
            </a:pathLst>
          </a:custGeom>
          <a:solidFill>
            <a:schemeClr val="bg1"/>
          </a:solidFill>
          <a:ln w="9511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CB698B4-4946-0EDD-DC33-20DC0B8127D4}"/>
              </a:ext>
            </a:extLst>
          </p:cNvPr>
          <p:cNvSpPr txBox="1"/>
          <p:nvPr/>
        </p:nvSpPr>
        <p:spPr>
          <a:xfrm>
            <a:off x="4718761" y="2862728"/>
            <a:ext cx="27539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solidFill>
                  <a:schemeClr val="bg1"/>
                </a:solidFill>
              </a:rPr>
              <a:t>CASE STUDY</a:t>
            </a:r>
          </a:p>
        </p:txBody>
      </p:sp>
      <p:pic>
        <p:nvPicPr>
          <p:cNvPr id="6" name="Immagine 5" descr="Immagine che contiene Carattere, Elementi grafici, logo, grafica&#10;&#10;Descrizione generata automaticamente">
            <a:extLst>
              <a:ext uri="{FF2B5EF4-FFF2-40B4-BE49-F238E27FC236}">
                <a16:creationId xmlns:a16="http://schemas.microsoft.com/office/drawing/2014/main" id="{7BFDCA18-6875-8CF6-28FF-CDD3A7C38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18" y="4020095"/>
            <a:ext cx="5165164" cy="1876407"/>
          </a:xfrm>
          <a:prstGeom prst="rect">
            <a:avLst/>
          </a:prstGeom>
        </p:spPr>
      </p:pic>
      <p:pic>
        <p:nvPicPr>
          <p:cNvPr id="9" name="Immagine 8" descr="Immagine che contiene simbolo, logo, Carattere, Elementi grafici&#10;&#10;Descrizione generata automaticamente">
            <a:extLst>
              <a:ext uri="{FF2B5EF4-FFF2-40B4-BE49-F238E27FC236}">
                <a16:creationId xmlns:a16="http://schemas.microsoft.com/office/drawing/2014/main" id="{1E8D398E-3B66-C2E7-1399-D67BC166226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690" y="836257"/>
            <a:ext cx="640111" cy="640111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75DD1F3-491D-376D-1CBD-2E8CA130ED58}"/>
              </a:ext>
            </a:extLst>
          </p:cNvPr>
          <p:cNvSpPr txBox="1"/>
          <p:nvPr/>
        </p:nvSpPr>
        <p:spPr>
          <a:xfrm>
            <a:off x="5476057" y="1710413"/>
            <a:ext cx="1239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Alexa &amp; Privacy</a:t>
            </a:r>
          </a:p>
        </p:txBody>
      </p:sp>
    </p:spTree>
    <p:extLst>
      <p:ext uri="{BB962C8B-B14F-4D97-AF65-F5344CB8AC3E}">
        <p14:creationId xmlns:p14="http://schemas.microsoft.com/office/powerpoint/2010/main" val="3967930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20">
            <a:extLst>
              <a:ext uri="{FF2B5EF4-FFF2-40B4-BE49-F238E27FC236}">
                <a16:creationId xmlns:a16="http://schemas.microsoft.com/office/drawing/2014/main" id="{5B5A3326-4974-3583-F592-35FE0DE5A0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222E3E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5D14FC5-C86C-F8D9-5271-235EDDD4960E}"/>
              </a:ext>
            </a:extLst>
          </p:cNvPr>
          <p:cNvSpPr txBox="1"/>
          <p:nvPr/>
        </p:nvSpPr>
        <p:spPr>
          <a:xfrm>
            <a:off x="1298908" y="400813"/>
            <a:ext cx="1112714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4000" b="1" dirty="0" err="1">
                <a:solidFill>
                  <a:schemeClr val="bg1"/>
                </a:solidFill>
                <a:latin typeface="Neo Sans Std"/>
              </a:rPr>
              <a:t>is</a:t>
            </a:r>
            <a:r>
              <a:rPr lang="it-IT" sz="4000" b="1" dirty="0">
                <a:solidFill>
                  <a:schemeClr val="bg1"/>
                </a:solidFill>
                <a:latin typeface="Neo Sans Std"/>
              </a:rPr>
              <a:t> GDPR </a:t>
            </a:r>
            <a:r>
              <a:rPr lang="it-IT" sz="4000" b="1" dirty="0" err="1">
                <a:solidFill>
                  <a:schemeClr val="bg1"/>
                </a:solidFill>
                <a:latin typeface="Neo Sans Std"/>
              </a:rPr>
              <a:t>compliant</a:t>
            </a:r>
            <a:r>
              <a:rPr lang="it-IT" sz="4000" b="1" dirty="0">
                <a:solidFill>
                  <a:schemeClr val="bg1"/>
                </a:solidFill>
                <a:latin typeface="Neo Sans Std"/>
              </a:rPr>
              <a:t>?</a:t>
            </a:r>
          </a:p>
        </p:txBody>
      </p:sp>
      <p:pic>
        <p:nvPicPr>
          <p:cNvPr id="5" name="Immagine 4" descr="Immagine che contiene simbolo, Carattere, testo, Elementi grafici&#10;&#10;Descrizione generata automaticamente">
            <a:extLst>
              <a:ext uri="{FF2B5EF4-FFF2-40B4-BE49-F238E27FC236}">
                <a16:creationId xmlns:a16="http://schemas.microsoft.com/office/drawing/2014/main" id="{488EE0EB-F85B-65C1-E45E-9B51F2EFA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00" y="2868354"/>
            <a:ext cx="913001" cy="913001"/>
          </a:xfrm>
          <a:prstGeom prst="rect">
            <a:avLst/>
          </a:prstGeom>
        </p:spPr>
      </p:pic>
      <p:pic>
        <p:nvPicPr>
          <p:cNvPr id="7" name="Immagine 6" descr="Immagine che contiene bianco, design&#10;&#10;Descrizione generata automaticamente">
            <a:extLst>
              <a:ext uri="{FF2B5EF4-FFF2-40B4-BE49-F238E27FC236}">
                <a16:creationId xmlns:a16="http://schemas.microsoft.com/office/drawing/2014/main" id="{CC522E0D-408C-C32E-72E3-F60AE9E86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597" y="5041626"/>
            <a:ext cx="927713" cy="927713"/>
          </a:xfrm>
          <a:prstGeom prst="rect">
            <a:avLst/>
          </a:prstGeom>
        </p:spPr>
      </p:pic>
      <p:pic>
        <p:nvPicPr>
          <p:cNvPr id="9" name="Immagine 8" descr="Immagine che contiene logo, simbolo, Elementi grafici, Carattere&#10;&#10;Descrizione generata automaticamente">
            <a:extLst>
              <a:ext uri="{FF2B5EF4-FFF2-40B4-BE49-F238E27FC236}">
                <a16:creationId xmlns:a16="http://schemas.microsoft.com/office/drawing/2014/main" id="{A4D6F9FF-F2A0-E6EF-BFCA-8E989664A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00" y="3924451"/>
            <a:ext cx="871210" cy="87121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D088A4C-2AA5-FC60-45ED-A5A2C917FC01}"/>
              </a:ext>
            </a:extLst>
          </p:cNvPr>
          <p:cNvSpPr txBox="1"/>
          <p:nvPr/>
        </p:nvSpPr>
        <p:spPr>
          <a:xfrm>
            <a:off x="3727880" y="4098446"/>
            <a:ext cx="336140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Neo Sans Std"/>
              </a:rPr>
              <a:t>Alexa Application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9C791EB-7A2E-802A-1297-21462265CB7D}"/>
              </a:ext>
            </a:extLst>
          </p:cNvPr>
          <p:cNvSpPr txBox="1"/>
          <p:nvPr/>
        </p:nvSpPr>
        <p:spPr>
          <a:xfrm>
            <a:off x="7289803" y="3429000"/>
            <a:ext cx="4474096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400" dirty="0">
                <a:solidFill>
                  <a:schemeClr val="bg1"/>
                </a:solidFill>
                <a:latin typeface="Neo Sans Std"/>
              </a:rPr>
              <a:t>Amazon </a:t>
            </a:r>
            <a:r>
              <a:rPr lang="it-IT" sz="2400" dirty="0" err="1">
                <a:solidFill>
                  <a:schemeClr val="bg1"/>
                </a:solidFill>
                <a:latin typeface="Neo Sans Std"/>
              </a:rPr>
              <a:t>Profile</a:t>
            </a:r>
            <a:r>
              <a:rPr lang="it-IT" sz="2400" dirty="0">
                <a:solidFill>
                  <a:schemeClr val="bg1"/>
                </a:solidFill>
                <a:latin typeface="Neo Sans Std"/>
              </a:rPr>
              <a:t> Management </a:t>
            </a:r>
            <a:r>
              <a:rPr lang="it-IT" sz="2400" dirty="0" err="1">
                <a:solidFill>
                  <a:schemeClr val="bg1"/>
                </a:solidFill>
                <a:latin typeface="Neo Sans Std"/>
              </a:rPr>
              <a:t>application</a:t>
            </a:r>
            <a:r>
              <a:rPr lang="it-IT" sz="2400" dirty="0">
                <a:solidFill>
                  <a:schemeClr val="bg1"/>
                </a:solidFill>
                <a:latin typeface="Neo Sans Std"/>
              </a:rPr>
              <a:t> with an </a:t>
            </a:r>
            <a:r>
              <a:rPr lang="it-IT" sz="2400" dirty="0" err="1">
                <a:solidFill>
                  <a:schemeClr val="bg1"/>
                </a:solidFill>
                <a:latin typeface="Neo Sans Std"/>
              </a:rPr>
              <a:t>integrated</a:t>
            </a:r>
            <a:r>
              <a:rPr lang="it-IT" sz="2400" dirty="0">
                <a:solidFill>
                  <a:schemeClr val="bg1"/>
                </a:solidFill>
                <a:latin typeface="Neo Sans Std"/>
              </a:rPr>
              <a:t> smart </a:t>
            </a:r>
            <a:r>
              <a:rPr lang="it-IT" sz="2400" dirty="0" err="1">
                <a:solidFill>
                  <a:schemeClr val="bg1"/>
                </a:solidFill>
                <a:latin typeface="Neo Sans Std"/>
              </a:rPr>
              <a:t>assistant</a:t>
            </a:r>
            <a:r>
              <a:rPr lang="it-IT" sz="2400" dirty="0">
                <a:solidFill>
                  <a:schemeClr val="bg1"/>
                </a:solidFill>
                <a:latin typeface="Neo Sans Std"/>
              </a:rPr>
              <a:t> </a:t>
            </a:r>
            <a:r>
              <a:rPr lang="it-IT" sz="2400" dirty="0" err="1">
                <a:solidFill>
                  <a:schemeClr val="bg1"/>
                </a:solidFill>
                <a:latin typeface="Neo Sans Std"/>
              </a:rPr>
              <a:t>that</a:t>
            </a:r>
            <a:r>
              <a:rPr lang="it-IT" sz="2400" dirty="0">
                <a:solidFill>
                  <a:schemeClr val="bg1"/>
                </a:solidFill>
                <a:latin typeface="Neo Sans Std"/>
              </a:rPr>
              <a:t> can </a:t>
            </a:r>
            <a:r>
              <a:rPr lang="it-IT" sz="2400" dirty="0" err="1">
                <a:solidFill>
                  <a:schemeClr val="bg1"/>
                </a:solidFill>
                <a:latin typeface="Neo Sans Std"/>
              </a:rPr>
              <a:t>manage</a:t>
            </a:r>
            <a:r>
              <a:rPr lang="it-IT" sz="2400" dirty="0">
                <a:solidFill>
                  <a:schemeClr val="bg1"/>
                </a:solidFill>
                <a:latin typeface="Neo Sans Std"/>
              </a:rPr>
              <a:t> </a:t>
            </a:r>
            <a:r>
              <a:rPr lang="it-IT" sz="2400" dirty="0" err="1">
                <a:solidFill>
                  <a:schemeClr val="bg1"/>
                </a:solidFill>
                <a:latin typeface="Neo Sans Std"/>
              </a:rPr>
              <a:t>different</a:t>
            </a:r>
            <a:r>
              <a:rPr lang="it-IT" sz="2400" dirty="0">
                <a:solidFill>
                  <a:schemeClr val="bg1"/>
                </a:solidFill>
                <a:latin typeface="Neo Sans Std"/>
              </a:rPr>
              <a:t> devices and facilitate the </a:t>
            </a:r>
            <a:r>
              <a:rPr lang="it-IT" sz="2400" dirty="0" err="1">
                <a:solidFill>
                  <a:schemeClr val="bg1"/>
                </a:solidFill>
                <a:latin typeface="Neo Sans Std"/>
              </a:rPr>
              <a:t>exercise</a:t>
            </a:r>
            <a:r>
              <a:rPr lang="it-IT" sz="2400" dirty="0">
                <a:solidFill>
                  <a:schemeClr val="bg1"/>
                </a:solidFill>
                <a:latin typeface="Neo Sans Std"/>
              </a:rPr>
              <a:t> of the </a:t>
            </a:r>
            <a:r>
              <a:rPr lang="it-IT" sz="2400" dirty="0" err="1">
                <a:solidFill>
                  <a:schemeClr val="bg1"/>
                </a:solidFill>
                <a:latin typeface="Neo Sans Std"/>
              </a:rPr>
              <a:t>previous</a:t>
            </a:r>
            <a:r>
              <a:rPr lang="it-IT" sz="2400" dirty="0">
                <a:solidFill>
                  <a:schemeClr val="bg1"/>
                </a:solidFill>
                <a:latin typeface="Neo Sans Std"/>
              </a:rPr>
              <a:t> </a:t>
            </a:r>
            <a:r>
              <a:rPr lang="it-IT" sz="2400" dirty="0" err="1">
                <a:solidFill>
                  <a:schemeClr val="bg1"/>
                </a:solidFill>
                <a:latin typeface="Neo Sans Std"/>
              </a:rPr>
              <a:t>rights</a:t>
            </a:r>
            <a:endParaRPr lang="it-IT" sz="2400" dirty="0">
              <a:solidFill>
                <a:schemeClr val="bg1"/>
              </a:solidFill>
              <a:latin typeface="Neo Sans Std"/>
            </a:endParaRPr>
          </a:p>
        </p:txBody>
      </p:sp>
      <p:pic>
        <p:nvPicPr>
          <p:cNvPr id="22" name="Immagine 21" descr="Immagine che contiene bianco, Elementi grafici, design&#10;&#10;Descrizione generata automaticamente">
            <a:extLst>
              <a:ext uri="{FF2B5EF4-FFF2-40B4-BE49-F238E27FC236}">
                <a16:creationId xmlns:a16="http://schemas.microsoft.com/office/drawing/2014/main" id="{1E031A74-7C49-457B-BA94-E0C1C4052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9587" y="1428814"/>
            <a:ext cx="871210" cy="871210"/>
          </a:xfrm>
          <a:prstGeom prst="rect">
            <a:avLst/>
          </a:prstGeom>
        </p:spPr>
      </p:pic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FB9B2333-4FBD-ACE6-FB98-88EB8D866AF3}"/>
              </a:ext>
            </a:extLst>
          </p:cNvPr>
          <p:cNvCxnSpPr>
            <a:cxnSpLocks/>
          </p:cNvCxnSpPr>
          <p:nvPr/>
        </p:nvCxnSpPr>
        <p:spPr>
          <a:xfrm>
            <a:off x="3907880" y="1875432"/>
            <a:ext cx="1451345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FC8B4129-1130-3152-F0C5-B418D9593815}"/>
              </a:ext>
            </a:extLst>
          </p:cNvPr>
          <p:cNvSpPr txBox="1"/>
          <p:nvPr/>
        </p:nvSpPr>
        <p:spPr>
          <a:xfrm>
            <a:off x="5656308" y="1398378"/>
            <a:ext cx="5487167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Neo Sans Std"/>
              </a:rPr>
              <a:t>How </a:t>
            </a:r>
            <a:r>
              <a:rPr lang="it-IT" sz="2800" b="1" dirty="0" err="1">
                <a:solidFill>
                  <a:schemeClr val="bg1"/>
                </a:solidFill>
                <a:latin typeface="Neo Sans Std"/>
              </a:rPr>
              <a:t>does</a:t>
            </a:r>
            <a:r>
              <a:rPr lang="it-IT" sz="2800" b="1" dirty="0">
                <a:solidFill>
                  <a:schemeClr val="bg1"/>
                </a:solidFill>
                <a:latin typeface="Neo Sans Std"/>
              </a:rPr>
              <a:t> Alexa reduce the </a:t>
            </a:r>
            <a:r>
              <a:rPr lang="it-IT" sz="2800" b="1" dirty="0" err="1">
                <a:solidFill>
                  <a:schemeClr val="bg1"/>
                </a:solidFill>
                <a:latin typeface="Neo Sans Std"/>
              </a:rPr>
              <a:t>amount</a:t>
            </a:r>
            <a:r>
              <a:rPr lang="it-IT" sz="2800" b="1" dirty="0">
                <a:solidFill>
                  <a:schemeClr val="bg1"/>
                </a:solidFill>
                <a:latin typeface="Neo Sans Std"/>
              </a:rPr>
              <a:t> of </a:t>
            </a:r>
            <a:r>
              <a:rPr lang="it-IT" sz="2800" b="1" dirty="0" err="1">
                <a:solidFill>
                  <a:schemeClr val="bg1"/>
                </a:solidFill>
                <a:latin typeface="Neo Sans Std"/>
              </a:rPr>
              <a:t>collected</a:t>
            </a:r>
            <a:r>
              <a:rPr lang="it-IT" sz="2800" b="1" dirty="0">
                <a:solidFill>
                  <a:schemeClr val="bg1"/>
                </a:solidFill>
                <a:latin typeface="Neo Sans Std"/>
              </a:rPr>
              <a:t> data?</a:t>
            </a:r>
          </a:p>
        </p:txBody>
      </p: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D9B21F03-4852-D88C-AC92-A7A0C212817F}"/>
              </a:ext>
            </a:extLst>
          </p:cNvPr>
          <p:cNvCxnSpPr>
            <a:cxnSpLocks/>
          </p:cNvCxnSpPr>
          <p:nvPr/>
        </p:nvCxnSpPr>
        <p:spPr>
          <a:xfrm>
            <a:off x="2508249" y="2835891"/>
            <a:ext cx="0" cy="3158509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33E2E9FC-09A7-9789-A65D-9F82467C0C61}"/>
              </a:ext>
            </a:extLst>
          </p:cNvPr>
          <p:cNvCxnSpPr>
            <a:cxnSpLocks/>
          </p:cNvCxnSpPr>
          <p:nvPr/>
        </p:nvCxnSpPr>
        <p:spPr>
          <a:xfrm>
            <a:off x="2739587" y="4360056"/>
            <a:ext cx="946151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magine 9" descr="Immagine che contiene Carattere, Elementi grafici, logo, grafica&#10;&#10;Descrizione generata automaticamente">
            <a:extLst>
              <a:ext uri="{FF2B5EF4-FFF2-40B4-BE49-F238E27FC236}">
                <a16:creationId xmlns:a16="http://schemas.microsoft.com/office/drawing/2014/main" id="{467063A8-A5DF-FE98-DBAE-51267132BA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516" y="633836"/>
            <a:ext cx="1600760" cy="58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46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20">
            <a:extLst>
              <a:ext uri="{FF2B5EF4-FFF2-40B4-BE49-F238E27FC236}">
                <a16:creationId xmlns:a16="http://schemas.microsoft.com/office/drawing/2014/main" id="{5B5A3326-4974-3583-F592-35FE0DE5A0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222E3E"/>
              </a:solidFill>
            </a:endParaRP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C6608C65-A479-0E4D-7A01-DAB45EF8C298}"/>
              </a:ext>
            </a:extLst>
          </p:cNvPr>
          <p:cNvSpPr/>
          <p:nvPr/>
        </p:nvSpPr>
        <p:spPr>
          <a:xfrm>
            <a:off x="8498874" y="1479783"/>
            <a:ext cx="3229896" cy="4155815"/>
          </a:xfrm>
          <a:prstGeom prst="rect">
            <a:avLst/>
          </a:prstGeom>
          <a:solidFill>
            <a:srgbClr val="222E3E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DFD5D78E-2C78-F87C-7C44-FFDBFA551019}"/>
              </a:ext>
            </a:extLst>
          </p:cNvPr>
          <p:cNvSpPr/>
          <p:nvPr/>
        </p:nvSpPr>
        <p:spPr>
          <a:xfrm>
            <a:off x="463230" y="1521457"/>
            <a:ext cx="3229896" cy="4155815"/>
          </a:xfrm>
          <a:prstGeom prst="rect">
            <a:avLst/>
          </a:prstGeom>
          <a:solidFill>
            <a:srgbClr val="222E3E"/>
          </a:solidFill>
          <a:ln w="5715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229896"/>
                      <a:gd name="connsiteY0" fmla="*/ 0 h 4557251"/>
                      <a:gd name="connsiteX1" fmla="*/ 3229896 w 3229896"/>
                      <a:gd name="connsiteY1" fmla="*/ 0 h 4557251"/>
                      <a:gd name="connsiteX2" fmla="*/ 3229896 w 3229896"/>
                      <a:gd name="connsiteY2" fmla="*/ 4557251 h 4557251"/>
                      <a:gd name="connsiteX3" fmla="*/ 0 w 3229896"/>
                      <a:gd name="connsiteY3" fmla="*/ 4557251 h 4557251"/>
                      <a:gd name="connsiteX4" fmla="*/ 0 w 3229896"/>
                      <a:gd name="connsiteY4" fmla="*/ 0 h 45572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29896" h="4557251" fill="none" extrusionOk="0">
                        <a:moveTo>
                          <a:pt x="0" y="0"/>
                        </a:moveTo>
                        <a:cubicBezTo>
                          <a:pt x="731253" y="-49533"/>
                          <a:pt x="2455053" y="-14809"/>
                          <a:pt x="3229896" y="0"/>
                        </a:cubicBezTo>
                        <a:cubicBezTo>
                          <a:pt x="3317535" y="624736"/>
                          <a:pt x="3157217" y="3269740"/>
                          <a:pt x="3229896" y="4557251"/>
                        </a:cubicBezTo>
                        <a:cubicBezTo>
                          <a:pt x="1798302" y="4509020"/>
                          <a:pt x="495704" y="4641706"/>
                          <a:pt x="0" y="4557251"/>
                        </a:cubicBezTo>
                        <a:cubicBezTo>
                          <a:pt x="-38581" y="2911844"/>
                          <a:pt x="63341" y="2099750"/>
                          <a:pt x="0" y="0"/>
                        </a:cubicBezTo>
                        <a:close/>
                      </a:path>
                      <a:path w="3229896" h="4557251" stroke="0" extrusionOk="0">
                        <a:moveTo>
                          <a:pt x="0" y="0"/>
                        </a:moveTo>
                        <a:cubicBezTo>
                          <a:pt x="559081" y="118645"/>
                          <a:pt x="2482581" y="116012"/>
                          <a:pt x="3229896" y="0"/>
                        </a:cubicBezTo>
                        <a:cubicBezTo>
                          <a:pt x="3097014" y="2247385"/>
                          <a:pt x="3314847" y="3950212"/>
                          <a:pt x="3229896" y="4557251"/>
                        </a:cubicBezTo>
                        <a:cubicBezTo>
                          <a:pt x="2503655" y="4691851"/>
                          <a:pt x="631871" y="4400055"/>
                          <a:pt x="0" y="4557251"/>
                        </a:cubicBezTo>
                        <a:cubicBezTo>
                          <a:pt x="-20187" y="3041927"/>
                          <a:pt x="-152480" y="11050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066EF754-E536-4793-D043-32B037F0B125}"/>
              </a:ext>
            </a:extLst>
          </p:cNvPr>
          <p:cNvSpPr txBox="1"/>
          <p:nvPr/>
        </p:nvSpPr>
        <p:spPr>
          <a:xfrm>
            <a:off x="566467" y="1693818"/>
            <a:ext cx="3023420" cy="387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Neo Sans Std"/>
              </a:rPr>
              <a:t>Login, email address, password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Neo Sans Std"/>
              </a:rPr>
              <a:t>Position, </a:t>
            </a:r>
            <a:r>
              <a:rPr lang="it-IT" sz="2000" dirty="0" err="1">
                <a:solidFill>
                  <a:schemeClr val="bg1"/>
                </a:solidFill>
                <a:latin typeface="Neo Sans Std"/>
              </a:rPr>
              <a:t>Ip</a:t>
            </a:r>
            <a:r>
              <a:rPr lang="it-IT" sz="2000" dirty="0">
                <a:solidFill>
                  <a:schemeClr val="bg1"/>
                </a:solidFill>
                <a:latin typeface="Neo Sans Std"/>
              </a:rPr>
              <a:t>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Neo Sans Std"/>
              </a:rPr>
              <a:t>Payment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Neo Sans Std"/>
              </a:rPr>
              <a:t>Pictures and </a:t>
            </a:r>
            <a:r>
              <a:rPr lang="it-IT" sz="2000" dirty="0" err="1">
                <a:solidFill>
                  <a:schemeClr val="bg1"/>
                </a:solidFill>
                <a:latin typeface="Neo Sans Std"/>
              </a:rPr>
              <a:t>videos</a:t>
            </a:r>
            <a:r>
              <a:rPr lang="it-IT" sz="2000" dirty="0">
                <a:solidFill>
                  <a:schemeClr val="bg1"/>
                </a:solidFill>
                <a:latin typeface="Neo Sans Std"/>
              </a:rPr>
              <a:t> </a:t>
            </a:r>
            <a:r>
              <a:rPr lang="it-IT" sz="2000" dirty="0" err="1">
                <a:solidFill>
                  <a:schemeClr val="bg1"/>
                </a:solidFill>
                <a:latin typeface="Neo Sans Std"/>
              </a:rPr>
              <a:t>related</a:t>
            </a:r>
            <a:r>
              <a:rPr lang="it-IT" sz="2000" dirty="0">
                <a:solidFill>
                  <a:schemeClr val="bg1"/>
                </a:solidFill>
                <a:latin typeface="Neo Sans Std"/>
              </a:rPr>
              <a:t> to Amazon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Neo Sans Std"/>
              </a:rPr>
              <a:t>Audio Recordings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Neo Sans Std"/>
              </a:rPr>
              <a:t>Information </a:t>
            </a:r>
            <a:r>
              <a:rPr lang="it-IT" sz="2000" dirty="0" err="1">
                <a:solidFill>
                  <a:schemeClr val="bg1"/>
                </a:solidFill>
                <a:latin typeface="Neo Sans Std"/>
              </a:rPr>
              <a:t>about</a:t>
            </a:r>
            <a:r>
              <a:rPr lang="it-IT" sz="2000" dirty="0">
                <a:solidFill>
                  <a:schemeClr val="bg1"/>
                </a:solidFill>
                <a:latin typeface="Neo Sans Std"/>
              </a:rPr>
              <a:t> Smart House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 err="1">
                <a:solidFill>
                  <a:schemeClr val="bg1"/>
                </a:solidFill>
                <a:latin typeface="Neo Sans Std"/>
              </a:rPr>
              <a:t>Contacts</a:t>
            </a:r>
            <a:r>
              <a:rPr lang="it-IT" sz="2000" dirty="0">
                <a:solidFill>
                  <a:schemeClr val="bg1"/>
                </a:solidFill>
                <a:latin typeface="Neo Sans Std"/>
              </a:rPr>
              <a:t>, in case </a:t>
            </a:r>
            <a:r>
              <a:rPr lang="it-IT" sz="2000" dirty="0" err="1">
                <a:solidFill>
                  <a:schemeClr val="bg1"/>
                </a:solidFill>
                <a:latin typeface="Neo Sans Std"/>
              </a:rPr>
              <a:t>you</a:t>
            </a:r>
            <a:r>
              <a:rPr lang="it-IT" sz="2000" dirty="0">
                <a:solidFill>
                  <a:schemeClr val="bg1"/>
                </a:solidFill>
                <a:latin typeface="Neo Sans Std"/>
              </a:rPr>
              <a:t> use </a:t>
            </a:r>
            <a:r>
              <a:rPr lang="it-IT" sz="2000" dirty="0" err="1">
                <a:solidFill>
                  <a:schemeClr val="bg1"/>
                </a:solidFill>
                <a:latin typeface="Neo Sans Std"/>
              </a:rPr>
              <a:t>Alexa’s</a:t>
            </a:r>
            <a:r>
              <a:rPr lang="it-IT" sz="2000" dirty="0">
                <a:solidFill>
                  <a:schemeClr val="bg1"/>
                </a:solidFill>
                <a:latin typeface="Neo Sans Std"/>
              </a:rPr>
              <a:t> Call and Message service 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7B2254AA-A065-3FE1-ED90-6B474ED4124D}"/>
              </a:ext>
            </a:extLst>
          </p:cNvPr>
          <p:cNvSpPr txBox="1"/>
          <p:nvPr/>
        </p:nvSpPr>
        <p:spPr>
          <a:xfrm>
            <a:off x="8602112" y="1818752"/>
            <a:ext cx="30234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000" dirty="0" err="1">
                <a:solidFill>
                  <a:schemeClr val="bg1"/>
                </a:solidFill>
                <a:latin typeface="Neo Sans Std"/>
              </a:rPr>
              <a:t>Answer</a:t>
            </a:r>
            <a:r>
              <a:rPr lang="it-IT" sz="2000" dirty="0">
                <a:solidFill>
                  <a:schemeClr val="bg1"/>
                </a:solidFill>
                <a:latin typeface="Neo Sans Std"/>
              </a:rPr>
              <a:t> to users’ </a:t>
            </a:r>
            <a:r>
              <a:rPr lang="it-IT" sz="2000" dirty="0" err="1">
                <a:solidFill>
                  <a:schemeClr val="bg1"/>
                </a:solidFill>
                <a:latin typeface="Neo Sans Std"/>
              </a:rPr>
              <a:t>requests</a:t>
            </a:r>
            <a:endParaRPr lang="it-IT" sz="2000" dirty="0">
              <a:solidFill>
                <a:schemeClr val="bg1"/>
              </a:solidFill>
              <a:latin typeface="Neo Sans Std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Neo Sans Std"/>
              </a:rPr>
              <a:t>Improving the Alexa service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Neo Sans Std"/>
              </a:rPr>
              <a:t>Voice ID creation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Neo Sans Std"/>
              </a:rPr>
              <a:t>Suggestions and personalization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Neo Sans Std"/>
              </a:rPr>
              <a:t>Advertising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Neo Sans Std"/>
              </a:rPr>
              <a:t>Activities carried out by other companies on behalf of Amazon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BBC2B0EF-07E4-335A-EDC6-4F6CA80A9242}"/>
              </a:ext>
            </a:extLst>
          </p:cNvPr>
          <p:cNvSpPr txBox="1"/>
          <p:nvPr/>
        </p:nvSpPr>
        <p:spPr>
          <a:xfrm>
            <a:off x="547882" y="956563"/>
            <a:ext cx="3060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>
                <a:solidFill>
                  <a:schemeClr val="bg1"/>
                </a:solidFill>
                <a:latin typeface="Neo Sans Std" panose="020B0504030504040204"/>
              </a:rPr>
              <a:t>Example</a:t>
            </a:r>
            <a:r>
              <a:rPr lang="it-IT" sz="2800" dirty="0">
                <a:solidFill>
                  <a:schemeClr val="bg1"/>
                </a:solidFill>
                <a:latin typeface="Neo Sans Std" panose="020B0504030504040204"/>
              </a:rPr>
              <a:t> of Data 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E166B6A2-FB81-F1F0-58FA-DFDB518401AE}"/>
              </a:ext>
            </a:extLst>
          </p:cNvPr>
          <p:cNvSpPr txBox="1"/>
          <p:nvPr/>
        </p:nvSpPr>
        <p:spPr>
          <a:xfrm>
            <a:off x="8771111" y="954971"/>
            <a:ext cx="2685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>
                <a:solidFill>
                  <a:schemeClr val="bg1"/>
                </a:solidFill>
                <a:latin typeface="Neo Sans Std" panose="020B0504030504040204"/>
              </a:rPr>
              <a:t>Purposes</a:t>
            </a:r>
            <a:endParaRPr lang="it-IT" sz="2800" dirty="0">
              <a:solidFill>
                <a:schemeClr val="bg1"/>
              </a:solidFill>
              <a:latin typeface="Neo Sans Std" panose="020B0504030504040204"/>
            </a:endParaRPr>
          </a:p>
        </p:txBody>
      </p:sp>
      <p:pic>
        <p:nvPicPr>
          <p:cNvPr id="40" name="Immagine 39" descr="Immagine che contiene primavera, molla elicoidale, natura&#10;&#10;Descrizione generata automaticamente">
            <a:extLst>
              <a:ext uri="{FF2B5EF4-FFF2-40B4-BE49-F238E27FC236}">
                <a16:creationId xmlns:a16="http://schemas.microsoft.com/office/drawing/2014/main" id="{11FA5C43-8C4F-D08D-CF39-4A1B0FCA2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972" y="5765547"/>
            <a:ext cx="790411" cy="790411"/>
          </a:xfrm>
          <a:prstGeom prst="rect">
            <a:avLst/>
          </a:prstGeom>
        </p:spPr>
      </p:pic>
      <p:pic>
        <p:nvPicPr>
          <p:cNvPr id="3" name="Immagine 2" descr="Immagine che contiene Carattere, Elementi grafici, logo, grafica&#10;&#10;Descrizione generata automaticamente">
            <a:extLst>
              <a:ext uri="{FF2B5EF4-FFF2-40B4-BE49-F238E27FC236}">
                <a16:creationId xmlns:a16="http://schemas.microsoft.com/office/drawing/2014/main" id="{9CC1A8AD-BBBD-D991-C83E-E9502CB9A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621" y="297645"/>
            <a:ext cx="1600760" cy="581526"/>
          </a:xfrm>
          <a:prstGeom prst="rect">
            <a:avLst/>
          </a:prstGeom>
        </p:spPr>
      </p:pic>
      <p:pic>
        <p:nvPicPr>
          <p:cNvPr id="38" name="Immagine 37" descr="Immagine che contiene simbolo, Elementi grafici, logo, Carattere&#10;&#10;Descrizione generata automaticamente">
            <a:extLst>
              <a:ext uri="{FF2B5EF4-FFF2-40B4-BE49-F238E27FC236}">
                <a16:creationId xmlns:a16="http://schemas.microsoft.com/office/drawing/2014/main" id="{C46D2EB1-1420-D4A9-5883-2E9110361C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617" y="5765549"/>
            <a:ext cx="790409" cy="790409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12CDDEDD-2245-F11E-122D-8E2E027F839F}"/>
              </a:ext>
            </a:extLst>
          </p:cNvPr>
          <p:cNvSpPr/>
          <p:nvPr/>
        </p:nvSpPr>
        <p:spPr>
          <a:xfrm>
            <a:off x="4481052" y="1500960"/>
            <a:ext cx="3229896" cy="4155815"/>
          </a:xfrm>
          <a:prstGeom prst="rect">
            <a:avLst/>
          </a:prstGeom>
          <a:solidFill>
            <a:srgbClr val="222E3E"/>
          </a:solidFill>
          <a:ln w="5715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229896"/>
                      <a:gd name="connsiteY0" fmla="*/ 0 h 4557251"/>
                      <a:gd name="connsiteX1" fmla="*/ 3229896 w 3229896"/>
                      <a:gd name="connsiteY1" fmla="*/ 0 h 4557251"/>
                      <a:gd name="connsiteX2" fmla="*/ 3229896 w 3229896"/>
                      <a:gd name="connsiteY2" fmla="*/ 4557251 h 4557251"/>
                      <a:gd name="connsiteX3" fmla="*/ 0 w 3229896"/>
                      <a:gd name="connsiteY3" fmla="*/ 4557251 h 4557251"/>
                      <a:gd name="connsiteX4" fmla="*/ 0 w 3229896"/>
                      <a:gd name="connsiteY4" fmla="*/ 0 h 45572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29896" h="4557251" fill="none" extrusionOk="0">
                        <a:moveTo>
                          <a:pt x="0" y="0"/>
                        </a:moveTo>
                        <a:cubicBezTo>
                          <a:pt x="731253" y="-49533"/>
                          <a:pt x="2455053" y="-14809"/>
                          <a:pt x="3229896" y="0"/>
                        </a:cubicBezTo>
                        <a:cubicBezTo>
                          <a:pt x="3317535" y="624736"/>
                          <a:pt x="3157217" y="3269740"/>
                          <a:pt x="3229896" y="4557251"/>
                        </a:cubicBezTo>
                        <a:cubicBezTo>
                          <a:pt x="1798302" y="4509020"/>
                          <a:pt x="495704" y="4641706"/>
                          <a:pt x="0" y="4557251"/>
                        </a:cubicBezTo>
                        <a:cubicBezTo>
                          <a:pt x="-38581" y="2911844"/>
                          <a:pt x="63341" y="2099750"/>
                          <a:pt x="0" y="0"/>
                        </a:cubicBezTo>
                        <a:close/>
                      </a:path>
                      <a:path w="3229896" h="4557251" stroke="0" extrusionOk="0">
                        <a:moveTo>
                          <a:pt x="0" y="0"/>
                        </a:moveTo>
                        <a:cubicBezTo>
                          <a:pt x="559081" y="118645"/>
                          <a:pt x="2482581" y="116012"/>
                          <a:pt x="3229896" y="0"/>
                        </a:cubicBezTo>
                        <a:cubicBezTo>
                          <a:pt x="3097014" y="2247385"/>
                          <a:pt x="3314847" y="3950212"/>
                          <a:pt x="3229896" y="4557251"/>
                        </a:cubicBezTo>
                        <a:cubicBezTo>
                          <a:pt x="2503655" y="4691851"/>
                          <a:pt x="631871" y="4400055"/>
                          <a:pt x="0" y="4557251"/>
                        </a:cubicBezTo>
                        <a:cubicBezTo>
                          <a:pt x="-20187" y="3041927"/>
                          <a:pt x="-152480" y="11050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CA551E0-73BF-60E1-E844-36C4ECA84B16}"/>
              </a:ext>
            </a:extLst>
          </p:cNvPr>
          <p:cNvSpPr txBox="1"/>
          <p:nvPr/>
        </p:nvSpPr>
        <p:spPr>
          <a:xfrm>
            <a:off x="4481052" y="2475979"/>
            <a:ext cx="32298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kern="100" dirty="0">
                <a:solidFill>
                  <a:schemeClr val="bg1"/>
                </a:solidFill>
                <a:effectLst/>
                <a:latin typeface="Neo Sans Std" panose="020B0504030504040204"/>
                <a:ea typeface="Calibri" panose="020F0502020204030204" pitchFamily="34" charset="0"/>
                <a:cs typeface="Times New Roman" panose="02020603050405020304" pitchFamily="18" charset="0"/>
              </a:rPr>
              <a:t>Amazon Europe Core SARL, Amazon EU SARL, Amazon Services Europe SARL e Amazon Media EU SARL e Amazon Digital UK Limited ("</a:t>
            </a:r>
            <a:r>
              <a:rPr lang="it-IT" sz="2000" b="1" kern="100" dirty="0">
                <a:solidFill>
                  <a:schemeClr val="bg1"/>
                </a:solidFill>
                <a:effectLst/>
                <a:latin typeface="Neo Sans Std" panose="020B0504030504040204"/>
                <a:ea typeface="Calibri" panose="020F0502020204030204" pitchFamily="34" charset="0"/>
                <a:cs typeface="Times New Roman" panose="02020603050405020304" pitchFamily="18" charset="0"/>
              </a:rPr>
              <a:t>Amazon Europe</a:t>
            </a:r>
            <a:r>
              <a:rPr lang="it-IT" sz="2000" kern="100" dirty="0">
                <a:solidFill>
                  <a:schemeClr val="bg1"/>
                </a:solidFill>
                <a:effectLst/>
                <a:latin typeface="Neo Sans Std" panose="020B0504030504040204"/>
                <a:ea typeface="Calibri" panose="020F0502020204030204" pitchFamily="34" charset="0"/>
                <a:cs typeface="Times New Roman" panose="02020603050405020304" pitchFamily="18" charset="0"/>
              </a:rPr>
              <a:t>").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>
              <a:solidFill>
                <a:schemeClr val="bg1"/>
              </a:solidFill>
              <a:latin typeface="Neo Sans Std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348534A-721C-DF29-86E0-316574801870}"/>
              </a:ext>
            </a:extLst>
          </p:cNvPr>
          <p:cNvSpPr txBox="1"/>
          <p:nvPr/>
        </p:nvSpPr>
        <p:spPr>
          <a:xfrm>
            <a:off x="3811078" y="958385"/>
            <a:ext cx="4569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  <a:latin typeface="Neo Sans Std" panose="020B0504030504040204"/>
              </a:rPr>
              <a:t>Data Controller &amp; Processor</a:t>
            </a:r>
          </a:p>
        </p:txBody>
      </p:sp>
      <p:pic>
        <p:nvPicPr>
          <p:cNvPr id="9" name="Immagine 8" descr="Immagine che contiene schizzo, clipart, design&#10;&#10;Descrizione generata automaticamente">
            <a:extLst>
              <a:ext uri="{FF2B5EF4-FFF2-40B4-BE49-F238E27FC236}">
                <a16:creationId xmlns:a16="http://schemas.microsoft.com/office/drawing/2014/main" id="{95EA96F7-E7AA-2676-C5FB-B5A0D368CE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795" y="5769945"/>
            <a:ext cx="790410" cy="79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556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A203D0FC-7097-1B69-CCD8-99959BFDF12E}"/>
              </a:ext>
            </a:extLst>
          </p:cNvPr>
          <p:cNvSpPr/>
          <p:nvPr/>
        </p:nvSpPr>
        <p:spPr>
          <a:xfrm>
            <a:off x="0" y="0"/>
            <a:ext cx="232307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D8F562C-687E-5859-04A2-B0DEF73552B7}"/>
              </a:ext>
            </a:extLst>
          </p:cNvPr>
          <p:cNvSpPr txBox="1"/>
          <p:nvPr/>
        </p:nvSpPr>
        <p:spPr>
          <a:xfrm>
            <a:off x="62779" y="1389580"/>
            <a:ext cx="219751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Data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Minimization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44D9BBB-4F39-7D0F-2AC6-362E1E07EC42}"/>
              </a:ext>
            </a:extLst>
          </p:cNvPr>
          <p:cNvSpPr txBox="1"/>
          <p:nvPr/>
        </p:nvSpPr>
        <p:spPr>
          <a:xfrm>
            <a:off x="2111023" y="448569"/>
            <a:ext cx="100809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>
                <a:solidFill>
                  <a:srgbClr val="11203A"/>
                </a:solidFill>
                <a:latin typeface="Neo Sans Std"/>
              </a:rPr>
              <a:t>How </a:t>
            </a:r>
            <a:r>
              <a:rPr lang="it-IT" sz="4000" b="1" dirty="0" err="1">
                <a:solidFill>
                  <a:srgbClr val="11203A"/>
                </a:solidFill>
                <a:latin typeface="Neo Sans Std"/>
              </a:rPr>
              <a:t>does</a:t>
            </a:r>
            <a:r>
              <a:rPr lang="it-IT" sz="4000" b="1" dirty="0">
                <a:solidFill>
                  <a:srgbClr val="11203A"/>
                </a:solidFill>
                <a:latin typeface="Neo Sans Std"/>
              </a:rPr>
              <a:t> Alexa reduce the </a:t>
            </a:r>
            <a:r>
              <a:rPr lang="it-IT" sz="4000" b="1" dirty="0" err="1">
                <a:solidFill>
                  <a:srgbClr val="11203A"/>
                </a:solidFill>
                <a:latin typeface="Neo Sans Std"/>
              </a:rPr>
              <a:t>amount</a:t>
            </a:r>
            <a:r>
              <a:rPr lang="it-IT" sz="4000" b="1" dirty="0">
                <a:solidFill>
                  <a:srgbClr val="11203A"/>
                </a:solidFill>
                <a:latin typeface="Neo Sans Std"/>
              </a:rPr>
              <a:t> of </a:t>
            </a:r>
            <a:r>
              <a:rPr lang="it-IT" sz="4000" b="1" dirty="0" err="1">
                <a:solidFill>
                  <a:srgbClr val="11203A"/>
                </a:solidFill>
                <a:latin typeface="Neo Sans Std"/>
              </a:rPr>
              <a:t>collected</a:t>
            </a:r>
            <a:r>
              <a:rPr lang="it-IT" sz="4000" b="1" dirty="0">
                <a:solidFill>
                  <a:srgbClr val="11203A"/>
                </a:solidFill>
                <a:latin typeface="Neo Sans Std"/>
              </a:rPr>
              <a:t> data?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39849AE-9A83-2416-3557-EC84ED4D777B}"/>
              </a:ext>
            </a:extLst>
          </p:cNvPr>
          <p:cNvSpPr txBox="1"/>
          <p:nvPr/>
        </p:nvSpPr>
        <p:spPr>
          <a:xfrm>
            <a:off x="2944168" y="2400449"/>
            <a:ext cx="9247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Sending</a:t>
            </a:r>
            <a:r>
              <a:rPr lang="it-IT" sz="2000" b="1" dirty="0">
                <a:solidFill>
                  <a:srgbClr val="11203A"/>
                </a:solidFill>
                <a:latin typeface="Neo Sans Std" panose="020B0504030504040204" pitchFamily="34" charset="0"/>
              </a:rPr>
              <a:t> information to the cloud </a:t>
            </a:r>
            <a:r>
              <a:rPr lang="it-IT" sz="2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only</a:t>
            </a:r>
            <a:r>
              <a:rPr lang="it-IT" sz="2000" b="1" dirty="0">
                <a:solidFill>
                  <a:srgbClr val="11203A"/>
                </a:solidFill>
                <a:latin typeface="Neo Sans Std" panose="020B0504030504040204" pitchFamily="34" charset="0"/>
              </a:rPr>
              <a:t> </a:t>
            </a:r>
            <a:r>
              <a:rPr lang="it-IT" sz="2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if</a:t>
            </a:r>
            <a:r>
              <a:rPr lang="it-IT" sz="2000" b="1" dirty="0">
                <a:solidFill>
                  <a:srgbClr val="11203A"/>
                </a:solidFill>
                <a:latin typeface="Neo Sans Std" panose="020B0504030504040204" pitchFamily="34" charset="0"/>
              </a:rPr>
              <a:t> the </a:t>
            </a:r>
            <a:r>
              <a:rPr lang="it-IT" sz="2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wake</a:t>
            </a:r>
            <a:r>
              <a:rPr lang="it-IT" sz="2000" b="1" dirty="0">
                <a:solidFill>
                  <a:srgbClr val="11203A"/>
                </a:solidFill>
                <a:latin typeface="Neo Sans Std" panose="020B0504030504040204" pitchFamily="34" charset="0"/>
              </a:rPr>
              <a:t> word </a:t>
            </a:r>
            <a:r>
              <a:rPr lang="it-IT" sz="2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is</a:t>
            </a:r>
            <a:r>
              <a:rPr lang="it-IT" sz="2000" b="1" dirty="0">
                <a:solidFill>
                  <a:srgbClr val="11203A"/>
                </a:solidFill>
                <a:latin typeface="Neo Sans Std" panose="020B0504030504040204" pitchFamily="34" charset="0"/>
              </a:rPr>
              <a:t> </a:t>
            </a:r>
            <a:r>
              <a:rPr lang="it-IT" sz="2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detected</a:t>
            </a:r>
            <a:endParaRPr lang="it-IT" sz="2000" b="1" dirty="0">
              <a:solidFill>
                <a:srgbClr val="11203A"/>
              </a:solidFill>
              <a:latin typeface="Neo Sans Std" panose="020B0504030504040204" pitchFamily="34" charset="0"/>
            </a:endParaRPr>
          </a:p>
        </p:txBody>
      </p:sp>
      <p:pic>
        <p:nvPicPr>
          <p:cNvPr id="3" name="Immagine 2" descr="Immagine che contiene bianco, Elementi grafici, design&#10;&#10;Descrizione generata automaticamente">
            <a:extLst>
              <a:ext uri="{FF2B5EF4-FFF2-40B4-BE49-F238E27FC236}">
                <a16:creationId xmlns:a16="http://schemas.microsoft.com/office/drawing/2014/main" id="{3DAC9384-B853-D9EB-4E0C-FB44C59A8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56" y="333294"/>
            <a:ext cx="872357" cy="87235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3C016DA-7126-EDD4-552C-6E79114D4DE9}"/>
              </a:ext>
            </a:extLst>
          </p:cNvPr>
          <p:cNvSpPr txBox="1"/>
          <p:nvPr/>
        </p:nvSpPr>
        <p:spPr>
          <a:xfrm>
            <a:off x="2944168" y="3429000"/>
            <a:ext cx="7046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Trying</a:t>
            </a:r>
            <a:r>
              <a:rPr lang="it-IT" sz="2000" b="1" dirty="0">
                <a:solidFill>
                  <a:srgbClr val="11203A"/>
                </a:solidFill>
                <a:latin typeface="Neo Sans Std" panose="020B0504030504040204" pitchFamily="34" charset="0"/>
              </a:rPr>
              <a:t> to </a:t>
            </a:r>
            <a:r>
              <a:rPr lang="it-IT" sz="2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minimize</a:t>
            </a:r>
            <a:r>
              <a:rPr lang="it-IT" sz="2000" b="1" dirty="0">
                <a:solidFill>
                  <a:srgbClr val="11203A"/>
                </a:solidFill>
                <a:latin typeface="Neo Sans Std" panose="020B0504030504040204" pitchFamily="34" charset="0"/>
              </a:rPr>
              <a:t> the </a:t>
            </a:r>
            <a:r>
              <a:rPr lang="it-IT" sz="2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backgroud</a:t>
            </a:r>
            <a:r>
              <a:rPr lang="it-IT" sz="2000" b="1" dirty="0">
                <a:solidFill>
                  <a:srgbClr val="11203A"/>
                </a:solidFill>
                <a:latin typeface="Neo Sans Std" panose="020B0504030504040204" pitchFamily="34" charset="0"/>
              </a:rPr>
              <a:t> </a:t>
            </a:r>
            <a:r>
              <a:rPr lang="it-IT" sz="2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noise</a:t>
            </a:r>
            <a:r>
              <a:rPr lang="it-IT" sz="2000" b="1" dirty="0">
                <a:solidFill>
                  <a:srgbClr val="11203A"/>
                </a:solidFill>
                <a:latin typeface="Neo Sans Std" panose="020B0504030504040204" pitchFamily="34" charset="0"/>
              </a:rPr>
              <a:t> </a:t>
            </a:r>
            <a:r>
              <a:rPr lang="it-IT" sz="2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transmitted</a:t>
            </a:r>
            <a:endParaRPr lang="it-IT" sz="2000" b="1" dirty="0">
              <a:solidFill>
                <a:srgbClr val="11203A"/>
              </a:solidFill>
              <a:latin typeface="Neo Sans Std" panose="020B050403050404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D40F986-2C08-00F1-1B8B-FB787C497AFE}"/>
              </a:ext>
            </a:extLst>
          </p:cNvPr>
          <p:cNvSpPr txBox="1"/>
          <p:nvPr/>
        </p:nvSpPr>
        <p:spPr>
          <a:xfrm>
            <a:off x="2944168" y="4457551"/>
            <a:ext cx="6840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>
                <a:solidFill>
                  <a:srgbClr val="11203A"/>
                </a:solidFill>
                <a:latin typeface="Neo Sans Std" panose="020B0504030504040204" pitchFamily="34" charset="0"/>
              </a:rPr>
              <a:t>Recording the </a:t>
            </a:r>
            <a:r>
              <a:rPr lang="it-IT" sz="2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smallest</a:t>
            </a:r>
            <a:r>
              <a:rPr lang="it-IT" sz="2000" b="1" dirty="0">
                <a:solidFill>
                  <a:srgbClr val="11203A"/>
                </a:solidFill>
                <a:latin typeface="Neo Sans Std" panose="020B0504030504040204" pitchFamily="34" charset="0"/>
              </a:rPr>
              <a:t> </a:t>
            </a:r>
            <a:r>
              <a:rPr lang="it-IT" sz="2000" b="1" dirty="0" err="1">
                <a:solidFill>
                  <a:srgbClr val="11203A"/>
                </a:solidFill>
                <a:latin typeface="Neo Sans Std" panose="020B0504030504040204" pitchFamily="34" charset="0"/>
              </a:rPr>
              <a:t>amount</a:t>
            </a:r>
            <a:r>
              <a:rPr lang="it-IT" sz="2000" b="1" dirty="0">
                <a:solidFill>
                  <a:srgbClr val="11203A"/>
                </a:solidFill>
                <a:latin typeface="Neo Sans Std" panose="020B0504030504040204" pitchFamily="34" charset="0"/>
              </a:rPr>
              <a:t> of </a:t>
            </a:r>
            <a:r>
              <a:rPr lang="it-IT" sz="2000" b="1" dirty="0" err="1">
                <a:solidFill>
                  <a:srgbClr val="11203A"/>
                </a:solidFill>
                <a:latin typeface="Neo Sans Std"/>
              </a:rPr>
              <a:t>necessary</a:t>
            </a:r>
            <a:r>
              <a:rPr lang="it-IT" sz="2000" b="1" dirty="0">
                <a:solidFill>
                  <a:srgbClr val="11203A"/>
                </a:solidFill>
                <a:latin typeface="Neo Sans Std"/>
              </a:rPr>
              <a:t> </a:t>
            </a:r>
            <a:r>
              <a:rPr lang="it-IT" sz="2000" b="1" dirty="0">
                <a:solidFill>
                  <a:srgbClr val="11203A"/>
                </a:solidFill>
                <a:latin typeface="Neo Sans Std" panose="020B0504030504040204" pitchFamily="34" charset="0"/>
              </a:rPr>
              <a:t>audio</a:t>
            </a:r>
          </a:p>
        </p:txBody>
      </p:sp>
    </p:spTree>
    <p:extLst>
      <p:ext uri="{BB962C8B-B14F-4D97-AF65-F5344CB8AC3E}">
        <p14:creationId xmlns:p14="http://schemas.microsoft.com/office/powerpoint/2010/main" val="3082794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A203D0FC-7097-1B69-CCD8-99959BFDF12E}"/>
              </a:ext>
            </a:extLst>
          </p:cNvPr>
          <p:cNvSpPr/>
          <p:nvPr/>
        </p:nvSpPr>
        <p:spPr>
          <a:xfrm>
            <a:off x="0" y="0"/>
            <a:ext cx="232307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Immagine 1" descr="Immagine che contiene simbolo, Carattere, testo, Elementi grafici&#10;&#10;Descrizione generata automaticamente">
            <a:extLst>
              <a:ext uri="{FF2B5EF4-FFF2-40B4-BE49-F238E27FC236}">
                <a16:creationId xmlns:a16="http://schemas.microsoft.com/office/drawing/2014/main" id="{B53C8E9E-EF2D-1553-2BAA-22F1FAAC3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56" y="482079"/>
            <a:ext cx="872357" cy="872357"/>
          </a:xfrm>
          <a:prstGeom prst="rect">
            <a:avLst/>
          </a:prstGeom>
        </p:spPr>
      </p:pic>
      <p:pic>
        <p:nvPicPr>
          <p:cNvPr id="5" name="Immagine 4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5DC1D265-FA33-1CC4-F367-A5D79C990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719" y="132288"/>
            <a:ext cx="3045595" cy="6593423"/>
          </a:xfrm>
          <a:prstGeom prst="rect">
            <a:avLst/>
          </a:prstGeom>
        </p:spPr>
      </p:pic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632BD16-C2AE-7DDB-B8EB-4D2B2917E317}"/>
              </a:ext>
            </a:extLst>
          </p:cNvPr>
          <p:cNvCxnSpPr>
            <a:cxnSpLocks/>
          </p:cNvCxnSpPr>
          <p:nvPr/>
        </p:nvCxnSpPr>
        <p:spPr>
          <a:xfrm>
            <a:off x="5663381" y="1696065"/>
            <a:ext cx="1991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845B786F-ED6A-E1CD-350C-984E46BE5499}"/>
              </a:ext>
            </a:extLst>
          </p:cNvPr>
          <p:cNvCxnSpPr>
            <a:cxnSpLocks/>
          </p:cNvCxnSpPr>
          <p:nvPr/>
        </p:nvCxnSpPr>
        <p:spPr>
          <a:xfrm flipH="1">
            <a:off x="7762857" y="1696065"/>
            <a:ext cx="1206331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4DAB4EA5-C548-8940-79CD-2581AF1CF7BD}"/>
              </a:ext>
            </a:extLst>
          </p:cNvPr>
          <p:cNvCxnSpPr>
            <a:cxnSpLocks/>
          </p:cNvCxnSpPr>
          <p:nvPr/>
        </p:nvCxnSpPr>
        <p:spPr>
          <a:xfrm>
            <a:off x="5663381" y="2600633"/>
            <a:ext cx="237449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A364808B-1428-F934-1CBF-A470E11753EC}"/>
              </a:ext>
            </a:extLst>
          </p:cNvPr>
          <p:cNvCxnSpPr>
            <a:cxnSpLocks/>
          </p:cNvCxnSpPr>
          <p:nvPr/>
        </p:nvCxnSpPr>
        <p:spPr>
          <a:xfrm>
            <a:off x="5844540" y="3514724"/>
            <a:ext cx="100608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68A0C954-94A4-1ACE-3D29-3F8F4DF2DA90}"/>
              </a:ext>
            </a:extLst>
          </p:cNvPr>
          <p:cNvCxnSpPr>
            <a:cxnSpLocks/>
          </p:cNvCxnSpPr>
          <p:nvPr/>
        </p:nvCxnSpPr>
        <p:spPr>
          <a:xfrm>
            <a:off x="4773706" y="2600633"/>
            <a:ext cx="783013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882F1DE6-308D-A787-853E-FD5D395BFCA3}"/>
              </a:ext>
            </a:extLst>
          </p:cNvPr>
          <p:cNvCxnSpPr>
            <a:cxnSpLocks/>
          </p:cNvCxnSpPr>
          <p:nvPr/>
        </p:nvCxnSpPr>
        <p:spPr>
          <a:xfrm>
            <a:off x="5844540" y="4683124"/>
            <a:ext cx="16992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93D87AE2-E859-C6D9-6B61-240499ED12C6}"/>
              </a:ext>
            </a:extLst>
          </p:cNvPr>
          <p:cNvSpPr txBox="1"/>
          <p:nvPr/>
        </p:nvSpPr>
        <p:spPr>
          <a:xfrm>
            <a:off x="9011881" y="1354436"/>
            <a:ext cx="2837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222E3E"/>
                </a:solidFill>
                <a:latin typeface="Neo Sans Std" panose="020B0504030504040204"/>
              </a:rPr>
              <a:t>Access to audio data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E1D8C5C4-30DF-9890-B31C-2EB354F88581}"/>
              </a:ext>
            </a:extLst>
          </p:cNvPr>
          <p:cNvSpPr txBox="1"/>
          <p:nvPr/>
        </p:nvSpPr>
        <p:spPr>
          <a:xfrm>
            <a:off x="2542461" y="2060967"/>
            <a:ext cx="2692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rgbClr val="222E3E"/>
                </a:solidFill>
                <a:latin typeface="Neo Sans Std" panose="020B0504030504040204"/>
              </a:rPr>
              <a:t>What</a:t>
            </a:r>
            <a:r>
              <a:rPr lang="it-IT" sz="2400" b="1" dirty="0">
                <a:solidFill>
                  <a:srgbClr val="222E3E"/>
                </a:solidFill>
                <a:latin typeface="Neo Sans Std" panose="020B0504030504040204"/>
              </a:rPr>
              <a:t> data are </a:t>
            </a:r>
            <a:r>
              <a:rPr lang="it-IT" sz="2400" b="1" dirty="0" err="1">
                <a:solidFill>
                  <a:srgbClr val="222E3E"/>
                </a:solidFill>
                <a:latin typeface="Neo Sans Std" panose="020B0504030504040204"/>
              </a:rPr>
              <a:t>displayed</a:t>
            </a:r>
            <a:endParaRPr lang="it-IT" sz="2400" b="1" dirty="0">
              <a:solidFill>
                <a:srgbClr val="222E3E"/>
              </a:solidFill>
              <a:latin typeface="Neo Sans Std" panose="020B0504030504040204"/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B3B6A16B-ECD7-0F5B-9D5A-FB6169A7B2BE}"/>
              </a:ext>
            </a:extLst>
          </p:cNvPr>
          <p:cNvSpPr txBox="1"/>
          <p:nvPr/>
        </p:nvSpPr>
        <p:spPr>
          <a:xfrm>
            <a:off x="2428863" y="3153047"/>
            <a:ext cx="23230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rgbClr val="222E3E"/>
                </a:solidFill>
                <a:latin typeface="Neo Sans Std" panose="020B0504030504040204"/>
              </a:rPr>
              <a:t>Registration</a:t>
            </a:r>
            <a:r>
              <a:rPr lang="it-IT" sz="2400" b="1" dirty="0">
                <a:solidFill>
                  <a:srgbClr val="222E3E"/>
                </a:solidFill>
                <a:latin typeface="Neo Sans Std" panose="020B0504030504040204"/>
              </a:rPr>
              <a:t> &amp; </a:t>
            </a:r>
            <a:r>
              <a:rPr lang="it-IT" sz="2400" b="1" dirty="0" err="1">
                <a:solidFill>
                  <a:srgbClr val="222E3E"/>
                </a:solidFill>
                <a:latin typeface="Neo Sans Std" panose="020B0504030504040204"/>
              </a:rPr>
              <a:t>transcription</a:t>
            </a:r>
            <a:endParaRPr lang="it-IT" sz="2400" b="1" dirty="0">
              <a:solidFill>
                <a:srgbClr val="222E3E"/>
              </a:solidFill>
              <a:latin typeface="Neo Sans Std" panose="020B0504030504040204"/>
            </a:endParaRP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B78EEAF2-CA8F-A7BB-3A13-BEC2C0BB1930}"/>
              </a:ext>
            </a:extLst>
          </p:cNvPr>
          <p:cNvSpPr txBox="1"/>
          <p:nvPr/>
        </p:nvSpPr>
        <p:spPr>
          <a:xfrm>
            <a:off x="9011881" y="4350676"/>
            <a:ext cx="32383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rgbClr val="222E3E"/>
                </a:solidFill>
                <a:latin typeface="Neo Sans Std" panose="020B0504030504040204"/>
              </a:rPr>
              <a:t>When</a:t>
            </a:r>
            <a:r>
              <a:rPr lang="it-IT" sz="2400" b="1" dirty="0">
                <a:solidFill>
                  <a:srgbClr val="222E3E"/>
                </a:solidFill>
                <a:latin typeface="Neo Sans Std" panose="020B0504030504040204"/>
              </a:rPr>
              <a:t> the data </a:t>
            </a:r>
            <a:r>
              <a:rPr lang="it-IT" sz="2400" b="1" dirty="0" err="1">
                <a:solidFill>
                  <a:srgbClr val="222E3E"/>
                </a:solidFill>
                <a:latin typeface="Neo Sans Std" panose="020B0504030504040204"/>
              </a:rPr>
              <a:t>have</a:t>
            </a:r>
            <a:r>
              <a:rPr lang="it-IT" sz="2400" b="1" dirty="0">
                <a:solidFill>
                  <a:srgbClr val="222E3E"/>
                </a:solidFill>
                <a:latin typeface="Neo Sans Std" panose="020B0504030504040204"/>
              </a:rPr>
              <a:t> </a:t>
            </a:r>
            <a:r>
              <a:rPr lang="it-IT" sz="2400" b="1" dirty="0" err="1">
                <a:solidFill>
                  <a:srgbClr val="222E3E"/>
                </a:solidFill>
                <a:latin typeface="Neo Sans Std" panose="020B0504030504040204"/>
              </a:rPr>
              <a:t>been</a:t>
            </a:r>
            <a:r>
              <a:rPr lang="it-IT" sz="2400" b="1" dirty="0">
                <a:solidFill>
                  <a:srgbClr val="222E3E"/>
                </a:solidFill>
                <a:latin typeface="Neo Sans Std" panose="020B0504030504040204"/>
              </a:rPr>
              <a:t> </a:t>
            </a:r>
            <a:r>
              <a:rPr lang="it-IT" sz="2400" b="1" dirty="0" err="1">
                <a:solidFill>
                  <a:srgbClr val="222E3E"/>
                </a:solidFill>
                <a:latin typeface="Neo Sans Std" panose="020B0504030504040204"/>
              </a:rPr>
              <a:t>registered</a:t>
            </a:r>
            <a:endParaRPr lang="it-IT" sz="2400" b="1" dirty="0">
              <a:solidFill>
                <a:srgbClr val="222E3E"/>
              </a:solidFill>
              <a:latin typeface="Neo Sans Std" panose="020B0504030504040204"/>
            </a:endParaRPr>
          </a:p>
        </p:txBody>
      </p:sp>
      <p:pic>
        <p:nvPicPr>
          <p:cNvPr id="37" name="Immagine 36" descr="Immagine che contiene Elementi grafici, Carattere, logo, grafica&#10;&#10;Descrizione generata automaticamente">
            <a:extLst>
              <a:ext uri="{FF2B5EF4-FFF2-40B4-BE49-F238E27FC236}">
                <a16:creationId xmlns:a16="http://schemas.microsoft.com/office/drawing/2014/main" id="{6E08A0E2-5B3F-0525-9894-075A5C4C9B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063" y="-16247"/>
            <a:ext cx="2747156" cy="1866433"/>
          </a:xfrm>
          <a:prstGeom prst="rect">
            <a:avLst/>
          </a:prstGeom>
        </p:spPr>
      </p:pic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5D118676-8A69-1C11-88FA-792C7543256D}"/>
              </a:ext>
            </a:extLst>
          </p:cNvPr>
          <p:cNvCxnSpPr>
            <a:cxnSpLocks/>
          </p:cNvCxnSpPr>
          <p:nvPr/>
        </p:nvCxnSpPr>
        <p:spPr>
          <a:xfrm>
            <a:off x="4778189" y="3506065"/>
            <a:ext cx="783013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E6EC4F15-86D1-3A9C-4AA2-BA28DBD8A295}"/>
              </a:ext>
            </a:extLst>
          </p:cNvPr>
          <p:cNvCxnSpPr>
            <a:cxnSpLocks/>
          </p:cNvCxnSpPr>
          <p:nvPr/>
        </p:nvCxnSpPr>
        <p:spPr>
          <a:xfrm flipH="1">
            <a:off x="7762857" y="4626493"/>
            <a:ext cx="1206331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C5777C5-9872-A401-AD87-A03547F09C82}"/>
              </a:ext>
            </a:extLst>
          </p:cNvPr>
          <p:cNvSpPr txBox="1"/>
          <p:nvPr/>
        </p:nvSpPr>
        <p:spPr>
          <a:xfrm>
            <a:off x="62779" y="1389580"/>
            <a:ext cx="219751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Access with Alexa Application</a:t>
            </a:r>
          </a:p>
        </p:txBody>
      </p:sp>
    </p:spTree>
    <p:extLst>
      <p:ext uri="{BB962C8B-B14F-4D97-AF65-F5344CB8AC3E}">
        <p14:creationId xmlns:p14="http://schemas.microsoft.com/office/powerpoint/2010/main" val="2232774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A203D0FC-7097-1B69-CCD8-99959BFDF12E}"/>
              </a:ext>
            </a:extLst>
          </p:cNvPr>
          <p:cNvSpPr/>
          <p:nvPr/>
        </p:nvSpPr>
        <p:spPr>
          <a:xfrm>
            <a:off x="0" y="0"/>
            <a:ext cx="232307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 descr="Immagine che contiene logo, simbolo, Elementi grafici, Carattere&#10;&#10;Descrizione generata automaticamente">
            <a:extLst>
              <a:ext uri="{FF2B5EF4-FFF2-40B4-BE49-F238E27FC236}">
                <a16:creationId xmlns:a16="http://schemas.microsoft.com/office/drawing/2014/main" id="{D4AEDAC5-5FD0-7C23-22FE-6A47C9DD7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55" y="403823"/>
            <a:ext cx="872357" cy="872357"/>
          </a:xfrm>
          <a:prstGeom prst="rect">
            <a:avLst/>
          </a:prstGeom>
        </p:spPr>
      </p:pic>
      <p:pic>
        <p:nvPicPr>
          <p:cNvPr id="9" name="Immagine 8" descr="Immagine che contiene testo, elettronica, schermata, Pagina Web&#10;&#10;Descrizione generata automaticamente">
            <a:extLst>
              <a:ext uri="{FF2B5EF4-FFF2-40B4-BE49-F238E27FC236}">
                <a16:creationId xmlns:a16="http://schemas.microsoft.com/office/drawing/2014/main" id="{5EBA5BA9-361C-6549-922E-8B43A9FCF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211" y="0"/>
            <a:ext cx="3167807" cy="6858000"/>
          </a:xfrm>
          <a:prstGeom prst="rect">
            <a:avLst/>
          </a:prstGeom>
        </p:spPr>
      </p:pic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4915D1DC-83F3-874B-184A-F974F6AD45F4}"/>
              </a:ext>
            </a:extLst>
          </p:cNvPr>
          <p:cNvCxnSpPr/>
          <p:nvPr/>
        </p:nvCxnSpPr>
        <p:spPr>
          <a:xfrm>
            <a:off x="5511476" y="3696140"/>
            <a:ext cx="0" cy="240969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6679936-1AD1-B7C8-110A-C4881B98425C}"/>
              </a:ext>
            </a:extLst>
          </p:cNvPr>
          <p:cNvSpPr txBox="1"/>
          <p:nvPr/>
        </p:nvSpPr>
        <p:spPr>
          <a:xfrm>
            <a:off x="2543695" y="4131694"/>
            <a:ext cx="2747156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rgbClr val="222E3E"/>
                </a:solidFill>
                <a:latin typeface="Neo Sans Std" panose="020B0504030504040204" pitchFamily="34" charset="0"/>
              </a:rPr>
              <a:t>Editable</a:t>
            </a:r>
            <a:r>
              <a:rPr lang="it-IT" sz="2400" b="1" dirty="0">
                <a:solidFill>
                  <a:srgbClr val="222E3E"/>
                </a:solidFill>
                <a:latin typeface="Neo Sans Std" panose="020B0504030504040204" pitchFamily="34" charset="0"/>
              </a:rPr>
              <a:t> personal information</a:t>
            </a:r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17BA1C8B-F76C-7A15-E230-CA59E57E8D53}"/>
              </a:ext>
            </a:extLst>
          </p:cNvPr>
          <p:cNvCxnSpPr/>
          <p:nvPr/>
        </p:nvCxnSpPr>
        <p:spPr>
          <a:xfrm>
            <a:off x="6035952" y="1047135"/>
            <a:ext cx="238432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73EBE765-A734-A8EB-2B5D-DD65CB860791}"/>
              </a:ext>
            </a:extLst>
          </p:cNvPr>
          <p:cNvCxnSpPr>
            <a:cxnSpLocks/>
          </p:cNvCxnSpPr>
          <p:nvPr/>
        </p:nvCxnSpPr>
        <p:spPr>
          <a:xfrm>
            <a:off x="5939560" y="1774722"/>
            <a:ext cx="257710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C5406EEA-1620-19ED-7422-05C61CE76206}"/>
              </a:ext>
            </a:extLst>
          </p:cNvPr>
          <p:cNvCxnSpPr>
            <a:cxnSpLocks/>
          </p:cNvCxnSpPr>
          <p:nvPr/>
        </p:nvCxnSpPr>
        <p:spPr>
          <a:xfrm>
            <a:off x="5184867" y="1774722"/>
            <a:ext cx="58075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00AB6909-F760-B588-3A27-CAF6B676800C}"/>
              </a:ext>
            </a:extLst>
          </p:cNvPr>
          <p:cNvSpPr txBox="1"/>
          <p:nvPr/>
        </p:nvSpPr>
        <p:spPr>
          <a:xfrm>
            <a:off x="2545287" y="1543889"/>
            <a:ext cx="2747156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222E3E"/>
                </a:solidFill>
                <a:latin typeface="Neo Sans Std" panose="020B0504030504040204" pitchFamily="34" charset="0"/>
              </a:rPr>
              <a:t>Family </a:t>
            </a:r>
            <a:r>
              <a:rPr lang="it-IT" sz="2400" b="1" dirty="0" err="1">
                <a:solidFill>
                  <a:srgbClr val="222E3E"/>
                </a:solidFill>
                <a:latin typeface="Neo Sans Std" panose="020B0504030504040204" pitchFamily="34" charset="0"/>
              </a:rPr>
              <a:t>members</a:t>
            </a:r>
            <a:endParaRPr lang="it-IT" sz="2400" b="1" dirty="0">
              <a:solidFill>
                <a:srgbClr val="222E3E"/>
              </a:solidFill>
              <a:latin typeface="Neo Sans Std" panose="020B0504030504040204" pitchFamily="34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2E01966-A384-E8D1-354E-F38E95DFE132}"/>
              </a:ext>
            </a:extLst>
          </p:cNvPr>
          <p:cNvSpPr txBox="1"/>
          <p:nvPr/>
        </p:nvSpPr>
        <p:spPr>
          <a:xfrm>
            <a:off x="9444844" y="814515"/>
            <a:ext cx="2747156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222E3E"/>
                </a:solidFill>
                <a:latin typeface="Neo Sans Std" panose="020B0504030504040204" pitchFamily="34" charset="0"/>
              </a:rPr>
              <a:t>Your account</a:t>
            </a: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23287B97-024D-485E-58E9-10E0C81D8AE4}"/>
              </a:ext>
            </a:extLst>
          </p:cNvPr>
          <p:cNvCxnSpPr>
            <a:cxnSpLocks/>
          </p:cNvCxnSpPr>
          <p:nvPr/>
        </p:nvCxnSpPr>
        <p:spPr>
          <a:xfrm flipH="1">
            <a:off x="8516666" y="1047135"/>
            <a:ext cx="1148157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17483BF-CF4C-F678-FB05-73BF399E9DB8}"/>
              </a:ext>
            </a:extLst>
          </p:cNvPr>
          <p:cNvSpPr txBox="1"/>
          <p:nvPr/>
        </p:nvSpPr>
        <p:spPr>
          <a:xfrm>
            <a:off x="62779" y="1389580"/>
            <a:ext cx="219751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Rectification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with Alexa Application</a:t>
            </a:r>
          </a:p>
        </p:txBody>
      </p:sp>
      <p:pic>
        <p:nvPicPr>
          <p:cNvPr id="4" name="Immagine 3" descr="Immagine che contiene Elementi grafici, Carattere, logo, grafica&#10;&#10;Descrizione generata automaticamente">
            <a:extLst>
              <a:ext uri="{FF2B5EF4-FFF2-40B4-BE49-F238E27FC236}">
                <a16:creationId xmlns:a16="http://schemas.microsoft.com/office/drawing/2014/main" id="{2883214C-7A6C-043F-FEEE-2FB52A02F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063" y="-16247"/>
            <a:ext cx="2747156" cy="186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35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A203D0FC-7097-1B69-CCD8-99959BFDF12E}"/>
              </a:ext>
            </a:extLst>
          </p:cNvPr>
          <p:cNvSpPr/>
          <p:nvPr/>
        </p:nvSpPr>
        <p:spPr>
          <a:xfrm>
            <a:off x="0" y="0"/>
            <a:ext cx="232307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 descr="Immagine che contiene bianco, design&#10;&#10;Descrizione generata automaticamente">
            <a:extLst>
              <a:ext uri="{FF2B5EF4-FFF2-40B4-BE49-F238E27FC236}">
                <a16:creationId xmlns:a16="http://schemas.microsoft.com/office/drawing/2014/main" id="{B2A99C0F-D95D-173E-5272-4C8302A59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55" y="401508"/>
            <a:ext cx="872357" cy="872357"/>
          </a:xfrm>
          <a:prstGeom prst="rect">
            <a:avLst/>
          </a:prstGeom>
        </p:spPr>
      </p:pic>
      <p:pic>
        <p:nvPicPr>
          <p:cNvPr id="9" name="Immagine 8" descr="Immagine che contiene testo, schermata, software, Carattere&#10;&#10;Descrizione generata automaticamente">
            <a:extLst>
              <a:ext uri="{FF2B5EF4-FFF2-40B4-BE49-F238E27FC236}">
                <a16:creationId xmlns:a16="http://schemas.microsoft.com/office/drawing/2014/main" id="{14273CD3-2EEB-93AB-CF07-40C761B81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1497" y="23695"/>
            <a:ext cx="3167807" cy="6858000"/>
          </a:xfrm>
          <a:prstGeom prst="rect">
            <a:avLst/>
          </a:prstGeom>
        </p:spPr>
      </p:pic>
      <p:pic>
        <p:nvPicPr>
          <p:cNvPr id="10" name="Immagine 9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6AD83249-6DCC-DDD9-9E33-8D34DFE6E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737" y="0"/>
            <a:ext cx="3189697" cy="6905390"/>
          </a:xfrm>
          <a:prstGeom prst="rect">
            <a:avLst/>
          </a:prstGeom>
        </p:spPr>
      </p:pic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BED176F8-2A1E-4EAF-9B1B-66CCFCDE8302}"/>
              </a:ext>
            </a:extLst>
          </p:cNvPr>
          <p:cNvCxnSpPr>
            <a:cxnSpLocks/>
          </p:cNvCxnSpPr>
          <p:nvPr/>
        </p:nvCxnSpPr>
        <p:spPr>
          <a:xfrm>
            <a:off x="4521785" y="2954593"/>
            <a:ext cx="134807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3A98196E-912A-5D5B-A236-429A2DA228A8}"/>
              </a:ext>
            </a:extLst>
          </p:cNvPr>
          <p:cNvCxnSpPr>
            <a:cxnSpLocks/>
          </p:cNvCxnSpPr>
          <p:nvPr/>
        </p:nvCxnSpPr>
        <p:spPr>
          <a:xfrm>
            <a:off x="4659511" y="4316361"/>
            <a:ext cx="134807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77A8D16A-1FE0-64FD-06AD-05D93AC64E0E}"/>
              </a:ext>
            </a:extLst>
          </p:cNvPr>
          <p:cNvCxnSpPr>
            <a:cxnSpLocks/>
          </p:cNvCxnSpPr>
          <p:nvPr/>
        </p:nvCxnSpPr>
        <p:spPr>
          <a:xfrm>
            <a:off x="3325631" y="2954593"/>
            <a:ext cx="115153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4BF51E6C-43E2-C85C-C2FE-F37710B78C1D}"/>
              </a:ext>
            </a:extLst>
          </p:cNvPr>
          <p:cNvSpPr txBox="1"/>
          <p:nvPr/>
        </p:nvSpPr>
        <p:spPr>
          <a:xfrm>
            <a:off x="2323070" y="3186217"/>
            <a:ext cx="23520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 err="1">
                <a:solidFill>
                  <a:srgbClr val="222E3E"/>
                </a:solidFill>
                <a:latin typeface="Neo Sans Std" panose="020B0504030504040204" pitchFamily="34" charset="0"/>
              </a:rPr>
              <a:t>Different</a:t>
            </a:r>
            <a:r>
              <a:rPr lang="it-IT" sz="2400" b="1" dirty="0">
                <a:solidFill>
                  <a:srgbClr val="222E3E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222E3E"/>
                </a:solidFill>
                <a:latin typeface="Neo Sans Std" panose="020B0504030504040204" pitchFamily="34" charset="0"/>
              </a:rPr>
              <a:t>possibilities</a:t>
            </a:r>
            <a:r>
              <a:rPr lang="it-IT" sz="2400" b="1" dirty="0">
                <a:solidFill>
                  <a:srgbClr val="222E3E"/>
                </a:solidFill>
                <a:latin typeface="Neo Sans Std" panose="020B0504030504040204" pitchFamily="34" charset="0"/>
              </a:rPr>
              <a:t> 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693CA7F6-0A3A-DBAC-3061-C37F185FC1F6}"/>
              </a:ext>
            </a:extLst>
          </p:cNvPr>
          <p:cNvCxnSpPr>
            <a:cxnSpLocks/>
          </p:cNvCxnSpPr>
          <p:nvPr/>
        </p:nvCxnSpPr>
        <p:spPr>
          <a:xfrm>
            <a:off x="3301241" y="4316361"/>
            <a:ext cx="122054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1B76828-91F8-4354-D14F-3845E27363AA}"/>
              </a:ext>
            </a:extLst>
          </p:cNvPr>
          <p:cNvSpPr txBox="1"/>
          <p:nvPr/>
        </p:nvSpPr>
        <p:spPr>
          <a:xfrm>
            <a:off x="62779" y="1389580"/>
            <a:ext cx="219751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Deletion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with Alexa Application</a:t>
            </a:r>
          </a:p>
        </p:txBody>
      </p:sp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E8041243-CB4A-1A00-F514-BF6BB45422E5}"/>
              </a:ext>
            </a:extLst>
          </p:cNvPr>
          <p:cNvCxnSpPr>
            <a:cxnSpLocks/>
          </p:cNvCxnSpPr>
          <p:nvPr/>
        </p:nvCxnSpPr>
        <p:spPr>
          <a:xfrm>
            <a:off x="3356733" y="2954593"/>
            <a:ext cx="0" cy="231624"/>
          </a:xfrm>
          <a:prstGeom prst="line">
            <a:avLst/>
          </a:prstGeom>
          <a:ln w="57150">
            <a:solidFill>
              <a:srgbClr val="FF0D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1 21">
            <a:extLst>
              <a:ext uri="{FF2B5EF4-FFF2-40B4-BE49-F238E27FC236}">
                <a16:creationId xmlns:a16="http://schemas.microsoft.com/office/drawing/2014/main" id="{83FCE5D6-21C6-E101-AFF3-A7121727F756}"/>
              </a:ext>
            </a:extLst>
          </p:cNvPr>
          <p:cNvCxnSpPr>
            <a:cxnSpLocks/>
          </p:cNvCxnSpPr>
          <p:nvPr/>
        </p:nvCxnSpPr>
        <p:spPr>
          <a:xfrm>
            <a:off x="3329290" y="4017214"/>
            <a:ext cx="0" cy="299147"/>
          </a:xfrm>
          <a:prstGeom prst="line">
            <a:avLst/>
          </a:prstGeom>
          <a:ln w="57150">
            <a:solidFill>
              <a:srgbClr val="FF0D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949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A203D0FC-7097-1B69-CCD8-99959BFDF12E}"/>
              </a:ext>
            </a:extLst>
          </p:cNvPr>
          <p:cNvSpPr/>
          <p:nvPr/>
        </p:nvSpPr>
        <p:spPr>
          <a:xfrm>
            <a:off x="0" y="0"/>
            <a:ext cx="232307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 descr="Immagine che contiene bianco, design&#10;&#10;Descrizione generata automaticamente">
            <a:extLst>
              <a:ext uri="{FF2B5EF4-FFF2-40B4-BE49-F238E27FC236}">
                <a16:creationId xmlns:a16="http://schemas.microsoft.com/office/drawing/2014/main" id="{B2A99C0F-D95D-173E-5272-4C8302A59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55" y="401508"/>
            <a:ext cx="872357" cy="872357"/>
          </a:xfrm>
          <a:prstGeom prst="rect">
            <a:avLst/>
          </a:prstGeom>
        </p:spPr>
      </p:pic>
      <p:pic>
        <p:nvPicPr>
          <p:cNvPr id="9" name="Immagine 8" descr="Immagine che contiene testo, schermata, software, Carattere&#10;&#10;Descrizione generata automaticamente">
            <a:extLst>
              <a:ext uri="{FF2B5EF4-FFF2-40B4-BE49-F238E27FC236}">
                <a16:creationId xmlns:a16="http://schemas.microsoft.com/office/drawing/2014/main" id="{14273CD3-2EEB-93AB-CF07-40C761B81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995" y="23695"/>
            <a:ext cx="3167807" cy="6858000"/>
          </a:xfrm>
          <a:prstGeom prst="rect">
            <a:avLst/>
          </a:prstGeom>
        </p:spPr>
      </p:pic>
      <p:pic>
        <p:nvPicPr>
          <p:cNvPr id="10" name="Immagine 9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6AD83249-6DCC-DDD9-9E33-8D34DFE6E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737" y="0"/>
            <a:ext cx="3189697" cy="6905390"/>
          </a:xfrm>
          <a:prstGeom prst="rect">
            <a:avLst/>
          </a:prstGeom>
        </p:spPr>
      </p:pic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BED176F8-2A1E-4EAF-9B1B-66CCFCDE8302}"/>
              </a:ext>
            </a:extLst>
          </p:cNvPr>
          <p:cNvCxnSpPr>
            <a:cxnSpLocks/>
          </p:cNvCxnSpPr>
          <p:nvPr/>
        </p:nvCxnSpPr>
        <p:spPr>
          <a:xfrm>
            <a:off x="4521785" y="2954593"/>
            <a:ext cx="134807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3A98196E-912A-5D5B-A236-429A2DA228A8}"/>
              </a:ext>
            </a:extLst>
          </p:cNvPr>
          <p:cNvCxnSpPr>
            <a:cxnSpLocks/>
          </p:cNvCxnSpPr>
          <p:nvPr/>
        </p:nvCxnSpPr>
        <p:spPr>
          <a:xfrm>
            <a:off x="4659511" y="4316361"/>
            <a:ext cx="134807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01BF98F8-8160-C5EA-CFBD-2C41B408368D}"/>
              </a:ext>
            </a:extLst>
          </p:cNvPr>
          <p:cNvCxnSpPr>
            <a:cxnSpLocks/>
          </p:cNvCxnSpPr>
          <p:nvPr/>
        </p:nvCxnSpPr>
        <p:spPr>
          <a:xfrm>
            <a:off x="6239435" y="2954593"/>
            <a:ext cx="197541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77A8D16A-1FE0-64FD-06AD-05D93AC64E0E}"/>
              </a:ext>
            </a:extLst>
          </p:cNvPr>
          <p:cNvCxnSpPr>
            <a:cxnSpLocks/>
          </p:cNvCxnSpPr>
          <p:nvPr/>
        </p:nvCxnSpPr>
        <p:spPr>
          <a:xfrm>
            <a:off x="3325631" y="2954593"/>
            <a:ext cx="115153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4BF51E6C-43E2-C85C-C2FE-F37710B78C1D}"/>
              </a:ext>
            </a:extLst>
          </p:cNvPr>
          <p:cNvSpPr txBox="1"/>
          <p:nvPr/>
        </p:nvSpPr>
        <p:spPr>
          <a:xfrm>
            <a:off x="2323070" y="3186217"/>
            <a:ext cx="23520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 err="1">
                <a:solidFill>
                  <a:srgbClr val="222E3E"/>
                </a:solidFill>
                <a:latin typeface="Neo Sans Std" panose="020B0504030504040204" pitchFamily="34" charset="0"/>
              </a:rPr>
              <a:t>Different</a:t>
            </a:r>
            <a:r>
              <a:rPr lang="it-IT" sz="2400" b="1" dirty="0">
                <a:solidFill>
                  <a:srgbClr val="222E3E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222E3E"/>
                </a:solidFill>
                <a:latin typeface="Neo Sans Std" panose="020B0504030504040204" pitchFamily="34" charset="0"/>
              </a:rPr>
              <a:t>possibilities</a:t>
            </a:r>
            <a:r>
              <a:rPr lang="it-IT" sz="2400" b="1" dirty="0">
                <a:solidFill>
                  <a:srgbClr val="222E3E"/>
                </a:solidFill>
                <a:latin typeface="Neo Sans Std" panose="020B0504030504040204" pitchFamily="34" charset="0"/>
              </a:rPr>
              <a:t> 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693CA7F6-0A3A-DBAC-3061-C37F185FC1F6}"/>
              </a:ext>
            </a:extLst>
          </p:cNvPr>
          <p:cNvCxnSpPr>
            <a:cxnSpLocks/>
          </p:cNvCxnSpPr>
          <p:nvPr/>
        </p:nvCxnSpPr>
        <p:spPr>
          <a:xfrm>
            <a:off x="3301241" y="4316361"/>
            <a:ext cx="122054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1B76828-91F8-4354-D14F-3845E27363AA}"/>
              </a:ext>
            </a:extLst>
          </p:cNvPr>
          <p:cNvSpPr txBox="1"/>
          <p:nvPr/>
        </p:nvSpPr>
        <p:spPr>
          <a:xfrm>
            <a:off x="62779" y="1389580"/>
            <a:ext cx="219751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Deletion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with Alexa Application</a:t>
            </a:r>
          </a:p>
        </p:txBody>
      </p:sp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E8041243-CB4A-1A00-F514-BF6BB45422E5}"/>
              </a:ext>
            </a:extLst>
          </p:cNvPr>
          <p:cNvCxnSpPr>
            <a:cxnSpLocks/>
          </p:cNvCxnSpPr>
          <p:nvPr/>
        </p:nvCxnSpPr>
        <p:spPr>
          <a:xfrm>
            <a:off x="3356733" y="2954593"/>
            <a:ext cx="0" cy="231624"/>
          </a:xfrm>
          <a:prstGeom prst="line">
            <a:avLst/>
          </a:prstGeom>
          <a:ln w="57150">
            <a:solidFill>
              <a:srgbClr val="FF0D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1 21">
            <a:extLst>
              <a:ext uri="{FF2B5EF4-FFF2-40B4-BE49-F238E27FC236}">
                <a16:creationId xmlns:a16="http://schemas.microsoft.com/office/drawing/2014/main" id="{83FCE5D6-21C6-E101-AFF3-A7121727F756}"/>
              </a:ext>
            </a:extLst>
          </p:cNvPr>
          <p:cNvCxnSpPr>
            <a:cxnSpLocks/>
          </p:cNvCxnSpPr>
          <p:nvPr/>
        </p:nvCxnSpPr>
        <p:spPr>
          <a:xfrm>
            <a:off x="3329290" y="4017214"/>
            <a:ext cx="0" cy="299147"/>
          </a:xfrm>
          <a:prstGeom prst="line">
            <a:avLst/>
          </a:prstGeom>
          <a:ln w="57150">
            <a:solidFill>
              <a:srgbClr val="FF0D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550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20">
            <a:extLst>
              <a:ext uri="{FF2B5EF4-FFF2-40B4-BE49-F238E27FC236}">
                <a16:creationId xmlns:a16="http://schemas.microsoft.com/office/drawing/2014/main" id="{5B5A3326-4974-3583-F592-35FE0DE5A075}"/>
              </a:ext>
            </a:extLst>
          </p:cNvPr>
          <p:cNvSpPr/>
          <p:nvPr/>
        </p:nvSpPr>
        <p:spPr>
          <a:xfrm>
            <a:off x="8965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1242582-D11B-19F9-2EB3-C58BBF1D651D}"/>
              </a:ext>
            </a:extLst>
          </p:cNvPr>
          <p:cNvSpPr txBox="1"/>
          <p:nvPr/>
        </p:nvSpPr>
        <p:spPr>
          <a:xfrm>
            <a:off x="1116556" y="2626785"/>
            <a:ext cx="8782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solidFill>
                  <a:schemeClr val="bg2"/>
                </a:solidFill>
                <a:latin typeface="Neo Sans Std" panose="020B0504030504040204" pitchFamily="34" charset="0"/>
              </a:rPr>
              <a:t>The VVA starts recording and </a:t>
            </a:r>
            <a:r>
              <a:rPr lang="it-IT" sz="24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sending</a:t>
            </a:r>
            <a:r>
              <a:rPr lang="it-IT" sz="2400" b="1" dirty="0">
                <a:solidFill>
                  <a:schemeClr val="bg2"/>
                </a:solidFill>
                <a:latin typeface="Neo Sans Std" panose="020B0504030504040204" pitchFamily="34" charset="0"/>
              </a:rPr>
              <a:t> information to the cloud in order to </a:t>
            </a:r>
            <a:r>
              <a:rPr lang="it-IT" sz="24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answer</a:t>
            </a:r>
            <a:r>
              <a:rPr lang="it-IT" sz="2400" b="1" dirty="0">
                <a:solidFill>
                  <a:schemeClr val="bg2"/>
                </a:solidFill>
                <a:latin typeface="Neo Sans Std" panose="020B0504030504040204" pitchFamily="34" charset="0"/>
              </a:rPr>
              <a:t> to a </a:t>
            </a:r>
            <a:r>
              <a:rPr lang="it-IT" sz="24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request</a:t>
            </a:r>
            <a:endParaRPr lang="it-IT" sz="2400" b="1" dirty="0">
              <a:solidFill>
                <a:schemeClr val="bg2"/>
              </a:solidFill>
              <a:latin typeface="Neo Sans Std" panose="020B0504030504040204" pitchFamily="34" charset="0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54C4F9D-4B85-20B6-EB29-676C58A1BA5A}"/>
              </a:ext>
            </a:extLst>
          </p:cNvPr>
          <p:cNvSpPr txBox="1"/>
          <p:nvPr/>
        </p:nvSpPr>
        <p:spPr>
          <a:xfrm>
            <a:off x="1116556" y="3582743"/>
            <a:ext cx="108489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When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the server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stops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the smart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assistant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due to double-checking,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where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does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the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recorded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conversation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end up?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5D14FC5-C86C-F8D9-5271-235EDDD4960E}"/>
              </a:ext>
            </a:extLst>
          </p:cNvPr>
          <p:cNvSpPr txBox="1"/>
          <p:nvPr/>
        </p:nvSpPr>
        <p:spPr>
          <a:xfrm>
            <a:off x="2545321" y="509888"/>
            <a:ext cx="7119287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4000" b="1" dirty="0" err="1">
                <a:solidFill>
                  <a:schemeClr val="bg1"/>
                </a:solidFill>
                <a:latin typeface="Neo Sans Std"/>
              </a:rPr>
              <a:t>Unintentional</a:t>
            </a:r>
            <a:r>
              <a:rPr lang="it-IT" sz="4000" b="1" dirty="0">
                <a:solidFill>
                  <a:schemeClr val="bg1"/>
                </a:solidFill>
                <a:latin typeface="Neo Sans Std"/>
              </a:rPr>
              <a:t> </a:t>
            </a:r>
            <a:r>
              <a:rPr lang="it-IT" sz="4000" b="1" dirty="0" err="1">
                <a:solidFill>
                  <a:schemeClr val="bg1"/>
                </a:solidFill>
                <a:latin typeface="Neo Sans Std"/>
              </a:rPr>
              <a:t>Activation</a:t>
            </a:r>
            <a:endParaRPr lang="it-IT" sz="4000" b="1" dirty="0">
              <a:solidFill>
                <a:schemeClr val="bg1"/>
              </a:solidFill>
              <a:latin typeface="Neo Sans Std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068D350-610C-FDCF-2B68-39A171426470}"/>
              </a:ext>
            </a:extLst>
          </p:cNvPr>
          <p:cNvSpPr txBox="1"/>
          <p:nvPr/>
        </p:nvSpPr>
        <p:spPr>
          <a:xfrm>
            <a:off x="1116556" y="4538701"/>
            <a:ext cx="95347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How long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does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the VVA record continue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until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the server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intervention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?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8BFD230-9FDE-B1A7-2AEF-D3DB56EAD3E5}"/>
              </a:ext>
            </a:extLst>
          </p:cNvPr>
          <p:cNvSpPr txBox="1"/>
          <p:nvPr/>
        </p:nvSpPr>
        <p:spPr>
          <a:xfrm>
            <a:off x="1116556" y="1670827"/>
            <a:ext cx="995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Occurs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when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the smart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assistant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detects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the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wake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word,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even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if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no one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said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it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pic>
        <p:nvPicPr>
          <p:cNvPr id="3" name="Immagine 2" descr="Immagine che contiene Carattere, simbolo, Elementi grafici, logo&#10;&#10;Descrizione generata automaticamente">
            <a:extLst>
              <a:ext uri="{FF2B5EF4-FFF2-40B4-BE49-F238E27FC236}">
                <a16:creationId xmlns:a16="http://schemas.microsoft.com/office/drawing/2014/main" id="{4B5F9E3E-887C-4836-8DA2-13FF8EA53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418" y="427244"/>
            <a:ext cx="876419" cy="87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380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79FF092-374B-2A67-1F0E-7BAE44452549}"/>
              </a:ext>
            </a:extLst>
          </p:cNvPr>
          <p:cNvSpPr/>
          <p:nvPr/>
        </p:nvSpPr>
        <p:spPr>
          <a:xfrm>
            <a:off x="0" y="0"/>
            <a:ext cx="12192000" cy="685526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134230C-9F4E-5907-E6E2-C96CFDAE9005}"/>
              </a:ext>
            </a:extLst>
          </p:cNvPr>
          <p:cNvSpPr txBox="1"/>
          <p:nvPr/>
        </p:nvSpPr>
        <p:spPr>
          <a:xfrm>
            <a:off x="1606881" y="5100111"/>
            <a:ext cx="989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DPIA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FF91099-221C-9CC3-A079-82FB2E2AA755}"/>
              </a:ext>
            </a:extLst>
          </p:cNvPr>
          <p:cNvSpPr txBox="1"/>
          <p:nvPr/>
        </p:nvSpPr>
        <p:spPr>
          <a:xfrm>
            <a:off x="4997588" y="5126561"/>
            <a:ext cx="2368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 err="1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Violations</a:t>
            </a:r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 of GDPR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D07126B-9BB1-3E44-C045-BE2FBAC3CE9A}"/>
              </a:ext>
            </a:extLst>
          </p:cNvPr>
          <p:cNvSpPr txBox="1"/>
          <p:nvPr/>
        </p:nvSpPr>
        <p:spPr>
          <a:xfrm>
            <a:off x="9570257" y="2964018"/>
            <a:ext cx="1239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Alexa &amp; Privacy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1D4F5AC4-5081-7B0E-5BD5-5F6A824D148A}"/>
              </a:ext>
            </a:extLst>
          </p:cNvPr>
          <p:cNvSpPr txBox="1"/>
          <p:nvPr/>
        </p:nvSpPr>
        <p:spPr>
          <a:xfrm>
            <a:off x="9449709" y="5100111"/>
            <a:ext cx="1480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 err="1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Possible</a:t>
            </a:r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 Solutions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37A9122-DBC9-E6F7-26BD-E0FF983BBBCF}"/>
              </a:ext>
            </a:extLst>
          </p:cNvPr>
          <p:cNvSpPr txBox="1"/>
          <p:nvPr/>
        </p:nvSpPr>
        <p:spPr>
          <a:xfrm>
            <a:off x="3819102" y="267046"/>
            <a:ext cx="455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Table</a:t>
            </a:r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 of </a:t>
            </a:r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Contents</a:t>
            </a:r>
            <a:endParaRPr lang="it-IT" sz="4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CC1D85A5-07A4-B7A0-3366-261087B46798}"/>
              </a:ext>
            </a:extLst>
          </p:cNvPr>
          <p:cNvGrpSpPr/>
          <p:nvPr/>
        </p:nvGrpSpPr>
        <p:grpSpPr>
          <a:xfrm>
            <a:off x="5601105" y="1872103"/>
            <a:ext cx="989788" cy="1086456"/>
            <a:chOff x="5601105" y="1872103"/>
            <a:chExt cx="989788" cy="108645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4E940A52-3718-317F-5F78-7999BAF19B40}"/>
                </a:ext>
              </a:extLst>
            </p:cNvPr>
            <p:cNvSpPr/>
            <p:nvPr/>
          </p:nvSpPr>
          <p:spPr>
            <a:xfrm>
              <a:off x="5601105" y="1872103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7" name="Immagine 6" descr="Immagine che contiene logo, simbolo, Carattere, Elementi grafici&#10;&#10;Descrizione generata automaticamente">
              <a:extLst>
                <a:ext uri="{FF2B5EF4-FFF2-40B4-BE49-F238E27FC236}">
                  <a16:creationId xmlns:a16="http://schemas.microsoft.com/office/drawing/2014/main" id="{A6D20C96-9FF8-9773-2554-0243D1DDC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943" y="2095276"/>
              <a:ext cx="640110" cy="640110"/>
            </a:xfrm>
            <a:prstGeom prst="rect">
              <a:avLst/>
            </a:prstGeom>
          </p:spPr>
        </p:pic>
      </p:grpSp>
      <p:sp>
        <p:nvSpPr>
          <p:cNvPr id="14" name="Freeform 5">
            <a:extLst>
              <a:ext uri="{FF2B5EF4-FFF2-40B4-BE49-F238E27FC236}">
                <a16:creationId xmlns:a16="http://schemas.microsoft.com/office/drawing/2014/main" id="{4B794181-D643-C43A-E24D-A5593B38716F}"/>
              </a:ext>
            </a:extLst>
          </p:cNvPr>
          <p:cNvSpPr/>
          <p:nvPr/>
        </p:nvSpPr>
        <p:spPr>
          <a:xfrm>
            <a:off x="9704038" y="1872103"/>
            <a:ext cx="989788" cy="1086456"/>
          </a:xfrm>
          <a:custGeom>
            <a:avLst/>
            <a:gdLst>
              <a:gd name="connsiteX0" fmla="*/ 1612423 w 1612281"/>
              <a:gd name="connsiteY0" fmla="*/ 1198981 h 1769747"/>
              <a:gd name="connsiteX1" fmla="*/ 1483129 w 1612281"/>
              <a:gd name="connsiteY1" fmla="*/ 1423165 h 1769747"/>
              <a:gd name="connsiteX2" fmla="*/ 936966 w 1612281"/>
              <a:gd name="connsiteY2" fmla="*/ 1738895 h 1769747"/>
              <a:gd name="connsiteX3" fmla="*/ 677807 w 1612281"/>
              <a:gd name="connsiteY3" fmla="*/ 1739218 h 1769747"/>
              <a:gd name="connsiteX4" fmla="*/ 130825 w 1612281"/>
              <a:gd name="connsiteY4" fmla="*/ 1424906 h 1769747"/>
              <a:gd name="connsiteX5" fmla="*/ 951 w 1612281"/>
              <a:gd name="connsiteY5" fmla="*/ 1201017 h 1769747"/>
              <a:gd name="connsiteX6" fmla="*/ 142 w 1612281"/>
              <a:gd name="connsiteY6" fmla="*/ 571003 h 1769747"/>
              <a:gd name="connsiteX7" fmla="*/ 129426 w 1612281"/>
              <a:gd name="connsiteY7" fmla="*/ 346791 h 1769747"/>
              <a:gd name="connsiteX8" fmla="*/ 675637 w 1612281"/>
              <a:gd name="connsiteY8" fmla="*/ 31089 h 1769747"/>
              <a:gd name="connsiteX9" fmla="*/ 934795 w 1612281"/>
              <a:gd name="connsiteY9" fmla="*/ 30756 h 1769747"/>
              <a:gd name="connsiteX10" fmla="*/ 1481777 w 1612281"/>
              <a:gd name="connsiteY10" fmla="*/ 345078 h 1769747"/>
              <a:gd name="connsiteX11" fmla="*/ 1611642 w 1612281"/>
              <a:gd name="connsiteY11" fmla="*/ 568920 h 176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12281" h="1769747">
                <a:moveTo>
                  <a:pt x="1612423" y="1198981"/>
                </a:moveTo>
                <a:cubicBezTo>
                  <a:pt x="1612527" y="1281127"/>
                  <a:pt x="1554350" y="1382025"/>
                  <a:pt x="1483129" y="1423165"/>
                </a:cubicBezTo>
                <a:lnTo>
                  <a:pt x="936966" y="1738895"/>
                </a:lnTo>
                <a:cubicBezTo>
                  <a:pt x="865736" y="1780063"/>
                  <a:pt x="749132" y="1780187"/>
                  <a:pt x="677807" y="1739218"/>
                </a:cubicBezTo>
                <a:lnTo>
                  <a:pt x="130825" y="1424906"/>
                </a:lnTo>
                <a:cubicBezTo>
                  <a:pt x="59500" y="1383909"/>
                  <a:pt x="1056" y="1283144"/>
                  <a:pt x="951" y="1201017"/>
                </a:cubicBezTo>
                <a:lnTo>
                  <a:pt x="142" y="571003"/>
                </a:lnTo>
                <a:cubicBezTo>
                  <a:pt x="46" y="488838"/>
                  <a:pt x="58215" y="387968"/>
                  <a:pt x="129426" y="346791"/>
                </a:cubicBezTo>
                <a:lnTo>
                  <a:pt x="675637" y="31089"/>
                </a:lnTo>
                <a:cubicBezTo>
                  <a:pt x="746857" y="-10088"/>
                  <a:pt x="863470" y="-10231"/>
                  <a:pt x="934795" y="30756"/>
                </a:cubicBezTo>
                <a:lnTo>
                  <a:pt x="1481777" y="345078"/>
                </a:lnTo>
                <a:cubicBezTo>
                  <a:pt x="1553102" y="386046"/>
                  <a:pt x="1611547" y="486793"/>
                  <a:pt x="1611642" y="568920"/>
                </a:cubicBezTo>
                <a:close/>
              </a:path>
            </a:pathLst>
          </a:custGeom>
          <a:solidFill>
            <a:srgbClr val="222E3E"/>
          </a:solidFill>
          <a:ln w="9511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IT"/>
          </a:p>
        </p:txBody>
      </p:sp>
      <p:pic>
        <p:nvPicPr>
          <p:cNvPr id="10" name="Immagine 9" descr="Immagine che contiene simbolo, logo, Carattere, Elementi grafici&#10;&#10;Descrizione generata automaticamente">
            <a:extLst>
              <a:ext uri="{FF2B5EF4-FFF2-40B4-BE49-F238E27FC236}">
                <a16:creationId xmlns:a16="http://schemas.microsoft.com/office/drawing/2014/main" id="{838A6D04-B477-7861-C856-163D069E2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876" y="2092351"/>
            <a:ext cx="640111" cy="640111"/>
          </a:xfrm>
          <a:prstGeom prst="rect">
            <a:avLst/>
          </a:prstGeom>
        </p:spPr>
      </p:pic>
      <p:grpSp>
        <p:nvGrpSpPr>
          <p:cNvPr id="31" name="Gruppo 30">
            <a:extLst>
              <a:ext uri="{FF2B5EF4-FFF2-40B4-BE49-F238E27FC236}">
                <a16:creationId xmlns:a16="http://schemas.microsoft.com/office/drawing/2014/main" id="{7E610907-EA13-8489-0E47-34CAEA020610}"/>
              </a:ext>
            </a:extLst>
          </p:cNvPr>
          <p:cNvGrpSpPr/>
          <p:nvPr/>
        </p:nvGrpSpPr>
        <p:grpSpPr>
          <a:xfrm>
            <a:off x="9704038" y="4040105"/>
            <a:ext cx="989788" cy="1086456"/>
            <a:chOff x="9704038" y="4040105"/>
            <a:chExt cx="989788" cy="108645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E85D2035-9278-423D-E4A3-F7FC7E331453}"/>
                </a:ext>
              </a:extLst>
            </p:cNvPr>
            <p:cNvSpPr/>
            <p:nvPr/>
          </p:nvSpPr>
          <p:spPr>
            <a:xfrm>
              <a:off x="9704038" y="4040105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28" name="Immagine 27" descr="Immagine che contiene Elementi grafici, Carattere, simbolo, logo&#10;&#10;Descrizione generata automaticamente">
              <a:extLst>
                <a:ext uri="{FF2B5EF4-FFF2-40B4-BE49-F238E27FC236}">
                  <a16:creationId xmlns:a16="http://schemas.microsoft.com/office/drawing/2014/main" id="{885A62B1-AA7B-4D4A-EFF2-37CA4F47E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9891" y="4190551"/>
              <a:ext cx="640111" cy="640111"/>
            </a:xfrm>
            <a:prstGeom prst="rect">
              <a:avLst/>
            </a:prstGeom>
          </p:spPr>
        </p:pic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1D77F8E8-291C-EDA7-1473-F4FBB1BF5C66}"/>
              </a:ext>
            </a:extLst>
          </p:cNvPr>
          <p:cNvGrpSpPr/>
          <p:nvPr/>
        </p:nvGrpSpPr>
        <p:grpSpPr>
          <a:xfrm>
            <a:off x="1608116" y="1872103"/>
            <a:ext cx="989788" cy="1086456"/>
            <a:chOff x="1608116" y="1872103"/>
            <a:chExt cx="989788" cy="108645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6BFDEC2A-1A38-1E91-881C-0C87B4A3EE5F}"/>
                </a:ext>
              </a:extLst>
            </p:cNvPr>
            <p:cNvSpPr/>
            <p:nvPr/>
          </p:nvSpPr>
          <p:spPr>
            <a:xfrm>
              <a:off x="1608116" y="1872103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>
                <a:solidFill>
                  <a:schemeClr val="bg1"/>
                </a:solidFill>
              </a:endParaRPr>
            </a:p>
          </p:txBody>
        </p:sp>
        <p:pic>
          <p:nvPicPr>
            <p:cNvPr id="8" name="Immagine 7" descr="Immagine che contiene simbolo, schermata, Carattere, logo&#10;&#10;Descrizione generata automaticamente">
              <a:extLst>
                <a:ext uri="{FF2B5EF4-FFF2-40B4-BE49-F238E27FC236}">
                  <a16:creationId xmlns:a16="http://schemas.microsoft.com/office/drawing/2014/main" id="{71F876E8-D63E-B5D2-5721-883EF3181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2095276"/>
              <a:ext cx="640111" cy="640111"/>
            </a:xfrm>
            <a:prstGeom prst="rect">
              <a:avLst/>
            </a:prstGeom>
          </p:spPr>
        </p:pic>
      </p:grp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E199EC8-6D2F-4648-83DB-541250E8A99C}"/>
              </a:ext>
            </a:extLst>
          </p:cNvPr>
          <p:cNvSpPr txBox="1"/>
          <p:nvPr/>
        </p:nvSpPr>
        <p:spPr>
          <a:xfrm>
            <a:off x="1104966" y="2959471"/>
            <a:ext cx="19551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How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VVAs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work</a:t>
            </a:r>
          </a:p>
        </p:txBody>
      </p: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FE15EFCD-D790-A135-04C6-558E4B2EE372}"/>
              </a:ext>
            </a:extLst>
          </p:cNvPr>
          <p:cNvGrpSpPr/>
          <p:nvPr/>
        </p:nvGrpSpPr>
        <p:grpSpPr>
          <a:xfrm>
            <a:off x="1608114" y="4040561"/>
            <a:ext cx="989788" cy="1086456"/>
            <a:chOff x="1608114" y="4040561"/>
            <a:chExt cx="989788" cy="1086456"/>
          </a:xfrm>
        </p:grpSpPr>
        <p:sp>
          <p:nvSpPr>
            <p:cNvPr id="2" name="Freeform 5">
              <a:extLst>
                <a:ext uri="{FF2B5EF4-FFF2-40B4-BE49-F238E27FC236}">
                  <a16:creationId xmlns:a16="http://schemas.microsoft.com/office/drawing/2014/main" id="{017B18DE-A396-89FA-6CB5-F09FF29C0C78}"/>
                </a:ext>
              </a:extLst>
            </p:cNvPr>
            <p:cNvSpPr/>
            <p:nvPr/>
          </p:nvSpPr>
          <p:spPr>
            <a:xfrm>
              <a:off x="1608114" y="4040561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12" name="Immagine 11" descr="Immagine che contiene Carattere, simbolo, Elementi grafici, design&#10;&#10;Descrizione generata automaticamente">
              <a:extLst>
                <a:ext uri="{FF2B5EF4-FFF2-40B4-BE49-F238E27FC236}">
                  <a16:creationId xmlns:a16="http://schemas.microsoft.com/office/drawing/2014/main" id="{4F9DFE00-FAC0-0DA6-2E1C-70A6D0317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4261506"/>
              <a:ext cx="640111" cy="640111"/>
            </a:xfrm>
            <a:prstGeom prst="rect">
              <a:avLst/>
            </a:prstGeom>
          </p:spPr>
        </p:pic>
      </p:grp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915C9793-8684-92AB-BB7D-77C84D6B35A1}"/>
              </a:ext>
            </a:extLst>
          </p:cNvPr>
          <p:cNvGrpSpPr/>
          <p:nvPr/>
        </p:nvGrpSpPr>
        <p:grpSpPr>
          <a:xfrm>
            <a:off x="5601105" y="4040105"/>
            <a:ext cx="989788" cy="1086456"/>
            <a:chOff x="5601105" y="4040105"/>
            <a:chExt cx="989788" cy="1086456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488CC35A-43D8-B141-980D-F09713659B42}"/>
                </a:ext>
              </a:extLst>
            </p:cNvPr>
            <p:cNvSpPr/>
            <p:nvPr/>
          </p:nvSpPr>
          <p:spPr>
            <a:xfrm>
              <a:off x="5601105" y="4040105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32" name="Immagine 31" descr="Immagine che contiene Carattere, Elementi grafici, simbolo, logo&#10;&#10;Descrizione generata automaticamente">
              <a:extLst>
                <a:ext uri="{FF2B5EF4-FFF2-40B4-BE49-F238E27FC236}">
                  <a16:creationId xmlns:a16="http://schemas.microsoft.com/office/drawing/2014/main" id="{D71C9C73-F96C-F346-DA22-AB93A97BE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3396" y="4261505"/>
              <a:ext cx="640111" cy="640111"/>
            </a:xfrm>
            <a:prstGeom prst="rect">
              <a:avLst/>
            </a:prstGeom>
          </p:spPr>
        </p:pic>
      </p:grp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03A2BB81-CCA7-1C02-FE61-96BCE9758773}"/>
              </a:ext>
            </a:extLst>
          </p:cNvPr>
          <p:cNvSpPr txBox="1"/>
          <p:nvPr/>
        </p:nvSpPr>
        <p:spPr>
          <a:xfrm>
            <a:off x="4997588" y="2954043"/>
            <a:ext cx="21303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Personal Data &amp; GDPR</a:t>
            </a:r>
          </a:p>
        </p:txBody>
      </p:sp>
    </p:spTree>
    <p:extLst>
      <p:ext uri="{BB962C8B-B14F-4D97-AF65-F5344CB8AC3E}">
        <p14:creationId xmlns:p14="http://schemas.microsoft.com/office/powerpoint/2010/main" val="4247329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tangolo 21">
            <a:extLst>
              <a:ext uri="{FF2B5EF4-FFF2-40B4-BE49-F238E27FC236}">
                <a16:creationId xmlns:a16="http://schemas.microsoft.com/office/drawing/2014/main" id="{D91F2D00-27DF-29D8-E67A-63B287D43CF5}"/>
              </a:ext>
            </a:extLst>
          </p:cNvPr>
          <p:cNvSpPr/>
          <p:nvPr/>
        </p:nvSpPr>
        <p:spPr>
          <a:xfrm>
            <a:off x="0" y="1925139"/>
            <a:ext cx="12192000" cy="4932862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73C389B0-0EFF-B94D-3D3F-1220105D0228}"/>
              </a:ext>
            </a:extLst>
          </p:cNvPr>
          <p:cNvSpPr/>
          <p:nvPr/>
        </p:nvSpPr>
        <p:spPr>
          <a:xfrm>
            <a:off x="0" y="1016152"/>
            <a:ext cx="4019106" cy="1109892"/>
          </a:xfrm>
          <a:prstGeom prst="roundRect">
            <a:avLst/>
          </a:prstGeom>
          <a:solidFill>
            <a:srgbClr val="146EB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E5742B8-2D8B-E504-6B7E-6CBC6227C987}"/>
              </a:ext>
            </a:extLst>
          </p:cNvPr>
          <p:cNvSpPr txBox="1"/>
          <p:nvPr/>
        </p:nvSpPr>
        <p:spPr>
          <a:xfrm>
            <a:off x="981571" y="1161189"/>
            <a:ext cx="2397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Purpose</a:t>
            </a:r>
            <a:endParaRPr lang="it-IT" sz="32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4F998F3-C723-D74B-DDFB-FE708BF70642}"/>
              </a:ext>
            </a:extLst>
          </p:cNvPr>
          <p:cNvSpPr txBox="1"/>
          <p:nvPr/>
        </p:nvSpPr>
        <p:spPr>
          <a:xfrm>
            <a:off x="9234252" y="1131941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Mandatory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67C6474-F35F-44BC-2735-101629588D88}"/>
              </a:ext>
            </a:extLst>
          </p:cNvPr>
          <p:cNvSpPr txBox="1"/>
          <p:nvPr/>
        </p:nvSpPr>
        <p:spPr>
          <a:xfrm>
            <a:off x="4739724" y="1152192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Possible</a:t>
            </a:r>
            <a:r>
              <a:rPr lang="it-IT" sz="4000" b="1" dirty="0">
                <a:latin typeface="Neo Sans Std" panose="020B0504030504040204" pitchFamily="34" charset="0"/>
              </a:rPr>
              <a:t> risks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pic>
        <p:nvPicPr>
          <p:cNvPr id="19" name="Immagine 18" descr="Immagine che contiene cerchio, simbolo, Elementi grafici, bianco e nero&#10;&#10;Descrizione generata automaticamente">
            <a:extLst>
              <a:ext uri="{FF2B5EF4-FFF2-40B4-BE49-F238E27FC236}">
                <a16:creationId xmlns:a16="http://schemas.microsoft.com/office/drawing/2014/main" id="{BEE4F5A9-8470-2559-BE8E-CEFF4C69D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29" y="1238223"/>
            <a:ext cx="657019" cy="657019"/>
          </a:xfrm>
          <a:prstGeom prst="rect">
            <a:avLst/>
          </a:prstGeom>
        </p:spPr>
      </p:pic>
      <p:pic>
        <p:nvPicPr>
          <p:cNvPr id="21" name="Immagine 20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86A3C8E-347D-3569-D16B-12BD138F91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755" y="1167346"/>
            <a:ext cx="710281" cy="710281"/>
          </a:xfrm>
          <a:prstGeom prst="rect">
            <a:avLst/>
          </a:prstGeom>
        </p:spPr>
      </p:pic>
      <p:pic>
        <p:nvPicPr>
          <p:cNvPr id="23" name="Immagine 2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0523A60-7427-325E-8942-4AED831E3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233" y="1184597"/>
            <a:ext cx="657019" cy="657019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3779F23-BDEE-6853-5246-A17738959D04}"/>
              </a:ext>
            </a:extLst>
          </p:cNvPr>
          <p:cNvSpPr txBox="1"/>
          <p:nvPr/>
        </p:nvSpPr>
        <p:spPr>
          <a:xfrm>
            <a:off x="2106734" y="644542"/>
            <a:ext cx="1029092" cy="369332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Art. 35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EB0FE2D-FFE5-0412-9497-224CD578A536}"/>
              </a:ext>
            </a:extLst>
          </p:cNvPr>
          <p:cNvSpPr txBox="1"/>
          <p:nvPr/>
        </p:nvSpPr>
        <p:spPr>
          <a:xfrm>
            <a:off x="1130264" y="167085"/>
            <a:ext cx="16780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latin typeface="Neo Sans Std" panose="020B0504030504040204" pitchFamily="34" charset="0"/>
              </a:rPr>
              <a:t>DPIA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B1BBB122-99C5-91DC-1E11-B3B20E5328EE}"/>
              </a:ext>
            </a:extLst>
          </p:cNvPr>
          <p:cNvGrpSpPr/>
          <p:nvPr/>
        </p:nvGrpSpPr>
        <p:grpSpPr>
          <a:xfrm>
            <a:off x="300038" y="136977"/>
            <a:ext cx="772599" cy="757126"/>
            <a:chOff x="1608114" y="4040561"/>
            <a:chExt cx="989788" cy="108645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F9CD5376-83AA-E07F-9DB8-4EC086FEAC15}"/>
                </a:ext>
              </a:extLst>
            </p:cNvPr>
            <p:cNvSpPr/>
            <p:nvPr/>
          </p:nvSpPr>
          <p:spPr>
            <a:xfrm>
              <a:off x="1608114" y="4040561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24" name="Immagine 23" descr="Immagine che contiene Carattere, simbolo, Elementi grafici, design&#10;&#10;Descrizione generata automaticamente">
              <a:extLst>
                <a:ext uri="{FF2B5EF4-FFF2-40B4-BE49-F238E27FC236}">
                  <a16:creationId xmlns:a16="http://schemas.microsoft.com/office/drawing/2014/main" id="{D4EB343C-ACBA-F3B4-1987-73E3FB7BF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4261506"/>
              <a:ext cx="640111" cy="640111"/>
            </a:xfrm>
            <a:prstGeom prst="rect">
              <a:avLst/>
            </a:prstGeom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9FBA716-06E2-0A70-9383-81207A4FAFE9}"/>
              </a:ext>
            </a:extLst>
          </p:cNvPr>
          <p:cNvSpPr txBox="1"/>
          <p:nvPr/>
        </p:nvSpPr>
        <p:spPr>
          <a:xfrm>
            <a:off x="227683" y="2332206"/>
            <a:ext cx="11981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Neo Sans Std" panose="020B0504030504040204" pitchFamily="34" charset="0"/>
              </a:rPr>
              <a:t>An assessment that analyzes and identifies privacy risks associated with the processing of personal data</a:t>
            </a:r>
            <a:endParaRPr lang="it-IT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F45575E-CF1A-D547-BEE3-CE58C38E78D7}"/>
              </a:ext>
            </a:extLst>
          </p:cNvPr>
          <p:cNvSpPr txBox="1"/>
          <p:nvPr/>
        </p:nvSpPr>
        <p:spPr>
          <a:xfrm>
            <a:off x="227683" y="2016471"/>
            <a:ext cx="1900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What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is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it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?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6199F708-59E8-B512-874B-00CA63EEAE46}"/>
              </a:ext>
            </a:extLst>
          </p:cNvPr>
          <p:cNvSpPr txBox="1"/>
          <p:nvPr/>
        </p:nvSpPr>
        <p:spPr>
          <a:xfrm>
            <a:off x="2726861" y="3802649"/>
            <a:ext cx="640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Data Processing can </a:t>
            </a:r>
            <a:r>
              <a:rPr lang="it-IT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happen</a:t>
            </a:r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 in </a:t>
            </a:r>
            <a:r>
              <a:rPr lang="it-IT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different</a:t>
            </a:r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occasions</a:t>
            </a:r>
            <a:endParaRPr lang="it-IT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2D363E09-A181-4868-4B7F-FED84F1AD308}"/>
              </a:ext>
            </a:extLst>
          </p:cNvPr>
          <p:cNvSpPr txBox="1"/>
          <p:nvPr/>
        </p:nvSpPr>
        <p:spPr>
          <a:xfrm>
            <a:off x="2422752" y="2895852"/>
            <a:ext cx="677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Preliminary </a:t>
            </a:r>
            <a:r>
              <a:rPr lang="it-IT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evaulation</a:t>
            </a:r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 (by default &amp; design)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A59AA8C3-D259-5796-3D41-029DAA6BA115}"/>
              </a:ext>
            </a:extLst>
          </p:cNvPr>
          <p:cNvSpPr txBox="1"/>
          <p:nvPr/>
        </p:nvSpPr>
        <p:spPr>
          <a:xfrm>
            <a:off x="3002228" y="4709446"/>
            <a:ext cx="5603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Neo Sans Std" panose="020B0504030504040204" pitchFamily="34" charset="0"/>
              </a:rPr>
              <a:t>The processing will be carried out in accordance with the GDPR</a:t>
            </a:r>
            <a:endParaRPr lang="it-IT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0AA1E5F5-2351-5CFA-3A6F-DD4B5C5C1CB5}"/>
              </a:ext>
            </a:extLst>
          </p:cNvPr>
          <p:cNvSpPr txBox="1"/>
          <p:nvPr/>
        </p:nvSpPr>
        <p:spPr>
          <a:xfrm>
            <a:off x="3390163" y="5893242"/>
            <a:ext cx="4751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Neo Sans Std" panose="020B0504030504040204" pitchFamily="34" charset="0"/>
              </a:rPr>
              <a:t>Discover risks, impact and likelihood of their occurrence</a:t>
            </a:r>
            <a:endParaRPr lang="it-IT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cxnSp>
        <p:nvCxnSpPr>
          <p:cNvPr id="40" name="Straight Arrow Connector 12">
            <a:extLst>
              <a:ext uri="{FF2B5EF4-FFF2-40B4-BE49-F238E27FC236}">
                <a16:creationId xmlns:a16="http://schemas.microsoft.com/office/drawing/2014/main" id="{E45FBDC5-CBF9-5A4D-0590-F052F031204D}"/>
              </a:ext>
            </a:extLst>
          </p:cNvPr>
          <p:cNvCxnSpPr>
            <a:cxnSpLocks/>
          </p:cNvCxnSpPr>
          <p:nvPr/>
        </p:nvCxnSpPr>
        <p:spPr>
          <a:xfrm>
            <a:off x="5807359" y="3348677"/>
            <a:ext cx="0" cy="452314"/>
          </a:xfrm>
          <a:prstGeom prst="straightConnector1">
            <a:avLst/>
          </a:prstGeom>
          <a:ln w="92075" cap="rnd">
            <a:solidFill>
              <a:schemeClr val="bg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12">
            <a:extLst>
              <a:ext uri="{FF2B5EF4-FFF2-40B4-BE49-F238E27FC236}">
                <a16:creationId xmlns:a16="http://schemas.microsoft.com/office/drawing/2014/main" id="{52D5ED56-C3EE-960F-7B5A-7E5365A2F0FC}"/>
              </a:ext>
            </a:extLst>
          </p:cNvPr>
          <p:cNvCxnSpPr>
            <a:cxnSpLocks/>
          </p:cNvCxnSpPr>
          <p:nvPr/>
        </p:nvCxnSpPr>
        <p:spPr>
          <a:xfrm>
            <a:off x="5819737" y="4311247"/>
            <a:ext cx="0" cy="452314"/>
          </a:xfrm>
          <a:prstGeom prst="straightConnector1">
            <a:avLst/>
          </a:prstGeom>
          <a:ln w="92075" cap="rnd">
            <a:solidFill>
              <a:schemeClr val="bg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12">
            <a:extLst>
              <a:ext uri="{FF2B5EF4-FFF2-40B4-BE49-F238E27FC236}">
                <a16:creationId xmlns:a16="http://schemas.microsoft.com/office/drawing/2014/main" id="{031012E1-C895-D6CF-DE59-C0FEE40C3A45}"/>
              </a:ext>
            </a:extLst>
          </p:cNvPr>
          <p:cNvCxnSpPr>
            <a:cxnSpLocks/>
          </p:cNvCxnSpPr>
          <p:nvPr/>
        </p:nvCxnSpPr>
        <p:spPr>
          <a:xfrm>
            <a:off x="5819737" y="5404199"/>
            <a:ext cx="0" cy="452314"/>
          </a:xfrm>
          <a:prstGeom prst="straightConnector1">
            <a:avLst/>
          </a:prstGeom>
          <a:ln w="92075" cap="rnd">
            <a:solidFill>
              <a:schemeClr val="bg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214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tangolo 21">
            <a:extLst>
              <a:ext uri="{FF2B5EF4-FFF2-40B4-BE49-F238E27FC236}">
                <a16:creationId xmlns:a16="http://schemas.microsoft.com/office/drawing/2014/main" id="{D91F2D00-27DF-29D8-E67A-63B287D43CF5}"/>
              </a:ext>
            </a:extLst>
          </p:cNvPr>
          <p:cNvSpPr/>
          <p:nvPr/>
        </p:nvSpPr>
        <p:spPr>
          <a:xfrm>
            <a:off x="0" y="1925139"/>
            <a:ext cx="12192000" cy="4932862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73C389B0-0EFF-B94D-3D3F-1220105D0228}"/>
              </a:ext>
            </a:extLst>
          </p:cNvPr>
          <p:cNvSpPr/>
          <p:nvPr/>
        </p:nvSpPr>
        <p:spPr>
          <a:xfrm>
            <a:off x="0" y="1016152"/>
            <a:ext cx="4019106" cy="1109892"/>
          </a:xfrm>
          <a:prstGeom prst="roundRect">
            <a:avLst/>
          </a:prstGeom>
          <a:solidFill>
            <a:srgbClr val="146EB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E5742B8-2D8B-E504-6B7E-6CBC6227C987}"/>
              </a:ext>
            </a:extLst>
          </p:cNvPr>
          <p:cNvSpPr txBox="1"/>
          <p:nvPr/>
        </p:nvSpPr>
        <p:spPr>
          <a:xfrm>
            <a:off x="981571" y="1161189"/>
            <a:ext cx="2397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Purpose</a:t>
            </a:r>
            <a:endParaRPr lang="it-IT" sz="32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4F998F3-C723-D74B-DDFB-FE708BF70642}"/>
              </a:ext>
            </a:extLst>
          </p:cNvPr>
          <p:cNvSpPr txBox="1"/>
          <p:nvPr/>
        </p:nvSpPr>
        <p:spPr>
          <a:xfrm>
            <a:off x="9234252" y="1131941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Mandatory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67C6474-F35F-44BC-2735-101629588D88}"/>
              </a:ext>
            </a:extLst>
          </p:cNvPr>
          <p:cNvSpPr txBox="1"/>
          <p:nvPr/>
        </p:nvSpPr>
        <p:spPr>
          <a:xfrm>
            <a:off x="4739724" y="1152192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Possible</a:t>
            </a:r>
            <a:r>
              <a:rPr lang="it-IT" sz="4000" b="1" dirty="0">
                <a:latin typeface="Neo Sans Std" panose="020B0504030504040204" pitchFamily="34" charset="0"/>
              </a:rPr>
              <a:t> risks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pic>
        <p:nvPicPr>
          <p:cNvPr id="19" name="Immagine 18" descr="Immagine che contiene cerchio, simbolo, Elementi grafici, bianco e nero&#10;&#10;Descrizione generata automaticamente">
            <a:extLst>
              <a:ext uri="{FF2B5EF4-FFF2-40B4-BE49-F238E27FC236}">
                <a16:creationId xmlns:a16="http://schemas.microsoft.com/office/drawing/2014/main" id="{BEE4F5A9-8470-2559-BE8E-CEFF4C69D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29" y="1238223"/>
            <a:ext cx="657019" cy="657019"/>
          </a:xfrm>
          <a:prstGeom prst="rect">
            <a:avLst/>
          </a:prstGeom>
        </p:spPr>
      </p:pic>
      <p:pic>
        <p:nvPicPr>
          <p:cNvPr id="21" name="Immagine 20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86A3C8E-347D-3569-D16B-12BD138F91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755" y="1167346"/>
            <a:ext cx="710281" cy="710281"/>
          </a:xfrm>
          <a:prstGeom prst="rect">
            <a:avLst/>
          </a:prstGeom>
        </p:spPr>
      </p:pic>
      <p:pic>
        <p:nvPicPr>
          <p:cNvPr id="23" name="Immagine 2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0523A60-7427-325E-8942-4AED831E3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233" y="1184597"/>
            <a:ext cx="657019" cy="657019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3779F23-BDEE-6853-5246-A17738959D04}"/>
              </a:ext>
            </a:extLst>
          </p:cNvPr>
          <p:cNvSpPr txBox="1"/>
          <p:nvPr/>
        </p:nvSpPr>
        <p:spPr>
          <a:xfrm>
            <a:off x="2106734" y="644542"/>
            <a:ext cx="1029092" cy="369332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Art. 35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EB0FE2D-FFE5-0412-9497-224CD578A536}"/>
              </a:ext>
            </a:extLst>
          </p:cNvPr>
          <p:cNvSpPr txBox="1"/>
          <p:nvPr/>
        </p:nvSpPr>
        <p:spPr>
          <a:xfrm>
            <a:off x="1130264" y="167085"/>
            <a:ext cx="16780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latin typeface="Neo Sans Std" panose="020B0504030504040204" pitchFamily="34" charset="0"/>
              </a:rPr>
              <a:t>DPIA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B1BBB122-99C5-91DC-1E11-B3B20E5328EE}"/>
              </a:ext>
            </a:extLst>
          </p:cNvPr>
          <p:cNvGrpSpPr/>
          <p:nvPr/>
        </p:nvGrpSpPr>
        <p:grpSpPr>
          <a:xfrm>
            <a:off x="300038" y="136977"/>
            <a:ext cx="772599" cy="757126"/>
            <a:chOff x="1608114" y="4040561"/>
            <a:chExt cx="989788" cy="108645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F9CD5376-83AA-E07F-9DB8-4EC086FEAC15}"/>
                </a:ext>
              </a:extLst>
            </p:cNvPr>
            <p:cNvSpPr/>
            <p:nvPr/>
          </p:nvSpPr>
          <p:spPr>
            <a:xfrm>
              <a:off x="1608114" y="4040561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24" name="Immagine 23" descr="Immagine che contiene Carattere, simbolo, Elementi grafici, design&#10;&#10;Descrizione generata automaticamente">
              <a:extLst>
                <a:ext uri="{FF2B5EF4-FFF2-40B4-BE49-F238E27FC236}">
                  <a16:creationId xmlns:a16="http://schemas.microsoft.com/office/drawing/2014/main" id="{D4EB343C-ACBA-F3B4-1987-73E3FB7BF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4261506"/>
              <a:ext cx="640111" cy="640111"/>
            </a:xfrm>
            <a:prstGeom prst="rect">
              <a:avLst/>
            </a:prstGeom>
          </p:spPr>
        </p:pic>
      </p:grp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482DE698-3763-5757-BD4D-82D5C1A4D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225739"/>
              </p:ext>
            </p:extLst>
          </p:nvPr>
        </p:nvGraphicFramePr>
        <p:xfrm>
          <a:off x="6407076" y="2732316"/>
          <a:ext cx="5678436" cy="37466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7092">
                  <a:extLst>
                    <a:ext uri="{9D8B030D-6E8A-4147-A177-3AD203B41FA5}">
                      <a16:colId xmlns:a16="http://schemas.microsoft.com/office/drawing/2014/main" val="3928522126"/>
                    </a:ext>
                  </a:extLst>
                </a:gridCol>
                <a:gridCol w="3891344">
                  <a:extLst>
                    <a:ext uri="{9D8B030D-6E8A-4147-A177-3AD203B41FA5}">
                      <a16:colId xmlns:a16="http://schemas.microsoft.com/office/drawing/2014/main" val="2913955253"/>
                    </a:ext>
                  </a:extLst>
                </a:gridCol>
              </a:tblGrid>
              <a:tr h="447836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LEVEL OF IMPACT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632195"/>
                  </a:ext>
                </a:extLst>
              </a:tr>
              <a:tr h="1104255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Low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Individuals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may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encounter</a:t>
                      </a:r>
                      <a:r>
                        <a:rPr lang="it-IT" sz="1400" dirty="0"/>
                        <a:t> a </a:t>
                      </a:r>
                      <a:r>
                        <a:rPr lang="it-IT" sz="1400" dirty="0" err="1"/>
                        <a:t>few</a:t>
                      </a:r>
                      <a:r>
                        <a:rPr lang="it-IT" sz="1400" dirty="0"/>
                        <a:t> minor </a:t>
                      </a:r>
                      <a:r>
                        <a:rPr lang="it-IT" sz="1400" dirty="0" err="1"/>
                        <a:t>inconveniences</a:t>
                      </a:r>
                      <a:r>
                        <a:rPr lang="it-IT" sz="1400" dirty="0"/>
                        <a:t>, </a:t>
                      </a:r>
                      <a:r>
                        <a:rPr lang="it-IT" sz="1400" dirty="0" err="1"/>
                        <a:t>which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they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will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overcome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without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any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problem</a:t>
                      </a:r>
                      <a:endParaRPr lang="it-I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295327"/>
                  </a:ext>
                </a:extLst>
              </a:tr>
              <a:tr h="447836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Medium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Individuals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may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encounter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significant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inconveniences</a:t>
                      </a:r>
                      <a:r>
                        <a:rPr lang="it-IT" sz="1400" dirty="0"/>
                        <a:t>, </a:t>
                      </a:r>
                      <a:r>
                        <a:rPr lang="it-IT" sz="1400" dirty="0" err="1"/>
                        <a:t>which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they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will</a:t>
                      </a:r>
                      <a:r>
                        <a:rPr lang="it-IT" sz="1400" dirty="0"/>
                        <a:t> be </a:t>
                      </a:r>
                      <a:r>
                        <a:rPr lang="it-IT" sz="1400" dirty="0" err="1"/>
                        <a:t>able</a:t>
                      </a:r>
                      <a:r>
                        <a:rPr lang="it-IT" sz="1400" dirty="0"/>
                        <a:t> to </a:t>
                      </a:r>
                      <a:r>
                        <a:rPr lang="it-IT" sz="1400" dirty="0" err="1"/>
                        <a:t>overcome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despite</a:t>
                      </a:r>
                      <a:r>
                        <a:rPr lang="it-IT" sz="1400" dirty="0"/>
                        <a:t> a </a:t>
                      </a:r>
                      <a:r>
                        <a:rPr lang="it-IT" sz="1400" dirty="0" err="1"/>
                        <a:t>few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difficulties</a:t>
                      </a:r>
                      <a:endParaRPr lang="it-IT" sz="1400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608507"/>
                  </a:ext>
                </a:extLst>
              </a:tr>
              <a:tr h="447836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High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Individuals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may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encounter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significant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consequences</a:t>
                      </a:r>
                      <a:r>
                        <a:rPr lang="it-IT" sz="1400" dirty="0"/>
                        <a:t>, </a:t>
                      </a:r>
                      <a:r>
                        <a:rPr lang="it-IT" sz="1400" dirty="0" err="1"/>
                        <a:t>which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they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should</a:t>
                      </a:r>
                      <a:r>
                        <a:rPr lang="it-IT" sz="1400" dirty="0"/>
                        <a:t> be </a:t>
                      </a:r>
                      <a:r>
                        <a:rPr lang="it-IT" sz="1400" dirty="0" err="1"/>
                        <a:t>able</a:t>
                      </a:r>
                      <a:r>
                        <a:rPr lang="it-IT" sz="1400" dirty="0"/>
                        <a:t> to </a:t>
                      </a:r>
                      <a:r>
                        <a:rPr lang="it-IT" sz="1400" dirty="0" err="1"/>
                        <a:t>overcome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albeit</a:t>
                      </a:r>
                      <a:r>
                        <a:rPr lang="it-IT" sz="1400" dirty="0"/>
                        <a:t> with </a:t>
                      </a:r>
                      <a:r>
                        <a:rPr lang="it-IT" sz="1400" dirty="0" err="1"/>
                        <a:t>serious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difficulties</a:t>
                      </a:r>
                      <a:endParaRPr lang="it-IT" sz="1400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202268"/>
                  </a:ext>
                </a:extLst>
              </a:tr>
              <a:tr h="447836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/>
                        <a:t>Very</a:t>
                      </a:r>
                      <a:r>
                        <a:rPr lang="it-IT" sz="1400" dirty="0"/>
                        <a:t> High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Individuals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which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may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encounter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significant</a:t>
                      </a:r>
                      <a:r>
                        <a:rPr lang="it-IT" sz="1400" dirty="0"/>
                        <a:t>, or </a:t>
                      </a:r>
                      <a:r>
                        <a:rPr lang="it-IT" sz="1400" dirty="0" err="1"/>
                        <a:t>even</a:t>
                      </a:r>
                      <a:r>
                        <a:rPr lang="it-IT" sz="1400" dirty="0"/>
                        <a:t> irreversibile </a:t>
                      </a:r>
                      <a:r>
                        <a:rPr lang="it-IT" sz="1400" dirty="0" err="1"/>
                        <a:t>consequences</a:t>
                      </a:r>
                      <a:r>
                        <a:rPr lang="it-IT" sz="1400" dirty="0"/>
                        <a:t>, </a:t>
                      </a:r>
                      <a:r>
                        <a:rPr lang="it-IT" sz="1400" dirty="0" err="1"/>
                        <a:t>which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they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may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not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overcome</a:t>
                      </a:r>
                      <a:endParaRPr lang="it-IT" sz="1400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240073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5475B327-D9E4-0EA9-D751-A3FCF018BB5F}"/>
              </a:ext>
            </a:extLst>
          </p:cNvPr>
          <p:cNvGraphicFramePr>
            <a:graphicFrameLocks noGrp="1"/>
          </p:cNvGraphicFramePr>
          <p:nvPr/>
        </p:nvGraphicFramePr>
        <p:xfrm>
          <a:off x="12474012" y="2732316"/>
          <a:ext cx="5453175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0635">
                  <a:extLst>
                    <a:ext uri="{9D8B030D-6E8A-4147-A177-3AD203B41FA5}">
                      <a16:colId xmlns:a16="http://schemas.microsoft.com/office/drawing/2014/main" val="2870990282"/>
                    </a:ext>
                  </a:extLst>
                </a:gridCol>
                <a:gridCol w="1090635">
                  <a:extLst>
                    <a:ext uri="{9D8B030D-6E8A-4147-A177-3AD203B41FA5}">
                      <a16:colId xmlns:a16="http://schemas.microsoft.com/office/drawing/2014/main" val="3835511962"/>
                    </a:ext>
                  </a:extLst>
                </a:gridCol>
                <a:gridCol w="1090635">
                  <a:extLst>
                    <a:ext uri="{9D8B030D-6E8A-4147-A177-3AD203B41FA5}">
                      <a16:colId xmlns:a16="http://schemas.microsoft.com/office/drawing/2014/main" val="3308318644"/>
                    </a:ext>
                  </a:extLst>
                </a:gridCol>
                <a:gridCol w="1090635">
                  <a:extLst>
                    <a:ext uri="{9D8B030D-6E8A-4147-A177-3AD203B41FA5}">
                      <a16:colId xmlns:a16="http://schemas.microsoft.com/office/drawing/2014/main" val="1178852455"/>
                    </a:ext>
                  </a:extLst>
                </a:gridCol>
                <a:gridCol w="1090635">
                  <a:extLst>
                    <a:ext uri="{9D8B030D-6E8A-4147-A177-3AD203B41FA5}">
                      <a16:colId xmlns:a16="http://schemas.microsoft.com/office/drawing/2014/main" val="1883075784"/>
                    </a:ext>
                  </a:extLst>
                </a:gridCol>
              </a:tblGrid>
              <a:tr h="507394">
                <a:tc>
                  <a:txBody>
                    <a:bodyPr/>
                    <a:lstStyle/>
                    <a:p>
                      <a:endParaRPr lang="it-IT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6E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10 </a:t>
                      </a:r>
                    </a:p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20 MEDIUM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30</a:t>
                      </a:r>
                    </a:p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HIGH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40</a:t>
                      </a:r>
                    </a:p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VERY HIGH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508190"/>
                  </a:ext>
                </a:extLst>
              </a:tr>
              <a:tr h="507394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10 </a:t>
                      </a:r>
                    </a:p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79285"/>
                  </a:ext>
                </a:extLst>
              </a:tr>
              <a:tr h="507394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20 MEDIUM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07963"/>
                  </a:ext>
                </a:extLst>
              </a:tr>
              <a:tr h="507394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30 </a:t>
                      </a:r>
                    </a:p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HIGH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710493"/>
                  </a:ext>
                </a:extLst>
              </a:tr>
              <a:tr h="507394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40 VERY HIGH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55760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1E7EC267-FF8D-1A26-A337-67050CA82465}"/>
              </a:ext>
            </a:extLst>
          </p:cNvPr>
          <p:cNvSpPr txBox="1"/>
          <p:nvPr/>
        </p:nvSpPr>
        <p:spPr>
          <a:xfrm>
            <a:off x="301717" y="3802649"/>
            <a:ext cx="640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Data Processing can </a:t>
            </a:r>
            <a:r>
              <a:rPr lang="it-IT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happen</a:t>
            </a:r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 in </a:t>
            </a:r>
            <a:r>
              <a:rPr lang="it-IT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different</a:t>
            </a:r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occasions</a:t>
            </a:r>
            <a:endParaRPr lang="it-IT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5E5E9D4-1979-BA7A-02FD-FBCC6C0B7667}"/>
              </a:ext>
            </a:extLst>
          </p:cNvPr>
          <p:cNvSpPr txBox="1"/>
          <p:nvPr/>
        </p:nvSpPr>
        <p:spPr>
          <a:xfrm>
            <a:off x="-2392" y="2895852"/>
            <a:ext cx="677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Preliminary </a:t>
            </a:r>
            <a:r>
              <a:rPr lang="it-IT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evaulation</a:t>
            </a:r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 (by default &amp; design)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7FAB306-2946-4494-2840-059C4D340660}"/>
              </a:ext>
            </a:extLst>
          </p:cNvPr>
          <p:cNvSpPr txBox="1"/>
          <p:nvPr/>
        </p:nvSpPr>
        <p:spPr>
          <a:xfrm>
            <a:off x="577084" y="4709446"/>
            <a:ext cx="5603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Neo Sans Std" panose="020B0504030504040204" pitchFamily="34" charset="0"/>
              </a:rPr>
              <a:t>The processing will be carried out in accordance with the GDPR</a:t>
            </a:r>
            <a:endParaRPr lang="it-IT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7FDC0AF-CA03-34D6-B2A0-E079EF85855B}"/>
              </a:ext>
            </a:extLst>
          </p:cNvPr>
          <p:cNvSpPr txBox="1"/>
          <p:nvPr/>
        </p:nvSpPr>
        <p:spPr>
          <a:xfrm>
            <a:off x="965019" y="5893242"/>
            <a:ext cx="4751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Neo Sans Std" panose="020B0504030504040204" pitchFamily="34" charset="0"/>
              </a:rPr>
              <a:t>Discover risks, impact and likelihood of their occurrence</a:t>
            </a:r>
            <a:endParaRPr lang="it-IT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D74C88-A03E-D3A9-469C-04E99788E996}"/>
              </a:ext>
            </a:extLst>
          </p:cNvPr>
          <p:cNvCxnSpPr>
            <a:cxnSpLocks/>
          </p:cNvCxnSpPr>
          <p:nvPr/>
        </p:nvCxnSpPr>
        <p:spPr>
          <a:xfrm>
            <a:off x="3382215" y="3348677"/>
            <a:ext cx="0" cy="452314"/>
          </a:xfrm>
          <a:prstGeom prst="straightConnector1">
            <a:avLst/>
          </a:prstGeom>
          <a:ln w="92075" cap="rnd">
            <a:solidFill>
              <a:schemeClr val="bg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2">
            <a:extLst>
              <a:ext uri="{FF2B5EF4-FFF2-40B4-BE49-F238E27FC236}">
                <a16:creationId xmlns:a16="http://schemas.microsoft.com/office/drawing/2014/main" id="{42A38FE8-1BAA-32AE-C5F9-9BD670B99A85}"/>
              </a:ext>
            </a:extLst>
          </p:cNvPr>
          <p:cNvCxnSpPr>
            <a:cxnSpLocks/>
          </p:cNvCxnSpPr>
          <p:nvPr/>
        </p:nvCxnSpPr>
        <p:spPr>
          <a:xfrm>
            <a:off x="3394593" y="4311247"/>
            <a:ext cx="0" cy="452314"/>
          </a:xfrm>
          <a:prstGeom prst="straightConnector1">
            <a:avLst/>
          </a:prstGeom>
          <a:ln w="92075" cap="rnd">
            <a:solidFill>
              <a:schemeClr val="bg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B1CEC638-03E0-27A0-5215-4F23C30E877E}"/>
              </a:ext>
            </a:extLst>
          </p:cNvPr>
          <p:cNvCxnSpPr>
            <a:cxnSpLocks/>
          </p:cNvCxnSpPr>
          <p:nvPr/>
        </p:nvCxnSpPr>
        <p:spPr>
          <a:xfrm>
            <a:off x="3394593" y="5404199"/>
            <a:ext cx="0" cy="452314"/>
          </a:xfrm>
          <a:prstGeom prst="straightConnector1">
            <a:avLst/>
          </a:prstGeom>
          <a:ln w="92075" cap="rnd">
            <a:solidFill>
              <a:schemeClr val="bg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192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tangolo 21">
            <a:extLst>
              <a:ext uri="{FF2B5EF4-FFF2-40B4-BE49-F238E27FC236}">
                <a16:creationId xmlns:a16="http://schemas.microsoft.com/office/drawing/2014/main" id="{D91F2D00-27DF-29D8-E67A-63B287D43CF5}"/>
              </a:ext>
            </a:extLst>
          </p:cNvPr>
          <p:cNvSpPr/>
          <p:nvPr/>
        </p:nvSpPr>
        <p:spPr>
          <a:xfrm>
            <a:off x="0" y="1925139"/>
            <a:ext cx="12192000" cy="4932862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73C389B0-0EFF-B94D-3D3F-1220105D0228}"/>
              </a:ext>
            </a:extLst>
          </p:cNvPr>
          <p:cNvSpPr/>
          <p:nvPr/>
        </p:nvSpPr>
        <p:spPr>
          <a:xfrm>
            <a:off x="0" y="1016152"/>
            <a:ext cx="4019106" cy="1109892"/>
          </a:xfrm>
          <a:prstGeom prst="roundRect">
            <a:avLst/>
          </a:prstGeom>
          <a:solidFill>
            <a:srgbClr val="146EB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E5742B8-2D8B-E504-6B7E-6CBC6227C987}"/>
              </a:ext>
            </a:extLst>
          </p:cNvPr>
          <p:cNvSpPr txBox="1"/>
          <p:nvPr/>
        </p:nvSpPr>
        <p:spPr>
          <a:xfrm>
            <a:off x="981571" y="1161189"/>
            <a:ext cx="2397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Purpose</a:t>
            </a:r>
            <a:endParaRPr lang="it-IT" sz="32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4F998F3-C723-D74B-DDFB-FE708BF70642}"/>
              </a:ext>
            </a:extLst>
          </p:cNvPr>
          <p:cNvSpPr txBox="1"/>
          <p:nvPr/>
        </p:nvSpPr>
        <p:spPr>
          <a:xfrm>
            <a:off x="9234252" y="1131941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Mandatory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67C6474-F35F-44BC-2735-101629588D88}"/>
              </a:ext>
            </a:extLst>
          </p:cNvPr>
          <p:cNvSpPr txBox="1"/>
          <p:nvPr/>
        </p:nvSpPr>
        <p:spPr>
          <a:xfrm>
            <a:off x="4739724" y="1152192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Possible</a:t>
            </a:r>
            <a:r>
              <a:rPr lang="it-IT" sz="4000" b="1" dirty="0">
                <a:latin typeface="Neo Sans Std" panose="020B0504030504040204" pitchFamily="34" charset="0"/>
              </a:rPr>
              <a:t> risks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pic>
        <p:nvPicPr>
          <p:cNvPr id="19" name="Immagine 18" descr="Immagine che contiene cerchio, simbolo, Elementi grafici, bianco e nero&#10;&#10;Descrizione generata automaticamente">
            <a:extLst>
              <a:ext uri="{FF2B5EF4-FFF2-40B4-BE49-F238E27FC236}">
                <a16:creationId xmlns:a16="http://schemas.microsoft.com/office/drawing/2014/main" id="{BEE4F5A9-8470-2559-BE8E-CEFF4C69D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29" y="1238223"/>
            <a:ext cx="657019" cy="657019"/>
          </a:xfrm>
          <a:prstGeom prst="rect">
            <a:avLst/>
          </a:prstGeom>
        </p:spPr>
      </p:pic>
      <p:pic>
        <p:nvPicPr>
          <p:cNvPr id="21" name="Immagine 20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86A3C8E-347D-3569-D16B-12BD138F91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755" y="1167346"/>
            <a:ext cx="710281" cy="710281"/>
          </a:xfrm>
          <a:prstGeom prst="rect">
            <a:avLst/>
          </a:prstGeom>
        </p:spPr>
      </p:pic>
      <p:pic>
        <p:nvPicPr>
          <p:cNvPr id="23" name="Immagine 2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0523A60-7427-325E-8942-4AED831E3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233" y="1184597"/>
            <a:ext cx="657019" cy="657019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3779F23-BDEE-6853-5246-A17738959D04}"/>
              </a:ext>
            </a:extLst>
          </p:cNvPr>
          <p:cNvSpPr txBox="1"/>
          <p:nvPr/>
        </p:nvSpPr>
        <p:spPr>
          <a:xfrm>
            <a:off x="2106734" y="644542"/>
            <a:ext cx="1029092" cy="369332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Art. 35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EB0FE2D-FFE5-0412-9497-224CD578A536}"/>
              </a:ext>
            </a:extLst>
          </p:cNvPr>
          <p:cNvSpPr txBox="1"/>
          <p:nvPr/>
        </p:nvSpPr>
        <p:spPr>
          <a:xfrm>
            <a:off x="1130264" y="167085"/>
            <a:ext cx="16780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latin typeface="Neo Sans Std" panose="020B0504030504040204" pitchFamily="34" charset="0"/>
              </a:rPr>
              <a:t>DPIA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B1BBB122-99C5-91DC-1E11-B3B20E5328EE}"/>
              </a:ext>
            </a:extLst>
          </p:cNvPr>
          <p:cNvGrpSpPr/>
          <p:nvPr/>
        </p:nvGrpSpPr>
        <p:grpSpPr>
          <a:xfrm>
            <a:off x="300038" y="136977"/>
            <a:ext cx="772599" cy="757126"/>
            <a:chOff x="1608114" y="4040561"/>
            <a:chExt cx="989788" cy="108645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F9CD5376-83AA-E07F-9DB8-4EC086FEAC15}"/>
                </a:ext>
              </a:extLst>
            </p:cNvPr>
            <p:cNvSpPr/>
            <p:nvPr/>
          </p:nvSpPr>
          <p:spPr>
            <a:xfrm>
              <a:off x="1608114" y="4040561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24" name="Immagine 23" descr="Immagine che contiene Carattere, simbolo, Elementi grafici, design&#10;&#10;Descrizione generata automaticamente">
              <a:extLst>
                <a:ext uri="{FF2B5EF4-FFF2-40B4-BE49-F238E27FC236}">
                  <a16:creationId xmlns:a16="http://schemas.microsoft.com/office/drawing/2014/main" id="{D4EB343C-ACBA-F3B4-1987-73E3FB7BF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4261506"/>
              <a:ext cx="640111" cy="640111"/>
            </a:xfrm>
            <a:prstGeom prst="rect">
              <a:avLst/>
            </a:prstGeom>
          </p:spPr>
        </p:pic>
      </p:grp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F979798-EC5E-28DD-3D53-09F331292C2F}"/>
              </a:ext>
            </a:extLst>
          </p:cNvPr>
          <p:cNvSpPr txBox="1"/>
          <p:nvPr/>
        </p:nvSpPr>
        <p:spPr>
          <a:xfrm>
            <a:off x="301717" y="3802649"/>
            <a:ext cx="640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Data Processing can </a:t>
            </a:r>
            <a:r>
              <a:rPr lang="it-IT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happen</a:t>
            </a:r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 in </a:t>
            </a:r>
            <a:r>
              <a:rPr lang="it-IT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different</a:t>
            </a:r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occasions</a:t>
            </a:r>
            <a:endParaRPr lang="it-IT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BB6240D-53A1-99D9-F70F-2D10AD44A517}"/>
              </a:ext>
            </a:extLst>
          </p:cNvPr>
          <p:cNvSpPr txBox="1"/>
          <p:nvPr/>
        </p:nvSpPr>
        <p:spPr>
          <a:xfrm>
            <a:off x="-2392" y="2895852"/>
            <a:ext cx="677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Preliminary </a:t>
            </a:r>
            <a:r>
              <a:rPr lang="it-IT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evaulation</a:t>
            </a:r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 (by default &amp; design)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EFE5219-8DBB-67FF-E1F1-7BACE8C5C540}"/>
              </a:ext>
            </a:extLst>
          </p:cNvPr>
          <p:cNvSpPr txBox="1"/>
          <p:nvPr/>
        </p:nvSpPr>
        <p:spPr>
          <a:xfrm>
            <a:off x="577084" y="4709446"/>
            <a:ext cx="5603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Neo Sans Std" panose="020B0504030504040204" pitchFamily="34" charset="0"/>
              </a:rPr>
              <a:t>The processing will be carried out in accordance with the GDPR</a:t>
            </a:r>
            <a:endParaRPr lang="it-IT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277C71B-B459-3A1C-2687-01602A3882C7}"/>
              </a:ext>
            </a:extLst>
          </p:cNvPr>
          <p:cNvSpPr txBox="1"/>
          <p:nvPr/>
        </p:nvSpPr>
        <p:spPr>
          <a:xfrm>
            <a:off x="965019" y="5893242"/>
            <a:ext cx="4751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Neo Sans Std" panose="020B0504030504040204" pitchFamily="34" charset="0"/>
              </a:rPr>
              <a:t>Discover risks, impact and likelihood of their occurrence</a:t>
            </a:r>
            <a:endParaRPr lang="it-IT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cxnSp>
        <p:nvCxnSpPr>
          <p:cNvPr id="18" name="Straight Arrow Connector 12">
            <a:extLst>
              <a:ext uri="{FF2B5EF4-FFF2-40B4-BE49-F238E27FC236}">
                <a16:creationId xmlns:a16="http://schemas.microsoft.com/office/drawing/2014/main" id="{364F1639-B80B-E825-AAB2-A98A38439F7E}"/>
              </a:ext>
            </a:extLst>
          </p:cNvPr>
          <p:cNvCxnSpPr>
            <a:cxnSpLocks/>
          </p:cNvCxnSpPr>
          <p:nvPr/>
        </p:nvCxnSpPr>
        <p:spPr>
          <a:xfrm>
            <a:off x="3382215" y="3348677"/>
            <a:ext cx="0" cy="452314"/>
          </a:xfrm>
          <a:prstGeom prst="straightConnector1">
            <a:avLst/>
          </a:prstGeom>
          <a:ln w="92075" cap="rnd">
            <a:solidFill>
              <a:schemeClr val="bg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33D7758E-74A4-431E-4561-EEDFA7F5A26C}"/>
              </a:ext>
            </a:extLst>
          </p:cNvPr>
          <p:cNvCxnSpPr>
            <a:cxnSpLocks/>
          </p:cNvCxnSpPr>
          <p:nvPr/>
        </p:nvCxnSpPr>
        <p:spPr>
          <a:xfrm>
            <a:off x="3394593" y="4311247"/>
            <a:ext cx="0" cy="452314"/>
          </a:xfrm>
          <a:prstGeom prst="straightConnector1">
            <a:avLst/>
          </a:prstGeom>
          <a:ln w="92075" cap="rnd">
            <a:solidFill>
              <a:schemeClr val="bg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12">
            <a:extLst>
              <a:ext uri="{FF2B5EF4-FFF2-40B4-BE49-F238E27FC236}">
                <a16:creationId xmlns:a16="http://schemas.microsoft.com/office/drawing/2014/main" id="{22B15A37-0A59-6FD3-12E0-9008C6CBFE10}"/>
              </a:ext>
            </a:extLst>
          </p:cNvPr>
          <p:cNvCxnSpPr>
            <a:cxnSpLocks/>
          </p:cNvCxnSpPr>
          <p:nvPr/>
        </p:nvCxnSpPr>
        <p:spPr>
          <a:xfrm>
            <a:off x="3394593" y="5404199"/>
            <a:ext cx="0" cy="452314"/>
          </a:xfrm>
          <a:prstGeom prst="straightConnector1">
            <a:avLst/>
          </a:prstGeom>
          <a:ln w="92075" cap="rnd">
            <a:solidFill>
              <a:schemeClr val="bg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ella 30">
            <a:extLst>
              <a:ext uri="{FF2B5EF4-FFF2-40B4-BE49-F238E27FC236}">
                <a16:creationId xmlns:a16="http://schemas.microsoft.com/office/drawing/2014/main" id="{61C0A9EF-A636-316C-A3BD-B8B4149CEA71}"/>
              </a:ext>
            </a:extLst>
          </p:cNvPr>
          <p:cNvGraphicFramePr>
            <a:graphicFrameLocks noGrp="1"/>
          </p:cNvGraphicFramePr>
          <p:nvPr/>
        </p:nvGraphicFramePr>
        <p:xfrm>
          <a:off x="12466635" y="2732316"/>
          <a:ext cx="5678436" cy="37466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7092">
                  <a:extLst>
                    <a:ext uri="{9D8B030D-6E8A-4147-A177-3AD203B41FA5}">
                      <a16:colId xmlns:a16="http://schemas.microsoft.com/office/drawing/2014/main" val="3928522126"/>
                    </a:ext>
                  </a:extLst>
                </a:gridCol>
                <a:gridCol w="3891344">
                  <a:extLst>
                    <a:ext uri="{9D8B030D-6E8A-4147-A177-3AD203B41FA5}">
                      <a16:colId xmlns:a16="http://schemas.microsoft.com/office/drawing/2014/main" val="2913955253"/>
                    </a:ext>
                  </a:extLst>
                </a:gridCol>
              </a:tblGrid>
              <a:tr h="447836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LEVEL OF IMPACT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632195"/>
                  </a:ext>
                </a:extLst>
              </a:tr>
              <a:tr h="1104255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Low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Individuals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may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encounter</a:t>
                      </a:r>
                      <a:r>
                        <a:rPr lang="it-IT" sz="1400" dirty="0"/>
                        <a:t> a </a:t>
                      </a:r>
                      <a:r>
                        <a:rPr lang="it-IT" sz="1400" dirty="0" err="1"/>
                        <a:t>few</a:t>
                      </a:r>
                      <a:r>
                        <a:rPr lang="it-IT" sz="1400" dirty="0"/>
                        <a:t> minor </a:t>
                      </a:r>
                      <a:r>
                        <a:rPr lang="it-IT" sz="1400" dirty="0" err="1"/>
                        <a:t>inconveniences</a:t>
                      </a:r>
                      <a:r>
                        <a:rPr lang="it-IT" sz="1400" dirty="0"/>
                        <a:t>, </a:t>
                      </a:r>
                      <a:r>
                        <a:rPr lang="it-IT" sz="1400" dirty="0" err="1"/>
                        <a:t>which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they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will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overcome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without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any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problem</a:t>
                      </a:r>
                      <a:endParaRPr lang="it-I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295327"/>
                  </a:ext>
                </a:extLst>
              </a:tr>
              <a:tr h="447836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Medium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Individuals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may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encounter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significant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inconveniences</a:t>
                      </a:r>
                      <a:r>
                        <a:rPr lang="it-IT" sz="1400" dirty="0"/>
                        <a:t>, </a:t>
                      </a:r>
                      <a:r>
                        <a:rPr lang="it-IT" sz="1400" dirty="0" err="1"/>
                        <a:t>which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they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will</a:t>
                      </a:r>
                      <a:r>
                        <a:rPr lang="it-IT" sz="1400" dirty="0"/>
                        <a:t> be </a:t>
                      </a:r>
                      <a:r>
                        <a:rPr lang="it-IT" sz="1400" dirty="0" err="1"/>
                        <a:t>able</a:t>
                      </a:r>
                      <a:r>
                        <a:rPr lang="it-IT" sz="1400" dirty="0"/>
                        <a:t> to </a:t>
                      </a:r>
                      <a:r>
                        <a:rPr lang="it-IT" sz="1400" dirty="0" err="1"/>
                        <a:t>overcome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despite</a:t>
                      </a:r>
                      <a:r>
                        <a:rPr lang="it-IT" sz="1400" dirty="0"/>
                        <a:t> a </a:t>
                      </a:r>
                      <a:r>
                        <a:rPr lang="it-IT" sz="1400" dirty="0" err="1"/>
                        <a:t>few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difficulties</a:t>
                      </a:r>
                      <a:endParaRPr lang="it-IT" sz="1400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608507"/>
                  </a:ext>
                </a:extLst>
              </a:tr>
              <a:tr h="447836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High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Individuals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may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encounter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significant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consequences</a:t>
                      </a:r>
                      <a:r>
                        <a:rPr lang="it-IT" sz="1400" dirty="0"/>
                        <a:t>, </a:t>
                      </a:r>
                      <a:r>
                        <a:rPr lang="it-IT" sz="1400" dirty="0" err="1"/>
                        <a:t>which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they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should</a:t>
                      </a:r>
                      <a:r>
                        <a:rPr lang="it-IT" sz="1400" dirty="0"/>
                        <a:t> be </a:t>
                      </a:r>
                      <a:r>
                        <a:rPr lang="it-IT" sz="1400" dirty="0" err="1"/>
                        <a:t>able</a:t>
                      </a:r>
                      <a:r>
                        <a:rPr lang="it-IT" sz="1400" dirty="0"/>
                        <a:t> to </a:t>
                      </a:r>
                      <a:r>
                        <a:rPr lang="it-IT" sz="1400" dirty="0" err="1"/>
                        <a:t>overcome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albeit</a:t>
                      </a:r>
                      <a:r>
                        <a:rPr lang="it-IT" sz="1400" dirty="0"/>
                        <a:t> with </a:t>
                      </a:r>
                      <a:r>
                        <a:rPr lang="it-IT" sz="1400" dirty="0" err="1"/>
                        <a:t>serious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difficulties</a:t>
                      </a:r>
                      <a:endParaRPr lang="it-IT" sz="1400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202268"/>
                  </a:ext>
                </a:extLst>
              </a:tr>
              <a:tr h="447836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/>
                        <a:t>Very</a:t>
                      </a:r>
                      <a:r>
                        <a:rPr lang="it-IT" sz="1400" dirty="0"/>
                        <a:t> High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Individuals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which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may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encounter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significant</a:t>
                      </a:r>
                      <a:r>
                        <a:rPr lang="it-IT" sz="1400" dirty="0"/>
                        <a:t>, or </a:t>
                      </a:r>
                      <a:r>
                        <a:rPr lang="it-IT" sz="1400" dirty="0" err="1"/>
                        <a:t>even</a:t>
                      </a:r>
                      <a:r>
                        <a:rPr lang="it-IT" sz="1400" dirty="0"/>
                        <a:t> irreversibile </a:t>
                      </a:r>
                      <a:r>
                        <a:rPr lang="it-IT" sz="1400" dirty="0" err="1"/>
                        <a:t>consequences</a:t>
                      </a:r>
                      <a:r>
                        <a:rPr lang="it-IT" sz="1400" dirty="0"/>
                        <a:t>, </a:t>
                      </a:r>
                      <a:r>
                        <a:rPr lang="it-IT" sz="1400" dirty="0" err="1"/>
                        <a:t>which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they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may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not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overcome</a:t>
                      </a:r>
                      <a:endParaRPr lang="it-IT" sz="1400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240073"/>
                  </a:ext>
                </a:extLst>
              </a:tr>
            </a:tbl>
          </a:graphicData>
        </a:graphic>
      </p:graphicFrame>
      <p:graphicFrame>
        <p:nvGraphicFramePr>
          <p:cNvPr id="32" name="Tabella 31">
            <a:extLst>
              <a:ext uri="{FF2B5EF4-FFF2-40B4-BE49-F238E27FC236}">
                <a16:creationId xmlns:a16="http://schemas.microsoft.com/office/drawing/2014/main" id="{859326D4-8848-9E44-B266-ED782AC8CCC2}"/>
              </a:ext>
            </a:extLst>
          </p:cNvPr>
          <p:cNvGraphicFramePr>
            <a:graphicFrameLocks noGrp="1"/>
          </p:cNvGraphicFramePr>
          <p:nvPr/>
        </p:nvGraphicFramePr>
        <p:xfrm>
          <a:off x="6530412" y="2732316"/>
          <a:ext cx="5453175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0635">
                  <a:extLst>
                    <a:ext uri="{9D8B030D-6E8A-4147-A177-3AD203B41FA5}">
                      <a16:colId xmlns:a16="http://schemas.microsoft.com/office/drawing/2014/main" val="2870990282"/>
                    </a:ext>
                  </a:extLst>
                </a:gridCol>
                <a:gridCol w="1090635">
                  <a:extLst>
                    <a:ext uri="{9D8B030D-6E8A-4147-A177-3AD203B41FA5}">
                      <a16:colId xmlns:a16="http://schemas.microsoft.com/office/drawing/2014/main" val="3835511962"/>
                    </a:ext>
                  </a:extLst>
                </a:gridCol>
                <a:gridCol w="1090635">
                  <a:extLst>
                    <a:ext uri="{9D8B030D-6E8A-4147-A177-3AD203B41FA5}">
                      <a16:colId xmlns:a16="http://schemas.microsoft.com/office/drawing/2014/main" val="3308318644"/>
                    </a:ext>
                  </a:extLst>
                </a:gridCol>
                <a:gridCol w="1090635">
                  <a:extLst>
                    <a:ext uri="{9D8B030D-6E8A-4147-A177-3AD203B41FA5}">
                      <a16:colId xmlns:a16="http://schemas.microsoft.com/office/drawing/2014/main" val="1178852455"/>
                    </a:ext>
                  </a:extLst>
                </a:gridCol>
                <a:gridCol w="1090635">
                  <a:extLst>
                    <a:ext uri="{9D8B030D-6E8A-4147-A177-3AD203B41FA5}">
                      <a16:colId xmlns:a16="http://schemas.microsoft.com/office/drawing/2014/main" val="1883075784"/>
                    </a:ext>
                  </a:extLst>
                </a:gridCol>
              </a:tblGrid>
              <a:tr h="507394">
                <a:tc>
                  <a:txBody>
                    <a:bodyPr/>
                    <a:lstStyle/>
                    <a:p>
                      <a:endParaRPr lang="it-IT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6E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10 </a:t>
                      </a:r>
                    </a:p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20 MEDIUM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30</a:t>
                      </a:r>
                    </a:p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HIGH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40</a:t>
                      </a:r>
                    </a:p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VERY HIGH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508190"/>
                  </a:ext>
                </a:extLst>
              </a:tr>
              <a:tr h="507394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10 </a:t>
                      </a:r>
                    </a:p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79285"/>
                  </a:ext>
                </a:extLst>
              </a:tr>
              <a:tr h="507394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20 MEDIUM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07963"/>
                  </a:ext>
                </a:extLst>
              </a:tr>
              <a:tr h="507394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30 </a:t>
                      </a:r>
                    </a:p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HIGH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710493"/>
                  </a:ext>
                </a:extLst>
              </a:tr>
              <a:tr h="507394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chemeClr val="bg1"/>
                          </a:solidFill>
                        </a:rPr>
                        <a:t>40 VERY HIGH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55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3615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8B49C7BE-1773-61DF-EFBD-DC482ADC483A}"/>
              </a:ext>
            </a:extLst>
          </p:cNvPr>
          <p:cNvSpPr/>
          <p:nvPr/>
        </p:nvSpPr>
        <p:spPr>
          <a:xfrm>
            <a:off x="4025388" y="1022575"/>
            <a:ext cx="4218668" cy="1095169"/>
          </a:xfrm>
          <a:prstGeom prst="roundRect">
            <a:avLst/>
          </a:prstGeom>
          <a:solidFill>
            <a:srgbClr val="146EB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D84322F4-24BD-A34B-D797-0739FAAC500A}"/>
              </a:ext>
            </a:extLst>
          </p:cNvPr>
          <p:cNvSpPr/>
          <p:nvPr/>
        </p:nvSpPr>
        <p:spPr>
          <a:xfrm>
            <a:off x="0" y="1925139"/>
            <a:ext cx="12192000" cy="4932862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861D301-BDC8-B236-B43E-32B426E5B6C0}"/>
              </a:ext>
            </a:extLst>
          </p:cNvPr>
          <p:cNvSpPr txBox="1"/>
          <p:nvPr/>
        </p:nvSpPr>
        <p:spPr>
          <a:xfrm>
            <a:off x="4739724" y="1152192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Possible</a:t>
            </a:r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 risks</a:t>
            </a:r>
            <a:endParaRPr lang="it-IT" sz="32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pic>
        <p:nvPicPr>
          <p:cNvPr id="11" name="Immagine 10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3C85B19-26E4-9CF7-B80D-7AB1F044F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7" y="1294259"/>
            <a:ext cx="547357" cy="547357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A4DCF68-1F01-2831-678A-6D3ABF8594B8}"/>
              </a:ext>
            </a:extLst>
          </p:cNvPr>
          <p:cNvSpPr txBox="1"/>
          <p:nvPr/>
        </p:nvSpPr>
        <p:spPr>
          <a:xfrm>
            <a:off x="1118918" y="3913665"/>
            <a:ext cx="3177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Discrimination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3842D2B4-85D5-C6CB-A115-4DD4D753A109}"/>
              </a:ext>
            </a:extLst>
          </p:cNvPr>
          <p:cNvSpPr txBox="1"/>
          <p:nvPr/>
        </p:nvSpPr>
        <p:spPr>
          <a:xfrm>
            <a:off x="6411339" y="3896709"/>
            <a:ext cx="3117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Identity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Theft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A88FD688-E907-5655-0F28-58D0B8A7F236}"/>
              </a:ext>
            </a:extLst>
          </p:cNvPr>
          <p:cNvSpPr txBox="1"/>
          <p:nvPr/>
        </p:nvSpPr>
        <p:spPr>
          <a:xfrm>
            <a:off x="1118918" y="4740256"/>
            <a:ext cx="4218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Psychological</a:t>
            </a:r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damage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0841DA83-4622-0FA5-1F51-726D2FD1866E}"/>
              </a:ext>
            </a:extLst>
          </p:cNvPr>
          <p:cNvSpPr txBox="1"/>
          <p:nvPr/>
        </p:nvSpPr>
        <p:spPr>
          <a:xfrm>
            <a:off x="6411339" y="4740256"/>
            <a:ext cx="4218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Loss of data control</a:t>
            </a:r>
          </a:p>
        </p:txBody>
      </p:sp>
      <p:pic>
        <p:nvPicPr>
          <p:cNvPr id="9" name="Immagine 8" descr="Immagine che contiene simbolo, Carattere, cerchio, Elementi grafici&#10;&#10;Descrizione generata automaticamente">
            <a:extLst>
              <a:ext uri="{FF2B5EF4-FFF2-40B4-BE49-F238E27FC236}">
                <a16:creationId xmlns:a16="http://schemas.microsoft.com/office/drawing/2014/main" id="{60E3780D-BD36-77BB-1991-C4DD3FA704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4935" y="1192801"/>
            <a:ext cx="746748" cy="746748"/>
          </a:xfrm>
          <a:prstGeom prst="rect">
            <a:avLst/>
          </a:prstGeom>
        </p:spPr>
      </p:pic>
      <p:pic>
        <p:nvPicPr>
          <p:cNvPr id="19" name="Immagine 18" descr="Immagine che contiene Carattere, simbolo, Elementi grafici, design&#10;&#10;Descrizione generata automaticamente">
            <a:extLst>
              <a:ext uri="{FF2B5EF4-FFF2-40B4-BE49-F238E27FC236}">
                <a16:creationId xmlns:a16="http://schemas.microsoft.com/office/drawing/2014/main" id="{5C1CAEE4-6B68-449C-6469-4A1BA76C55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7" y="269361"/>
            <a:ext cx="481913" cy="481913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209DC7BC-29EC-4251-50A8-327898C816E0}"/>
              </a:ext>
            </a:extLst>
          </p:cNvPr>
          <p:cNvSpPr txBox="1"/>
          <p:nvPr/>
        </p:nvSpPr>
        <p:spPr>
          <a:xfrm>
            <a:off x="9234252" y="1131941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Mandatory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pic>
        <p:nvPicPr>
          <p:cNvPr id="30" name="Immagine 2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84D19ED5-ED5A-78C8-A9B9-99FD9C7004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233" y="1184597"/>
            <a:ext cx="657019" cy="657019"/>
          </a:xfrm>
          <a:prstGeom prst="rect">
            <a:avLst/>
          </a:prstGeom>
        </p:spPr>
      </p:pic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54461629-1C15-B566-7EA3-D8D6D2A30A90}"/>
              </a:ext>
            </a:extLst>
          </p:cNvPr>
          <p:cNvSpPr txBox="1"/>
          <p:nvPr/>
        </p:nvSpPr>
        <p:spPr>
          <a:xfrm>
            <a:off x="981571" y="1161189"/>
            <a:ext cx="2397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Purpose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pic>
        <p:nvPicPr>
          <p:cNvPr id="34" name="Immagine 33" descr="Immagine che contiene Carattere, Elementi grafici, testo, simbolo&#10;&#10;Descrizione generata automaticamente">
            <a:extLst>
              <a:ext uri="{FF2B5EF4-FFF2-40B4-BE49-F238E27FC236}">
                <a16:creationId xmlns:a16="http://schemas.microsoft.com/office/drawing/2014/main" id="{0D373FD2-A5DE-5216-F299-18D9BF2BFE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398" y="3896709"/>
            <a:ext cx="572315" cy="572315"/>
          </a:xfrm>
          <a:prstGeom prst="rect">
            <a:avLst/>
          </a:prstGeom>
        </p:spPr>
      </p:pic>
      <p:pic>
        <p:nvPicPr>
          <p:cNvPr id="36" name="Immagine 35" descr="Immagine che contiene Carattere, simbolo, Elementi grafici, clipart&#10;&#10;Descrizione generata automaticamente">
            <a:extLst>
              <a:ext uri="{FF2B5EF4-FFF2-40B4-BE49-F238E27FC236}">
                <a16:creationId xmlns:a16="http://schemas.microsoft.com/office/drawing/2014/main" id="{1CDBD7E5-D8AC-67DA-442F-667ED6BA13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504" y="3866250"/>
            <a:ext cx="572315" cy="572315"/>
          </a:xfrm>
          <a:prstGeom prst="rect">
            <a:avLst/>
          </a:prstGeom>
        </p:spPr>
      </p:pic>
      <p:pic>
        <p:nvPicPr>
          <p:cNvPr id="38" name="Immagine 37" descr="Immagine che contiene clipart, schizzo, simbolo, disegno&#10;&#10;Descrizione generata automaticamente">
            <a:extLst>
              <a:ext uri="{FF2B5EF4-FFF2-40B4-BE49-F238E27FC236}">
                <a16:creationId xmlns:a16="http://schemas.microsoft.com/office/drawing/2014/main" id="{E0CD6319-44B5-765D-9DBA-944643563A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397" y="4715708"/>
            <a:ext cx="572316" cy="572316"/>
          </a:xfrm>
          <a:prstGeom prst="rect">
            <a:avLst/>
          </a:prstGeom>
        </p:spPr>
      </p:pic>
      <p:pic>
        <p:nvPicPr>
          <p:cNvPr id="40" name="Immagine 39" descr="Immagine che contiene Carattere, Elementi grafici, testo, simbolo&#10;&#10;Descrizione generata automaticamente">
            <a:extLst>
              <a:ext uri="{FF2B5EF4-FFF2-40B4-BE49-F238E27FC236}">
                <a16:creationId xmlns:a16="http://schemas.microsoft.com/office/drawing/2014/main" id="{19FAB08F-876B-2FFE-E627-FB31387192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503" y="4693828"/>
            <a:ext cx="572315" cy="572315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6E7D09D-CDAB-64CD-15D1-D8B6D3CDF957}"/>
              </a:ext>
            </a:extLst>
          </p:cNvPr>
          <p:cNvSpPr txBox="1"/>
          <p:nvPr/>
        </p:nvSpPr>
        <p:spPr>
          <a:xfrm>
            <a:off x="2106734" y="644542"/>
            <a:ext cx="1029092" cy="369332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Art. 35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C13EF2AC-9663-42C9-D4D1-0065FFB3F1A8}"/>
              </a:ext>
            </a:extLst>
          </p:cNvPr>
          <p:cNvGrpSpPr/>
          <p:nvPr/>
        </p:nvGrpSpPr>
        <p:grpSpPr>
          <a:xfrm>
            <a:off x="300038" y="136977"/>
            <a:ext cx="772599" cy="757126"/>
            <a:chOff x="1608114" y="4040561"/>
            <a:chExt cx="989788" cy="108645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E3B61CD-7C2A-3D53-8978-1BA56E3CC719}"/>
                </a:ext>
              </a:extLst>
            </p:cNvPr>
            <p:cNvSpPr/>
            <p:nvPr/>
          </p:nvSpPr>
          <p:spPr>
            <a:xfrm>
              <a:off x="1608114" y="4040561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12" name="Immagine 11" descr="Immagine che contiene Carattere, simbolo, Elementi grafici, design&#10;&#10;Descrizione generata automaticamente">
              <a:extLst>
                <a:ext uri="{FF2B5EF4-FFF2-40B4-BE49-F238E27FC236}">
                  <a16:creationId xmlns:a16="http://schemas.microsoft.com/office/drawing/2014/main" id="{262F1DB2-8914-E229-393A-D451F3296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4261506"/>
              <a:ext cx="640111" cy="640111"/>
            </a:xfrm>
            <a:prstGeom prst="rect">
              <a:avLst/>
            </a:prstGeom>
          </p:spPr>
        </p:pic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6334C4D-44E4-BAE9-2CFE-B166CB7E6B2C}"/>
              </a:ext>
            </a:extLst>
          </p:cNvPr>
          <p:cNvSpPr txBox="1"/>
          <p:nvPr/>
        </p:nvSpPr>
        <p:spPr>
          <a:xfrm>
            <a:off x="1130264" y="167085"/>
            <a:ext cx="16780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latin typeface="Neo Sans Std" panose="020B0504030504040204" pitchFamily="34" charset="0"/>
              </a:rPr>
              <a:t>DPIA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930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tangolo 39">
            <a:extLst>
              <a:ext uri="{FF2B5EF4-FFF2-40B4-BE49-F238E27FC236}">
                <a16:creationId xmlns:a16="http://schemas.microsoft.com/office/drawing/2014/main" id="{28ECD45C-805C-EFF8-CF4B-8D54B07E3946}"/>
              </a:ext>
            </a:extLst>
          </p:cNvPr>
          <p:cNvSpPr/>
          <p:nvPr/>
        </p:nvSpPr>
        <p:spPr>
          <a:xfrm>
            <a:off x="0" y="1925139"/>
            <a:ext cx="12192000" cy="4932862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1801154E-9351-1567-3191-CE60B14FC1E9}"/>
              </a:ext>
            </a:extLst>
          </p:cNvPr>
          <p:cNvSpPr/>
          <p:nvPr/>
        </p:nvSpPr>
        <p:spPr>
          <a:xfrm>
            <a:off x="8404412" y="1022575"/>
            <a:ext cx="3787588" cy="1061719"/>
          </a:xfrm>
          <a:prstGeom prst="roundRect">
            <a:avLst/>
          </a:prstGeom>
          <a:solidFill>
            <a:srgbClr val="146EB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56715AA-1FE5-8D18-6670-4C76B29CE6D6}"/>
              </a:ext>
            </a:extLst>
          </p:cNvPr>
          <p:cNvSpPr txBox="1"/>
          <p:nvPr/>
        </p:nvSpPr>
        <p:spPr>
          <a:xfrm>
            <a:off x="4739724" y="1152192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Possible</a:t>
            </a:r>
            <a:r>
              <a:rPr lang="it-IT" sz="4000" b="1" dirty="0">
                <a:latin typeface="Neo Sans Std" panose="020B0504030504040204" pitchFamily="34" charset="0"/>
              </a:rPr>
              <a:t> risks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sp>
        <p:nvSpPr>
          <p:cNvPr id="18" name="Rettangolo con angoli arrotondati 16">
            <a:extLst>
              <a:ext uri="{FF2B5EF4-FFF2-40B4-BE49-F238E27FC236}">
                <a16:creationId xmlns:a16="http://schemas.microsoft.com/office/drawing/2014/main" id="{A43A766E-F104-9CB9-2FA2-7F68F94350F5}"/>
              </a:ext>
            </a:extLst>
          </p:cNvPr>
          <p:cNvSpPr/>
          <p:nvPr/>
        </p:nvSpPr>
        <p:spPr>
          <a:xfrm>
            <a:off x="1578236" y="3018396"/>
            <a:ext cx="1817092" cy="945219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Likely to result in high risks?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ttangolo con angoli arrotondati 16">
            <a:extLst>
              <a:ext uri="{FF2B5EF4-FFF2-40B4-BE49-F238E27FC236}">
                <a16:creationId xmlns:a16="http://schemas.microsoft.com/office/drawing/2014/main" id="{770CF0EC-2788-EDA8-1E97-33702141B412}"/>
              </a:ext>
            </a:extLst>
          </p:cNvPr>
          <p:cNvSpPr/>
          <p:nvPr/>
        </p:nvSpPr>
        <p:spPr>
          <a:xfrm>
            <a:off x="3500129" y="3827402"/>
            <a:ext cx="1817092" cy="945219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Exception?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ttangolo con angoli arrotondati 16">
            <a:extLst>
              <a:ext uri="{FF2B5EF4-FFF2-40B4-BE49-F238E27FC236}">
                <a16:creationId xmlns:a16="http://schemas.microsoft.com/office/drawing/2014/main" id="{68653B35-911C-13BC-3EC5-5063483784C5}"/>
              </a:ext>
            </a:extLst>
          </p:cNvPr>
          <p:cNvSpPr/>
          <p:nvPr/>
        </p:nvSpPr>
        <p:spPr>
          <a:xfrm>
            <a:off x="5492041" y="4659687"/>
            <a:ext cx="1817092" cy="945219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DPIA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ttangolo con angoli arrotondati 16">
            <a:extLst>
              <a:ext uri="{FF2B5EF4-FFF2-40B4-BE49-F238E27FC236}">
                <a16:creationId xmlns:a16="http://schemas.microsoft.com/office/drawing/2014/main" id="{BE96543F-7642-8833-2987-05EE67A26477}"/>
              </a:ext>
            </a:extLst>
          </p:cNvPr>
          <p:cNvSpPr/>
          <p:nvPr/>
        </p:nvSpPr>
        <p:spPr>
          <a:xfrm>
            <a:off x="7431559" y="5468693"/>
            <a:ext cx="1817092" cy="945219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</a:rPr>
              <a:t>Residual high risks?</a:t>
            </a:r>
            <a:endParaRPr lang="it-IT" sz="2000" dirty="0">
              <a:latin typeface="Neo Sans Std" panose="020B0504030504040204" pitchFamily="34" charset="0"/>
            </a:endParaRP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CB97E3AD-5C34-43A1-6712-267756625BB3}"/>
              </a:ext>
            </a:extLst>
          </p:cNvPr>
          <p:cNvCxnSpPr>
            <a:stCxn id="18" idx="2"/>
            <a:endCxn id="19" idx="1"/>
          </p:cNvCxnSpPr>
          <p:nvPr/>
        </p:nvCxnSpPr>
        <p:spPr>
          <a:xfrm>
            <a:off x="2486782" y="3963615"/>
            <a:ext cx="1013347" cy="336397"/>
          </a:xfrm>
          <a:prstGeom prst="straightConnector1">
            <a:avLst/>
          </a:prstGeom>
          <a:ln w="38100">
            <a:solidFill>
              <a:srgbClr val="232F3E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C0B6AF91-10D8-68F8-19B6-198852E34FA9}"/>
              </a:ext>
            </a:extLst>
          </p:cNvPr>
          <p:cNvCxnSpPr/>
          <p:nvPr/>
        </p:nvCxnSpPr>
        <p:spPr>
          <a:xfrm>
            <a:off x="4478694" y="4772621"/>
            <a:ext cx="1013347" cy="336397"/>
          </a:xfrm>
          <a:prstGeom prst="straightConnector1">
            <a:avLst/>
          </a:prstGeom>
          <a:ln w="38100">
            <a:solidFill>
              <a:srgbClr val="232F3E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EBCE0080-BA39-F26B-71B3-0E709A80C382}"/>
              </a:ext>
            </a:extLst>
          </p:cNvPr>
          <p:cNvCxnSpPr/>
          <p:nvPr/>
        </p:nvCxnSpPr>
        <p:spPr>
          <a:xfrm>
            <a:off x="6370881" y="5604906"/>
            <a:ext cx="1013347" cy="336397"/>
          </a:xfrm>
          <a:prstGeom prst="straightConnector1">
            <a:avLst/>
          </a:prstGeom>
          <a:ln w="38100">
            <a:solidFill>
              <a:srgbClr val="232F3E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A0AA81DF-8AE6-CE58-83DF-BEBEE582258E}"/>
              </a:ext>
            </a:extLst>
          </p:cNvPr>
          <p:cNvCxnSpPr>
            <a:cxnSpLocks/>
          </p:cNvCxnSpPr>
          <p:nvPr/>
        </p:nvCxnSpPr>
        <p:spPr>
          <a:xfrm>
            <a:off x="2486782" y="3920967"/>
            <a:ext cx="0" cy="1019852"/>
          </a:xfrm>
          <a:prstGeom prst="straightConnector1">
            <a:avLst/>
          </a:prstGeom>
          <a:ln w="38100">
            <a:solidFill>
              <a:srgbClr val="232F3E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2DDD1350-B44F-B537-6A8D-C0A2256CEDB5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3325309" y="4772621"/>
            <a:ext cx="1083366" cy="336397"/>
          </a:xfrm>
          <a:prstGeom prst="straightConnector1">
            <a:avLst/>
          </a:prstGeom>
          <a:ln w="38100">
            <a:solidFill>
              <a:srgbClr val="232F3E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ttangolo con angoli arrotondati 16">
            <a:extLst>
              <a:ext uri="{FF2B5EF4-FFF2-40B4-BE49-F238E27FC236}">
                <a16:creationId xmlns:a16="http://schemas.microsoft.com/office/drawing/2014/main" id="{3708EE11-3822-F583-FCCD-E8E2E5C49E00}"/>
              </a:ext>
            </a:extLst>
          </p:cNvPr>
          <p:cNvSpPr/>
          <p:nvPr/>
        </p:nvSpPr>
        <p:spPr>
          <a:xfrm>
            <a:off x="3500129" y="2593973"/>
            <a:ext cx="1817092" cy="94521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Advice of the DPO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ttangolo con angoli arrotondati 16">
            <a:extLst>
              <a:ext uri="{FF2B5EF4-FFF2-40B4-BE49-F238E27FC236}">
                <a16:creationId xmlns:a16="http://schemas.microsoft.com/office/drawing/2014/main" id="{A65FDF7F-6A77-4907-C442-BC7CA88F0B58}"/>
              </a:ext>
            </a:extLst>
          </p:cNvPr>
          <p:cNvSpPr/>
          <p:nvPr/>
        </p:nvSpPr>
        <p:spPr>
          <a:xfrm>
            <a:off x="5490972" y="2593972"/>
            <a:ext cx="1817092" cy="94521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Code(s) of conduct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ttangolo con angoli arrotondati 16">
            <a:extLst>
              <a:ext uri="{FF2B5EF4-FFF2-40B4-BE49-F238E27FC236}">
                <a16:creationId xmlns:a16="http://schemas.microsoft.com/office/drawing/2014/main" id="{AD5FF065-EC1E-DCDE-F1EB-64C3FCAE47A7}"/>
              </a:ext>
            </a:extLst>
          </p:cNvPr>
          <p:cNvSpPr/>
          <p:nvPr/>
        </p:nvSpPr>
        <p:spPr>
          <a:xfrm>
            <a:off x="7481815" y="2593971"/>
            <a:ext cx="1817092" cy="94521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Seek the advice of the data subjects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18BB718B-3E1E-AF16-8343-3EF1578D9FCE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5316687" y="3539190"/>
            <a:ext cx="1083900" cy="1120497"/>
          </a:xfrm>
          <a:prstGeom prst="straightConnector1">
            <a:avLst/>
          </a:prstGeom>
          <a:ln w="38100" cap="flat" cmpd="sng" algn="ctr">
            <a:solidFill>
              <a:srgbClr val="232F3E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7EA89E87-7ADB-7EE0-E61F-57EBB495DEFA}"/>
              </a:ext>
            </a:extLst>
          </p:cNvPr>
          <p:cNvCxnSpPr>
            <a:stCxn id="28" idx="2"/>
            <a:endCxn id="20" idx="0"/>
          </p:cNvCxnSpPr>
          <p:nvPr/>
        </p:nvCxnSpPr>
        <p:spPr>
          <a:xfrm>
            <a:off x="6399518" y="3539191"/>
            <a:ext cx="1069" cy="1120496"/>
          </a:xfrm>
          <a:prstGeom prst="straightConnector1">
            <a:avLst/>
          </a:prstGeom>
          <a:ln w="38100" cap="flat" cmpd="sng" algn="ctr">
            <a:solidFill>
              <a:srgbClr val="232F3E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705C66AB-C890-C875-EDB8-F95296C329F5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6400587" y="3539189"/>
            <a:ext cx="1081228" cy="1120498"/>
          </a:xfrm>
          <a:prstGeom prst="straightConnector1">
            <a:avLst/>
          </a:prstGeom>
          <a:ln w="38100" cap="flat" cmpd="sng" algn="ctr">
            <a:solidFill>
              <a:srgbClr val="232F3E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AC6B14EF-E1F3-CCC4-493B-0F1AFBD721E4}"/>
              </a:ext>
            </a:extLst>
          </p:cNvPr>
          <p:cNvSpPr txBox="1"/>
          <p:nvPr/>
        </p:nvSpPr>
        <p:spPr>
          <a:xfrm>
            <a:off x="1944615" y="4205141"/>
            <a:ext cx="47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2"/>
                </a:solidFill>
                <a:latin typeface="Neo Sans Std" panose="020B0504030504040204" pitchFamily="34" charset="0"/>
              </a:rPr>
              <a:t>No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FC839255-6A4E-8044-3BAD-1D77F17E48C9}"/>
              </a:ext>
            </a:extLst>
          </p:cNvPr>
          <p:cNvSpPr txBox="1"/>
          <p:nvPr/>
        </p:nvSpPr>
        <p:spPr>
          <a:xfrm>
            <a:off x="2736639" y="4136137"/>
            <a:ext cx="564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2"/>
                </a:solidFill>
                <a:latin typeface="Neo Sans Std" panose="020B0504030504040204" pitchFamily="34" charset="0"/>
              </a:rPr>
              <a:t>Yes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7B6D2017-B115-00C8-A0CD-D5D89ED43213}"/>
              </a:ext>
            </a:extLst>
          </p:cNvPr>
          <p:cNvSpPr txBox="1"/>
          <p:nvPr/>
        </p:nvSpPr>
        <p:spPr>
          <a:xfrm>
            <a:off x="3846891" y="4854389"/>
            <a:ext cx="56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2"/>
                </a:solidFill>
                <a:latin typeface="Neo Sans Std" panose="020B0504030504040204" pitchFamily="34" charset="0"/>
              </a:rPr>
              <a:t>Yes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12BAE93C-5DD1-8D60-D259-074867A10D83}"/>
              </a:ext>
            </a:extLst>
          </p:cNvPr>
          <p:cNvSpPr txBox="1"/>
          <p:nvPr/>
        </p:nvSpPr>
        <p:spPr>
          <a:xfrm>
            <a:off x="4638915" y="4852620"/>
            <a:ext cx="564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2"/>
                </a:solidFill>
                <a:latin typeface="Neo Sans Std" panose="020B0504030504040204" pitchFamily="34" charset="0"/>
              </a:rPr>
              <a:t>No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F6565B0D-BBB2-EC31-94E0-D133BB65E23E}"/>
              </a:ext>
            </a:extLst>
          </p:cNvPr>
          <p:cNvSpPr txBox="1"/>
          <p:nvPr/>
        </p:nvSpPr>
        <p:spPr>
          <a:xfrm>
            <a:off x="1394509" y="5090210"/>
            <a:ext cx="2534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No DPIA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needed</a:t>
            </a:r>
            <a:endParaRPr lang="it-IT" sz="2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38" name="Rettangolo con angoli arrotondati 16">
            <a:extLst>
              <a:ext uri="{FF2B5EF4-FFF2-40B4-BE49-F238E27FC236}">
                <a16:creationId xmlns:a16="http://schemas.microsoft.com/office/drawing/2014/main" id="{719870B9-FAA8-56DF-6973-9E8A4B92661A}"/>
              </a:ext>
            </a:extLst>
          </p:cNvPr>
          <p:cNvSpPr/>
          <p:nvPr/>
        </p:nvSpPr>
        <p:spPr>
          <a:xfrm>
            <a:off x="3459690" y="5525381"/>
            <a:ext cx="1817092" cy="94521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Processing reviewed by the controller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7295C165-F377-EEEE-589C-92C3B3279A29}"/>
              </a:ext>
            </a:extLst>
          </p:cNvPr>
          <p:cNvCxnSpPr>
            <a:cxnSpLocks/>
            <a:stCxn id="20" idx="2"/>
            <a:endCxn id="38" idx="3"/>
          </p:cNvCxnSpPr>
          <p:nvPr/>
        </p:nvCxnSpPr>
        <p:spPr>
          <a:xfrm flipH="1">
            <a:off x="5276782" y="5604906"/>
            <a:ext cx="1123805" cy="393085"/>
          </a:xfrm>
          <a:prstGeom prst="straightConnector1">
            <a:avLst/>
          </a:prstGeom>
          <a:ln w="38100" cap="flat" cmpd="sng" algn="ctr">
            <a:solidFill>
              <a:srgbClr val="232F3E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" name="Immagine 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E2CC271E-61B5-2196-2D8B-382528403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005" y="1156334"/>
            <a:ext cx="746748" cy="746748"/>
          </a:xfrm>
          <a:prstGeom prst="rect">
            <a:avLst/>
          </a:prstGeom>
        </p:spPr>
      </p:pic>
      <p:pic>
        <p:nvPicPr>
          <p:cNvPr id="41" name="Immagine 40" descr="Immagine che contiene Carattere, simbolo, Elementi grafici, design&#10;&#10;Descrizione generata automaticamente">
            <a:extLst>
              <a:ext uri="{FF2B5EF4-FFF2-40B4-BE49-F238E27FC236}">
                <a16:creationId xmlns:a16="http://schemas.microsoft.com/office/drawing/2014/main" id="{8CC32830-9CB1-93A7-28EA-D99E14F26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7" y="269361"/>
            <a:ext cx="481913" cy="481913"/>
          </a:xfrm>
          <a:prstGeom prst="rect">
            <a:avLst/>
          </a:prstGeom>
        </p:spPr>
      </p:pic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D929FABE-F548-F4BA-5CC6-87DDB794332E}"/>
              </a:ext>
            </a:extLst>
          </p:cNvPr>
          <p:cNvSpPr txBox="1"/>
          <p:nvPr/>
        </p:nvSpPr>
        <p:spPr>
          <a:xfrm>
            <a:off x="9234252" y="1131941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Mandatory</a:t>
            </a:r>
            <a:endParaRPr lang="it-IT" sz="32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pic>
        <p:nvPicPr>
          <p:cNvPr id="47" name="Immagine 46" descr="Immagine che contiene cerchi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D60DCDFD-A129-BDD6-93D2-B7B3394808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092" y="1207120"/>
            <a:ext cx="609600" cy="609600"/>
          </a:xfrm>
          <a:prstGeom prst="rect">
            <a:avLst/>
          </a:prstGeom>
        </p:spPr>
      </p:pic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A3F8C352-3637-70DA-E8BA-086A264DD682}"/>
              </a:ext>
            </a:extLst>
          </p:cNvPr>
          <p:cNvSpPr txBox="1"/>
          <p:nvPr/>
        </p:nvSpPr>
        <p:spPr>
          <a:xfrm>
            <a:off x="981571" y="1161189"/>
            <a:ext cx="2397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Purpose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pic>
        <p:nvPicPr>
          <p:cNvPr id="49" name="Immagine 4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3854A52-213F-2383-9ED9-2C6514CB5F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7" y="1294259"/>
            <a:ext cx="547357" cy="54735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C138F47-42DA-2A54-7067-D04EFD02DF99}"/>
              </a:ext>
            </a:extLst>
          </p:cNvPr>
          <p:cNvSpPr txBox="1"/>
          <p:nvPr/>
        </p:nvSpPr>
        <p:spPr>
          <a:xfrm>
            <a:off x="2106734" y="644542"/>
            <a:ext cx="1029092" cy="369332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Art. 35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4039ABC6-186A-4D46-01EB-06B64753646E}"/>
              </a:ext>
            </a:extLst>
          </p:cNvPr>
          <p:cNvGrpSpPr/>
          <p:nvPr/>
        </p:nvGrpSpPr>
        <p:grpSpPr>
          <a:xfrm>
            <a:off x="300038" y="136977"/>
            <a:ext cx="772599" cy="757126"/>
            <a:chOff x="1608114" y="4040561"/>
            <a:chExt cx="989788" cy="108645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57F7E6-8444-050B-167D-00D2FFB0CC47}"/>
                </a:ext>
              </a:extLst>
            </p:cNvPr>
            <p:cNvSpPr/>
            <p:nvPr/>
          </p:nvSpPr>
          <p:spPr>
            <a:xfrm>
              <a:off x="1608114" y="4040561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8" name="Immagine 7" descr="Immagine che contiene Carattere, simbolo, Elementi grafici, design&#10;&#10;Descrizione generata automaticamente">
              <a:extLst>
                <a:ext uri="{FF2B5EF4-FFF2-40B4-BE49-F238E27FC236}">
                  <a16:creationId xmlns:a16="http://schemas.microsoft.com/office/drawing/2014/main" id="{45B54C67-7DA6-86AA-4E46-D68A1DE9D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4261506"/>
              <a:ext cx="640111" cy="640111"/>
            </a:xfrm>
            <a:prstGeom prst="rect">
              <a:avLst/>
            </a:prstGeom>
          </p:spPr>
        </p:pic>
      </p:grp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46AE857-AC5D-6347-0271-38232FBC034C}"/>
              </a:ext>
            </a:extLst>
          </p:cNvPr>
          <p:cNvSpPr txBox="1"/>
          <p:nvPr/>
        </p:nvSpPr>
        <p:spPr>
          <a:xfrm>
            <a:off x="1130264" y="167085"/>
            <a:ext cx="16780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latin typeface="Neo Sans Std" panose="020B0504030504040204" pitchFamily="34" charset="0"/>
              </a:rPr>
              <a:t>DPIA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146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0B05F6C2-87FA-BE3F-E2A8-A412FB2FEAE9}"/>
              </a:ext>
            </a:extLst>
          </p:cNvPr>
          <p:cNvSpPr/>
          <p:nvPr/>
        </p:nvSpPr>
        <p:spPr>
          <a:xfrm>
            <a:off x="8404412" y="1022575"/>
            <a:ext cx="3787588" cy="1061719"/>
          </a:xfrm>
          <a:prstGeom prst="roundRect">
            <a:avLst/>
          </a:prstGeom>
          <a:solidFill>
            <a:srgbClr val="146EB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28ECD45C-805C-EFF8-CF4B-8D54B07E3946}"/>
              </a:ext>
            </a:extLst>
          </p:cNvPr>
          <p:cNvSpPr/>
          <p:nvPr/>
        </p:nvSpPr>
        <p:spPr>
          <a:xfrm>
            <a:off x="0" y="1925139"/>
            <a:ext cx="12192000" cy="4932862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con angoli arrotondati 16">
            <a:extLst>
              <a:ext uri="{FF2B5EF4-FFF2-40B4-BE49-F238E27FC236}">
                <a16:creationId xmlns:a16="http://schemas.microsoft.com/office/drawing/2014/main" id="{A43A766E-F104-9CB9-2FA2-7F68F94350F5}"/>
              </a:ext>
            </a:extLst>
          </p:cNvPr>
          <p:cNvSpPr/>
          <p:nvPr/>
        </p:nvSpPr>
        <p:spPr>
          <a:xfrm>
            <a:off x="1578236" y="3018396"/>
            <a:ext cx="1817092" cy="945219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Likely to result in high risks?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ttangolo con angoli arrotondati 16">
            <a:extLst>
              <a:ext uri="{FF2B5EF4-FFF2-40B4-BE49-F238E27FC236}">
                <a16:creationId xmlns:a16="http://schemas.microsoft.com/office/drawing/2014/main" id="{770CF0EC-2788-EDA8-1E97-33702141B412}"/>
              </a:ext>
            </a:extLst>
          </p:cNvPr>
          <p:cNvSpPr/>
          <p:nvPr/>
        </p:nvSpPr>
        <p:spPr>
          <a:xfrm>
            <a:off x="3500129" y="3827402"/>
            <a:ext cx="1817092" cy="945219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Exception?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ttangolo con angoli arrotondati 16">
            <a:extLst>
              <a:ext uri="{FF2B5EF4-FFF2-40B4-BE49-F238E27FC236}">
                <a16:creationId xmlns:a16="http://schemas.microsoft.com/office/drawing/2014/main" id="{68653B35-911C-13BC-3EC5-5063483784C5}"/>
              </a:ext>
            </a:extLst>
          </p:cNvPr>
          <p:cNvSpPr/>
          <p:nvPr/>
        </p:nvSpPr>
        <p:spPr>
          <a:xfrm>
            <a:off x="5492041" y="4659687"/>
            <a:ext cx="1817092" cy="945219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DPIA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ttangolo con angoli arrotondati 16">
            <a:extLst>
              <a:ext uri="{FF2B5EF4-FFF2-40B4-BE49-F238E27FC236}">
                <a16:creationId xmlns:a16="http://schemas.microsoft.com/office/drawing/2014/main" id="{BE96543F-7642-8833-2987-05EE67A26477}"/>
              </a:ext>
            </a:extLst>
          </p:cNvPr>
          <p:cNvSpPr/>
          <p:nvPr/>
        </p:nvSpPr>
        <p:spPr>
          <a:xfrm>
            <a:off x="7431559" y="5468693"/>
            <a:ext cx="1817092" cy="945219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</a:rPr>
              <a:t>Residual high risks?</a:t>
            </a:r>
            <a:endParaRPr lang="it-IT" sz="2000" dirty="0">
              <a:latin typeface="Neo Sans Std" panose="020B0504030504040204" pitchFamily="34" charset="0"/>
            </a:endParaRP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CB97E3AD-5C34-43A1-6712-267756625BB3}"/>
              </a:ext>
            </a:extLst>
          </p:cNvPr>
          <p:cNvCxnSpPr>
            <a:stCxn id="18" idx="2"/>
            <a:endCxn id="19" idx="1"/>
          </p:cNvCxnSpPr>
          <p:nvPr/>
        </p:nvCxnSpPr>
        <p:spPr>
          <a:xfrm>
            <a:off x="2486782" y="3963615"/>
            <a:ext cx="1013347" cy="336397"/>
          </a:xfrm>
          <a:prstGeom prst="straightConnector1">
            <a:avLst/>
          </a:prstGeom>
          <a:ln w="38100">
            <a:solidFill>
              <a:srgbClr val="232F3E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C0B6AF91-10D8-68F8-19B6-198852E34FA9}"/>
              </a:ext>
            </a:extLst>
          </p:cNvPr>
          <p:cNvCxnSpPr/>
          <p:nvPr/>
        </p:nvCxnSpPr>
        <p:spPr>
          <a:xfrm>
            <a:off x="4478694" y="4772621"/>
            <a:ext cx="1013347" cy="336397"/>
          </a:xfrm>
          <a:prstGeom prst="straightConnector1">
            <a:avLst/>
          </a:prstGeom>
          <a:ln w="38100">
            <a:solidFill>
              <a:srgbClr val="232F3E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EBCE0080-BA39-F26B-71B3-0E709A80C382}"/>
              </a:ext>
            </a:extLst>
          </p:cNvPr>
          <p:cNvCxnSpPr/>
          <p:nvPr/>
        </p:nvCxnSpPr>
        <p:spPr>
          <a:xfrm>
            <a:off x="6370881" y="5604906"/>
            <a:ext cx="1013347" cy="336397"/>
          </a:xfrm>
          <a:prstGeom prst="straightConnector1">
            <a:avLst/>
          </a:prstGeom>
          <a:ln w="38100">
            <a:solidFill>
              <a:srgbClr val="232F3E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2DDD1350-B44F-B537-6A8D-C0A2256CEDB5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3325309" y="4772621"/>
            <a:ext cx="1083366" cy="336397"/>
          </a:xfrm>
          <a:prstGeom prst="straightConnector1">
            <a:avLst/>
          </a:prstGeom>
          <a:ln w="38100">
            <a:solidFill>
              <a:srgbClr val="232F3E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ttangolo con angoli arrotondati 16">
            <a:extLst>
              <a:ext uri="{FF2B5EF4-FFF2-40B4-BE49-F238E27FC236}">
                <a16:creationId xmlns:a16="http://schemas.microsoft.com/office/drawing/2014/main" id="{3708EE11-3822-F583-FCCD-E8E2E5C49E00}"/>
              </a:ext>
            </a:extLst>
          </p:cNvPr>
          <p:cNvSpPr/>
          <p:nvPr/>
        </p:nvSpPr>
        <p:spPr>
          <a:xfrm>
            <a:off x="3500129" y="2593973"/>
            <a:ext cx="1817092" cy="94521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Advice of the DPO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ttangolo con angoli arrotondati 16">
            <a:extLst>
              <a:ext uri="{FF2B5EF4-FFF2-40B4-BE49-F238E27FC236}">
                <a16:creationId xmlns:a16="http://schemas.microsoft.com/office/drawing/2014/main" id="{A65FDF7F-6A77-4907-C442-BC7CA88F0B58}"/>
              </a:ext>
            </a:extLst>
          </p:cNvPr>
          <p:cNvSpPr/>
          <p:nvPr/>
        </p:nvSpPr>
        <p:spPr>
          <a:xfrm>
            <a:off x="5490972" y="2593972"/>
            <a:ext cx="1817092" cy="94521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Code(s) of conduct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ttangolo con angoli arrotondati 16">
            <a:extLst>
              <a:ext uri="{FF2B5EF4-FFF2-40B4-BE49-F238E27FC236}">
                <a16:creationId xmlns:a16="http://schemas.microsoft.com/office/drawing/2014/main" id="{AD5FF065-EC1E-DCDE-F1EB-64C3FCAE47A7}"/>
              </a:ext>
            </a:extLst>
          </p:cNvPr>
          <p:cNvSpPr/>
          <p:nvPr/>
        </p:nvSpPr>
        <p:spPr>
          <a:xfrm>
            <a:off x="7481815" y="2593971"/>
            <a:ext cx="1817092" cy="94521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Seek the advice of the data subjects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18BB718B-3E1E-AF16-8343-3EF1578D9FCE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5316687" y="3539190"/>
            <a:ext cx="1083900" cy="1120497"/>
          </a:xfrm>
          <a:prstGeom prst="straightConnector1">
            <a:avLst/>
          </a:prstGeom>
          <a:ln w="38100" cap="flat" cmpd="sng" algn="ctr">
            <a:solidFill>
              <a:srgbClr val="232F3E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7EA89E87-7ADB-7EE0-E61F-57EBB495DEFA}"/>
              </a:ext>
            </a:extLst>
          </p:cNvPr>
          <p:cNvCxnSpPr>
            <a:stCxn id="28" idx="2"/>
            <a:endCxn id="20" idx="0"/>
          </p:cNvCxnSpPr>
          <p:nvPr/>
        </p:nvCxnSpPr>
        <p:spPr>
          <a:xfrm>
            <a:off x="6399518" y="3539191"/>
            <a:ext cx="1069" cy="1120496"/>
          </a:xfrm>
          <a:prstGeom prst="straightConnector1">
            <a:avLst/>
          </a:prstGeom>
          <a:ln w="38100" cap="flat" cmpd="sng" algn="ctr">
            <a:solidFill>
              <a:srgbClr val="232F3E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705C66AB-C890-C875-EDB8-F95296C329F5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6400587" y="3539189"/>
            <a:ext cx="1081228" cy="1120498"/>
          </a:xfrm>
          <a:prstGeom prst="straightConnector1">
            <a:avLst/>
          </a:prstGeom>
          <a:ln w="38100" cap="flat" cmpd="sng" algn="ctr">
            <a:solidFill>
              <a:srgbClr val="232F3E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AC6B14EF-E1F3-CCC4-493B-0F1AFBD721E4}"/>
              </a:ext>
            </a:extLst>
          </p:cNvPr>
          <p:cNvSpPr txBox="1"/>
          <p:nvPr/>
        </p:nvSpPr>
        <p:spPr>
          <a:xfrm>
            <a:off x="1944615" y="4205141"/>
            <a:ext cx="47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Neo Sans Std" panose="020B0504030504040204" pitchFamily="34" charset="0"/>
              </a:rPr>
              <a:t>No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7B6D2017-B115-00C8-A0CD-D5D89ED43213}"/>
              </a:ext>
            </a:extLst>
          </p:cNvPr>
          <p:cNvSpPr txBox="1"/>
          <p:nvPr/>
        </p:nvSpPr>
        <p:spPr>
          <a:xfrm>
            <a:off x="3846891" y="4854389"/>
            <a:ext cx="56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Neo Sans Std" panose="020B0504030504040204" pitchFamily="34" charset="0"/>
              </a:rPr>
              <a:t>Yes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12BAE93C-5DD1-8D60-D259-074867A10D83}"/>
              </a:ext>
            </a:extLst>
          </p:cNvPr>
          <p:cNvSpPr txBox="1"/>
          <p:nvPr/>
        </p:nvSpPr>
        <p:spPr>
          <a:xfrm>
            <a:off x="4638915" y="4852620"/>
            <a:ext cx="564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Neo Sans Std" panose="020B0504030504040204" pitchFamily="34" charset="0"/>
              </a:rPr>
              <a:t>No</a:t>
            </a:r>
          </a:p>
        </p:txBody>
      </p:sp>
      <p:sp>
        <p:nvSpPr>
          <p:cNvPr id="38" name="Rettangolo con angoli arrotondati 16">
            <a:extLst>
              <a:ext uri="{FF2B5EF4-FFF2-40B4-BE49-F238E27FC236}">
                <a16:creationId xmlns:a16="http://schemas.microsoft.com/office/drawing/2014/main" id="{719870B9-FAA8-56DF-6973-9E8A4B92661A}"/>
              </a:ext>
            </a:extLst>
          </p:cNvPr>
          <p:cNvSpPr/>
          <p:nvPr/>
        </p:nvSpPr>
        <p:spPr>
          <a:xfrm>
            <a:off x="3459690" y="5525381"/>
            <a:ext cx="1817092" cy="94521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Processing reviewed by the controller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7295C165-F377-EEEE-589C-92C3B3279A29}"/>
              </a:ext>
            </a:extLst>
          </p:cNvPr>
          <p:cNvCxnSpPr>
            <a:cxnSpLocks/>
            <a:stCxn id="20" idx="2"/>
            <a:endCxn id="38" idx="3"/>
          </p:cNvCxnSpPr>
          <p:nvPr/>
        </p:nvCxnSpPr>
        <p:spPr>
          <a:xfrm flipH="1">
            <a:off x="5276782" y="5604906"/>
            <a:ext cx="1123805" cy="393085"/>
          </a:xfrm>
          <a:prstGeom prst="straightConnector1">
            <a:avLst/>
          </a:prstGeom>
          <a:ln w="38100" cap="flat" cmpd="sng" algn="ctr">
            <a:solidFill>
              <a:srgbClr val="232F3E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" name="Immagine 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E2CC271E-61B5-2196-2D8B-382528403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005" y="1156334"/>
            <a:ext cx="746748" cy="746748"/>
          </a:xfrm>
          <a:prstGeom prst="rect">
            <a:avLst/>
          </a:prstGeom>
        </p:spPr>
      </p:pic>
      <p:pic>
        <p:nvPicPr>
          <p:cNvPr id="41" name="Immagine 40" descr="Immagine che contiene Carattere, simbolo, Elementi grafici, design&#10;&#10;Descrizione generata automaticamente">
            <a:extLst>
              <a:ext uri="{FF2B5EF4-FFF2-40B4-BE49-F238E27FC236}">
                <a16:creationId xmlns:a16="http://schemas.microsoft.com/office/drawing/2014/main" id="{8CC32830-9CB1-93A7-28EA-D99E14F26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7" y="269361"/>
            <a:ext cx="481913" cy="481913"/>
          </a:xfrm>
          <a:prstGeom prst="rect">
            <a:avLst/>
          </a:prstGeom>
        </p:spPr>
      </p:pic>
      <p:pic>
        <p:nvPicPr>
          <p:cNvPr id="47" name="Immagine 46" descr="Immagine che contiene cerchi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D60DCDFD-A129-BDD6-93D2-B7B3394808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092" y="1207120"/>
            <a:ext cx="609600" cy="609600"/>
          </a:xfrm>
          <a:prstGeom prst="rect">
            <a:avLst/>
          </a:prstGeom>
        </p:spPr>
      </p:pic>
      <p:pic>
        <p:nvPicPr>
          <p:cNvPr id="49" name="Immagine 4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3854A52-213F-2383-9ED9-2C6514CB5F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7" y="1294259"/>
            <a:ext cx="547357" cy="54735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8C8A366-DEB2-BC12-55C5-5FF8667813DD}"/>
              </a:ext>
            </a:extLst>
          </p:cNvPr>
          <p:cNvSpPr txBox="1"/>
          <p:nvPr/>
        </p:nvSpPr>
        <p:spPr>
          <a:xfrm>
            <a:off x="2106734" y="644542"/>
            <a:ext cx="1029092" cy="369332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Art. 35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1BA43A1F-54C0-BEE0-AF77-518ACA39C950}"/>
              </a:ext>
            </a:extLst>
          </p:cNvPr>
          <p:cNvGrpSpPr/>
          <p:nvPr/>
        </p:nvGrpSpPr>
        <p:grpSpPr>
          <a:xfrm>
            <a:off x="300038" y="136977"/>
            <a:ext cx="772599" cy="757126"/>
            <a:chOff x="1608114" y="4040561"/>
            <a:chExt cx="989788" cy="1086456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C75DC8A2-5838-9B5B-3B9D-398264304F2A}"/>
                </a:ext>
              </a:extLst>
            </p:cNvPr>
            <p:cNvSpPr/>
            <p:nvPr/>
          </p:nvSpPr>
          <p:spPr>
            <a:xfrm>
              <a:off x="1608114" y="4040561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9" name="Immagine 8" descr="Immagine che contiene Carattere, simbolo, Elementi grafici, design&#10;&#10;Descrizione generata automaticamente">
              <a:extLst>
                <a:ext uri="{FF2B5EF4-FFF2-40B4-BE49-F238E27FC236}">
                  <a16:creationId xmlns:a16="http://schemas.microsoft.com/office/drawing/2014/main" id="{4054DBE2-BF26-C848-39EB-A7364EB3E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4261506"/>
              <a:ext cx="640111" cy="640111"/>
            </a:xfrm>
            <a:prstGeom prst="rect">
              <a:avLst/>
            </a:prstGeom>
          </p:spPr>
        </p:pic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70E1649-C132-B1EE-3F00-39FF93636B77}"/>
              </a:ext>
            </a:extLst>
          </p:cNvPr>
          <p:cNvSpPr txBox="1"/>
          <p:nvPr/>
        </p:nvSpPr>
        <p:spPr>
          <a:xfrm>
            <a:off x="1130264" y="167085"/>
            <a:ext cx="16780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latin typeface="Neo Sans Std" panose="020B0504030504040204" pitchFamily="34" charset="0"/>
              </a:rPr>
              <a:t>DPIA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E5BFD03-233C-5D4B-9F5A-67E48310A14A}"/>
              </a:ext>
            </a:extLst>
          </p:cNvPr>
          <p:cNvSpPr txBox="1"/>
          <p:nvPr/>
        </p:nvSpPr>
        <p:spPr>
          <a:xfrm>
            <a:off x="4739724" y="1152192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Possible</a:t>
            </a:r>
            <a:r>
              <a:rPr lang="it-IT" sz="4000" b="1" dirty="0">
                <a:latin typeface="Neo Sans Std" panose="020B0504030504040204" pitchFamily="34" charset="0"/>
              </a:rPr>
              <a:t> risks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7E8E025-D0F0-23E6-7AF5-C909C9DC4E68}"/>
              </a:ext>
            </a:extLst>
          </p:cNvPr>
          <p:cNvSpPr txBox="1"/>
          <p:nvPr/>
        </p:nvSpPr>
        <p:spPr>
          <a:xfrm>
            <a:off x="9234252" y="1131941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Mandatory</a:t>
            </a:r>
            <a:endParaRPr lang="it-IT" sz="32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C30A2140-FBEB-0864-0F90-33CABB367B42}"/>
              </a:ext>
            </a:extLst>
          </p:cNvPr>
          <p:cNvSpPr txBox="1"/>
          <p:nvPr/>
        </p:nvSpPr>
        <p:spPr>
          <a:xfrm>
            <a:off x="981571" y="1161189"/>
            <a:ext cx="2397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Purpose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pic>
        <p:nvPicPr>
          <p:cNvPr id="2" name="Immagine 1" descr="Immagine che contiene Elementi grafici, cerchio, grafica, tipografia&#10;&#10;Descrizione generata automaticamente">
            <a:extLst>
              <a:ext uri="{FF2B5EF4-FFF2-40B4-BE49-F238E27FC236}">
                <a16:creationId xmlns:a16="http://schemas.microsoft.com/office/drawing/2014/main" id="{850E7B2E-FE3A-4052-8B38-46FCFFCBE5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692" y="2414076"/>
            <a:ext cx="3578591" cy="357859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7F475537-446C-18BE-FA05-1FB3CEEC22A5}"/>
              </a:ext>
            </a:extLst>
          </p:cNvPr>
          <p:cNvSpPr txBox="1"/>
          <p:nvPr/>
        </p:nvSpPr>
        <p:spPr>
          <a:xfrm>
            <a:off x="1394509" y="5090210"/>
            <a:ext cx="2534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No DPIA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needed</a:t>
            </a:r>
            <a:endParaRPr lang="it-IT" sz="2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6EBDB0E0-87CC-8E4E-DCE1-51340F6F8CF3}"/>
              </a:ext>
            </a:extLst>
          </p:cNvPr>
          <p:cNvCxnSpPr>
            <a:cxnSpLocks/>
          </p:cNvCxnSpPr>
          <p:nvPr/>
        </p:nvCxnSpPr>
        <p:spPr>
          <a:xfrm>
            <a:off x="2486782" y="3920967"/>
            <a:ext cx="0" cy="1019852"/>
          </a:xfrm>
          <a:prstGeom prst="straightConnector1">
            <a:avLst/>
          </a:prstGeom>
          <a:ln w="38100">
            <a:solidFill>
              <a:srgbClr val="232F3E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53F7732-6DC8-7B15-D1DC-CA87CAE8ABBA}"/>
              </a:ext>
            </a:extLst>
          </p:cNvPr>
          <p:cNvSpPr txBox="1"/>
          <p:nvPr/>
        </p:nvSpPr>
        <p:spPr>
          <a:xfrm>
            <a:off x="2736639" y="4136137"/>
            <a:ext cx="564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2"/>
                </a:solidFill>
                <a:latin typeface="Neo Sans Std" panose="020B0504030504040204" pitchFamily="34" charset="0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380885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E2F969BF-58E0-77F3-257C-A8E859F1434F}"/>
              </a:ext>
            </a:extLst>
          </p:cNvPr>
          <p:cNvSpPr/>
          <p:nvPr/>
        </p:nvSpPr>
        <p:spPr>
          <a:xfrm>
            <a:off x="8404412" y="1022575"/>
            <a:ext cx="3787588" cy="1061719"/>
          </a:xfrm>
          <a:prstGeom prst="roundRect">
            <a:avLst/>
          </a:prstGeom>
          <a:solidFill>
            <a:srgbClr val="146EB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B0E844D-2D26-6A51-78E3-6B645BB40425}"/>
              </a:ext>
            </a:extLst>
          </p:cNvPr>
          <p:cNvSpPr/>
          <p:nvPr/>
        </p:nvSpPr>
        <p:spPr>
          <a:xfrm>
            <a:off x="0" y="1925139"/>
            <a:ext cx="12192000" cy="4932862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E7B122B6-A060-07C0-36E0-3F85F09172E8}"/>
              </a:ext>
            </a:extLst>
          </p:cNvPr>
          <p:cNvCxnSpPr>
            <a:cxnSpLocks/>
          </p:cNvCxnSpPr>
          <p:nvPr/>
        </p:nvCxnSpPr>
        <p:spPr>
          <a:xfrm>
            <a:off x="3804069" y="3924300"/>
            <a:ext cx="2480617" cy="127414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6D0EF9BA-132A-D7F5-72E7-62349C1CC962}"/>
              </a:ext>
            </a:extLst>
          </p:cNvPr>
          <p:cNvCxnSpPr>
            <a:cxnSpLocks/>
          </p:cNvCxnSpPr>
          <p:nvPr/>
        </p:nvCxnSpPr>
        <p:spPr>
          <a:xfrm>
            <a:off x="3804069" y="3872523"/>
            <a:ext cx="0" cy="895032"/>
          </a:xfrm>
          <a:prstGeom prst="straightConnector1">
            <a:avLst/>
          </a:prstGeom>
          <a:ln w="57150">
            <a:solidFill>
              <a:srgbClr val="232F3E"/>
            </a:solidFill>
            <a:tailEnd type="triangl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BD0FB091-E123-78F6-48D2-5D2FF8CB04AD}"/>
              </a:ext>
            </a:extLst>
          </p:cNvPr>
          <p:cNvSpPr txBox="1"/>
          <p:nvPr/>
        </p:nvSpPr>
        <p:spPr>
          <a:xfrm>
            <a:off x="2955364" y="4482105"/>
            <a:ext cx="47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Neo Sans Std" panose="020B0504030504040204" pitchFamily="34" charset="0"/>
              </a:rPr>
              <a:t>No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F601718E-BAF0-A81C-9FDC-6721C83C3842}"/>
              </a:ext>
            </a:extLst>
          </p:cNvPr>
          <p:cNvSpPr txBox="1"/>
          <p:nvPr/>
        </p:nvSpPr>
        <p:spPr>
          <a:xfrm>
            <a:off x="4456212" y="4482105"/>
            <a:ext cx="564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Neo Sans Std" panose="020B0504030504040204" pitchFamily="34" charset="0"/>
              </a:rPr>
              <a:t>Yes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2CD44DA1-964F-B306-121F-B4263402ED36}"/>
              </a:ext>
            </a:extLst>
          </p:cNvPr>
          <p:cNvSpPr txBox="1"/>
          <p:nvPr/>
        </p:nvSpPr>
        <p:spPr>
          <a:xfrm>
            <a:off x="2836100" y="4998393"/>
            <a:ext cx="2534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No DPIA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needed</a:t>
            </a:r>
            <a:endParaRPr lang="it-IT" sz="2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6" name="Rettangolo con angoli arrotondati 16">
            <a:extLst>
              <a:ext uri="{FF2B5EF4-FFF2-40B4-BE49-F238E27FC236}">
                <a16:creationId xmlns:a16="http://schemas.microsoft.com/office/drawing/2014/main" id="{3059895F-B8A7-8F86-1974-419034EB507D}"/>
              </a:ext>
            </a:extLst>
          </p:cNvPr>
          <p:cNvSpPr/>
          <p:nvPr/>
        </p:nvSpPr>
        <p:spPr>
          <a:xfrm>
            <a:off x="6284686" y="5198448"/>
            <a:ext cx="2323406" cy="1369253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Neo Sans Std" panose="020B0504030504040204" pitchFamily="34" charset="0"/>
                <a:cs typeface="Calibri" panose="020F0502020204030204" pitchFamily="34" charset="0"/>
              </a:rPr>
              <a:t>Exception?</a:t>
            </a:r>
            <a:endParaRPr lang="it-IT" sz="32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8C39DD52-F35F-7908-62FA-90315BA64BBC}"/>
              </a:ext>
            </a:extLst>
          </p:cNvPr>
          <p:cNvSpPr txBox="1"/>
          <p:nvPr/>
        </p:nvSpPr>
        <p:spPr>
          <a:xfrm>
            <a:off x="6766416" y="3539610"/>
            <a:ext cx="4630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Systematic and in-depth evaluation:</a:t>
            </a:r>
            <a:endParaRPr lang="it-IT" sz="2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334646CF-33FD-7135-CE68-C469BC90A6A7}"/>
              </a:ext>
            </a:extLst>
          </p:cNvPr>
          <p:cNvSpPr txBox="1"/>
          <p:nvPr/>
        </p:nvSpPr>
        <p:spPr>
          <a:xfrm>
            <a:off x="7446389" y="3896604"/>
            <a:ext cx="4513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Neo Sans Std" panose="020B0504030504040204" pitchFamily="34" charset="0"/>
              </a:rPr>
              <a:t>Alexa carries out a systematic evaluation of users' voice interactions.</a:t>
            </a:r>
            <a:endParaRPr lang="it-IT" sz="2000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pic>
        <p:nvPicPr>
          <p:cNvPr id="6" name="Immagine 5" descr="Immagine che contiene Carattere, simbolo, Elementi grafici, design&#10;&#10;Descrizione generata automaticamente">
            <a:extLst>
              <a:ext uri="{FF2B5EF4-FFF2-40B4-BE49-F238E27FC236}">
                <a16:creationId xmlns:a16="http://schemas.microsoft.com/office/drawing/2014/main" id="{ABA97F12-D214-3B5F-25F2-390B12AE7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7" y="269361"/>
            <a:ext cx="481913" cy="481913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F9EC3CBD-FE8E-DFBD-ABFC-1756B8ECF889}"/>
              </a:ext>
            </a:extLst>
          </p:cNvPr>
          <p:cNvSpPr txBox="1"/>
          <p:nvPr/>
        </p:nvSpPr>
        <p:spPr>
          <a:xfrm>
            <a:off x="4739724" y="1152192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Possible</a:t>
            </a:r>
            <a:r>
              <a:rPr lang="it-IT" sz="4000" b="1" dirty="0">
                <a:latin typeface="Neo Sans Std" panose="020B0504030504040204" pitchFamily="34" charset="0"/>
              </a:rPr>
              <a:t> risks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pic>
        <p:nvPicPr>
          <p:cNvPr id="10" name="Immagine 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1508985-1819-264E-DD6B-91E9078F5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005" y="1156334"/>
            <a:ext cx="746748" cy="746748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19E9575-7F4C-3C24-63DF-345D9F9E29F3}"/>
              </a:ext>
            </a:extLst>
          </p:cNvPr>
          <p:cNvSpPr txBox="1"/>
          <p:nvPr/>
        </p:nvSpPr>
        <p:spPr>
          <a:xfrm>
            <a:off x="9234252" y="1131941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Mandatory</a:t>
            </a:r>
            <a:endParaRPr lang="it-IT" sz="32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pic>
        <p:nvPicPr>
          <p:cNvPr id="16" name="Immagine 15" descr="Immagine che contiene cerchi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6A890079-E59B-F112-263F-E3F92DF8A4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092" y="1207120"/>
            <a:ext cx="609600" cy="609600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77709E4-34DB-08FD-4B0F-44CFC71C90E3}"/>
              </a:ext>
            </a:extLst>
          </p:cNvPr>
          <p:cNvSpPr txBox="1"/>
          <p:nvPr/>
        </p:nvSpPr>
        <p:spPr>
          <a:xfrm>
            <a:off x="981571" y="1161189"/>
            <a:ext cx="2397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Purpose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pic>
        <p:nvPicPr>
          <p:cNvPr id="19" name="Immagine 1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6470F416-61E8-8A0C-6ACA-D0F6190E92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7" y="1294259"/>
            <a:ext cx="547357" cy="547357"/>
          </a:xfrm>
          <a:prstGeom prst="rect">
            <a:avLst/>
          </a:prstGeom>
        </p:spPr>
      </p:pic>
      <p:sp>
        <p:nvSpPr>
          <p:cNvPr id="20" name="Rettangolo con angoli arrotondati 16">
            <a:extLst>
              <a:ext uri="{FF2B5EF4-FFF2-40B4-BE49-F238E27FC236}">
                <a16:creationId xmlns:a16="http://schemas.microsoft.com/office/drawing/2014/main" id="{E119B5FC-059E-F49A-77DD-56092AC82F2D}"/>
              </a:ext>
            </a:extLst>
          </p:cNvPr>
          <p:cNvSpPr/>
          <p:nvPr/>
        </p:nvSpPr>
        <p:spPr>
          <a:xfrm>
            <a:off x="2077294" y="2733581"/>
            <a:ext cx="3292992" cy="1274148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Neo Sans Std" panose="020B0504030504040204" pitchFamily="34" charset="0"/>
                <a:cs typeface="Calibri" panose="020F0502020204030204" pitchFamily="34" charset="0"/>
              </a:rPr>
              <a:t>Likely to result in high risks?</a:t>
            </a:r>
            <a:endParaRPr lang="it-IT" sz="32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Immagine 11" descr="Immagine che contiene Carattere, simbolo, Elementi grafici, logo&#10;&#10;Descrizione generata automaticamente">
            <a:extLst>
              <a:ext uri="{FF2B5EF4-FFF2-40B4-BE49-F238E27FC236}">
                <a16:creationId xmlns:a16="http://schemas.microsoft.com/office/drawing/2014/main" id="{D72B367E-0DEF-11AC-2D47-667523E506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571" y="3897603"/>
            <a:ext cx="663771" cy="663771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5B977636-5FDC-522E-B19E-7DE4D29FCDB0}"/>
              </a:ext>
            </a:extLst>
          </p:cNvPr>
          <p:cNvSpPr txBox="1"/>
          <p:nvPr/>
        </p:nvSpPr>
        <p:spPr>
          <a:xfrm>
            <a:off x="2106734" y="644542"/>
            <a:ext cx="1029092" cy="369332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Art. 35</a:t>
            </a: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AEC9A65B-CF96-F863-0301-A563B32E83B8}"/>
              </a:ext>
            </a:extLst>
          </p:cNvPr>
          <p:cNvGrpSpPr/>
          <p:nvPr/>
        </p:nvGrpSpPr>
        <p:grpSpPr>
          <a:xfrm>
            <a:off x="300038" y="136977"/>
            <a:ext cx="772599" cy="757126"/>
            <a:chOff x="1608114" y="4040561"/>
            <a:chExt cx="989788" cy="1086456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D092252-B37D-D295-473B-5B5DA27C01CA}"/>
                </a:ext>
              </a:extLst>
            </p:cNvPr>
            <p:cNvSpPr/>
            <p:nvPr/>
          </p:nvSpPr>
          <p:spPr>
            <a:xfrm>
              <a:off x="1608114" y="4040561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15" name="Immagine 14" descr="Immagine che contiene Carattere, simbolo, Elementi grafici, design&#10;&#10;Descrizione generata automaticamente">
              <a:extLst>
                <a:ext uri="{FF2B5EF4-FFF2-40B4-BE49-F238E27FC236}">
                  <a16:creationId xmlns:a16="http://schemas.microsoft.com/office/drawing/2014/main" id="{F67CF286-843F-DDF5-53C2-0606F5244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4261506"/>
              <a:ext cx="640111" cy="640111"/>
            </a:xfrm>
            <a:prstGeom prst="rect">
              <a:avLst/>
            </a:prstGeom>
          </p:spPr>
        </p:pic>
      </p:grp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8A3A3C9E-E1A7-4317-9CFB-7E8514B1F29F}"/>
              </a:ext>
            </a:extLst>
          </p:cNvPr>
          <p:cNvSpPr txBox="1"/>
          <p:nvPr/>
        </p:nvSpPr>
        <p:spPr>
          <a:xfrm>
            <a:off x="1130264" y="167085"/>
            <a:ext cx="16780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latin typeface="Neo Sans Std" panose="020B0504030504040204" pitchFamily="34" charset="0"/>
              </a:rPr>
              <a:t>DPIA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996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AC1333E5-2900-B313-4C7F-FC821F0A7B9E}"/>
              </a:ext>
            </a:extLst>
          </p:cNvPr>
          <p:cNvSpPr/>
          <p:nvPr/>
        </p:nvSpPr>
        <p:spPr>
          <a:xfrm>
            <a:off x="8404412" y="1022575"/>
            <a:ext cx="3787588" cy="1061719"/>
          </a:xfrm>
          <a:prstGeom prst="roundRect">
            <a:avLst/>
          </a:prstGeom>
          <a:solidFill>
            <a:srgbClr val="146EB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B0E844D-2D26-6A51-78E3-6B645BB40425}"/>
              </a:ext>
            </a:extLst>
          </p:cNvPr>
          <p:cNvSpPr/>
          <p:nvPr/>
        </p:nvSpPr>
        <p:spPr>
          <a:xfrm>
            <a:off x="0" y="1925139"/>
            <a:ext cx="12192000" cy="4932862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9030062-0126-F0CC-602D-2197ACF1F1CF}"/>
              </a:ext>
            </a:extLst>
          </p:cNvPr>
          <p:cNvSpPr txBox="1"/>
          <p:nvPr/>
        </p:nvSpPr>
        <p:spPr>
          <a:xfrm>
            <a:off x="2232984" y="4140556"/>
            <a:ext cx="72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Neo Sans Std" panose="020B0504030504040204" pitchFamily="34" charset="0"/>
              </a:rPr>
              <a:t>Yes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BD18C48-812A-672A-C821-0F850DC057FF}"/>
              </a:ext>
            </a:extLst>
          </p:cNvPr>
          <p:cNvSpPr txBox="1"/>
          <p:nvPr/>
        </p:nvSpPr>
        <p:spPr>
          <a:xfrm>
            <a:off x="5087992" y="4166153"/>
            <a:ext cx="564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Neo Sans Std" panose="020B0504030504040204" pitchFamily="34" charset="0"/>
              </a:rPr>
              <a:t>No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867A9DC-F297-3E07-38CE-CE69332C8F86}"/>
              </a:ext>
            </a:extLst>
          </p:cNvPr>
          <p:cNvSpPr txBox="1"/>
          <p:nvPr/>
        </p:nvSpPr>
        <p:spPr>
          <a:xfrm>
            <a:off x="806586" y="4712549"/>
            <a:ext cx="2534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No DPIA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needed</a:t>
            </a:r>
            <a:endParaRPr lang="it-IT" sz="2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CA4CC7C-BA10-9770-9B76-2784D58BBBE7}"/>
              </a:ext>
            </a:extLst>
          </p:cNvPr>
          <p:cNvSpPr txBox="1"/>
          <p:nvPr/>
        </p:nvSpPr>
        <p:spPr>
          <a:xfrm>
            <a:off x="6698395" y="3310310"/>
            <a:ext cx="4879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Large-Scale Processing of Special Categories of Data:</a:t>
            </a:r>
            <a:endParaRPr lang="it-IT" sz="2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2387F20-B034-A052-79C5-7449459A31AA}"/>
              </a:ext>
            </a:extLst>
          </p:cNvPr>
          <p:cNvSpPr txBox="1"/>
          <p:nvPr/>
        </p:nvSpPr>
        <p:spPr>
          <a:xfrm>
            <a:off x="7422783" y="3942001"/>
            <a:ext cx="4757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Neo Sans Std" panose="020B0504030504040204" pitchFamily="34" charset="0"/>
              </a:rPr>
              <a:t>such as voice information and personal preferences, and data of minors.</a:t>
            </a:r>
            <a:endParaRPr lang="it-IT" sz="2000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9" name="Rettangolo con angoli arrotondati 16">
            <a:extLst>
              <a:ext uri="{FF2B5EF4-FFF2-40B4-BE49-F238E27FC236}">
                <a16:creationId xmlns:a16="http://schemas.microsoft.com/office/drawing/2014/main" id="{B6CD1445-14F4-9E5E-7EAC-1E59BA1FA5FA}"/>
              </a:ext>
            </a:extLst>
          </p:cNvPr>
          <p:cNvSpPr/>
          <p:nvPr/>
        </p:nvSpPr>
        <p:spPr>
          <a:xfrm>
            <a:off x="6284686" y="5218458"/>
            <a:ext cx="2042901" cy="1369253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Neo Sans Std" panose="020B0504030504040204" pitchFamily="34" charset="0"/>
                <a:cs typeface="Calibri" panose="020F0502020204030204" pitchFamily="34" charset="0"/>
              </a:rPr>
              <a:t>DPIA</a:t>
            </a:r>
            <a:endParaRPr lang="it-IT" sz="32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22" name="Immagine 21" descr="Immagine che contiene Carattere, simbolo, Elementi grafici, design&#10;&#10;Descrizione generata automaticamente">
            <a:extLst>
              <a:ext uri="{FF2B5EF4-FFF2-40B4-BE49-F238E27FC236}">
                <a16:creationId xmlns:a16="http://schemas.microsoft.com/office/drawing/2014/main" id="{30550C32-CA30-7DA5-B38F-DF1654571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7" y="269361"/>
            <a:ext cx="481913" cy="481913"/>
          </a:xfrm>
          <a:prstGeom prst="rect">
            <a:avLst/>
          </a:prstGeom>
        </p:spPr>
      </p:pic>
      <p:pic>
        <p:nvPicPr>
          <p:cNvPr id="24" name="Immagine 2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C92A0171-EB60-31C9-C276-A3D2FDF74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005" y="1156334"/>
            <a:ext cx="746748" cy="746748"/>
          </a:xfrm>
          <a:prstGeom prst="rect">
            <a:avLst/>
          </a:prstGeom>
        </p:spPr>
      </p:pic>
      <p:pic>
        <p:nvPicPr>
          <p:cNvPr id="26" name="Immagine 25" descr="Immagine che contiene cerchi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29252B24-4FAB-9B1B-0825-4FD64475DB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092" y="1207120"/>
            <a:ext cx="609600" cy="609600"/>
          </a:xfrm>
          <a:prstGeom prst="rect">
            <a:avLst/>
          </a:prstGeom>
        </p:spPr>
      </p:pic>
      <p:pic>
        <p:nvPicPr>
          <p:cNvPr id="28" name="Immagine 2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564108A1-26EC-DF7F-823B-1BA2446A1D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7" y="1294259"/>
            <a:ext cx="547357" cy="547357"/>
          </a:xfrm>
          <a:prstGeom prst="rect">
            <a:avLst/>
          </a:prstGeom>
        </p:spPr>
      </p:pic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A16FA281-912E-425D-1C5C-1AA66B7BEF54}"/>
              </a:ext>
            </a:extLst>
          </p:cNvPr>
          <p:cNvCxnSpPr>
            <a:cxnSpLocks/>
          </p:cNvCxnSpPr>
          <p:nvPr/>
        </p:nvCxnSpPr>
        <p:spPr>
          <a:xfrm>
            <a:off x="3804069" y="3924300"/>
            <a:ext cx="2480617" cy="127414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2F5A6771-71DB-8B9C-1D1F-0415319F46F5}"/>
              </a:ext>
            </a:extLst>
          </p:cNvPr>
          <p:cNvCxnSpPr>
            <a:cxnSpLocks/>
          </p:cNvCxnSpPr>
          <p:nvPr/>
        </p:nvCxnSpPr>
        <p:spPr>
          <a:xfrm flipH="1">
            <a:off x="2524836" y="3872523"/>
            <a:ext cx="1279233" cy="840026"/>
          </a:xfrm>
          <a:prstGeom prst="straightConnector1">
            <a:avLst/>
          </a:prstGeom>
          <a:ln w="57150">
            <a:solidFill>
              <a:srgbClr val="232F3E"/>
            </a:solidFill>
            <a:tailEnd type="triangl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sp>
        <p:nvSpPr>
          <p:cNvPr id="33" name="Rettangolo con angoli arrotondati 16">
            <a:extLst>
              <a:ext uri="{FF2B5EF4-FFF2-40B4-BE49-F238E27FC236}">
                <a16:creationId xmlns:a16="http://schemas.microsoft.com/office/drawing/2014/main" id="{215F54F0-A3F0-CFFB-A562-586D9531B3A0}"/>
              </a:ext>
            </a:extLst>
          </p:cNvPr>
          <p:cNvSpPr/>
          <p:nvPr/>
        </p:nvSpPr>
        <p:spPr>
          <a:xfrm>
            <a:off x="2752407" y="2625684"/>
            <a:ext cx="2201231" cy="1369253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Neo Sans Std" panose="020B0504030504040204" pitchFamily="34" charset="0"/>
                <a:cs typeface="Calibri" panose="020F0502020204030204" pitchFamily="34" charset="0"/>
              </a:rPr>
              <a:t>Exception?</a:t>
            </a:r>
            <a:endParaRPr lang="it-IT" sz="32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magine 8" descr="Immagine che contiene clipart, Elementi grafici, simbolo, grafica&#10;&#10;Descrizione generata automaticamente">
            <a:extLst>
              <a:ext uri="{FF2B5EF4-FFF2-40B4-BE49-F238E27FC236}">
                <a16:creationId xmlns:a16="http://schemas.microsoft.com/office/drawing/2014/main" id="{890D8D0C-C886-DCC2-68EF-3CFBBFC64D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395" y="3994937"/>
            <a:ext cx="609600" cy="60960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8FFFA46-4677-8CE8-DE06-BED968E3FA1E}"/>
              </a:ext>
            </a:extLst>
          </p:cNvPr>
          <p:cNvSpPr txBox="1"/>
          <p:nvPr/>
        </p:nvSpPr>
        <p:spPr>
          <a:xfrm>
            <a:off x="2106734" y="644542"/>
            <a:ext cx="1029092" cy="369332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Art. 35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D36AC2E3-C0F4-8BEC-D246-4A1EEC4B9C27}"/>
              </a:ext>
            </a:extLst>
          </p:cNvPr>
          <p:cNvGrpSpPr/>
          <p:nvPr/>
        </p:nvGrpSpPr>
        <p:grpSpPr>
          <a:xfrm>
            <a:off x="300038" y="136977"/>
            <a:ext cx="772599" cy="757126"/>
            <a:chOff x="1608114" y="4040561"/>
            <a:chExt cx="989788" cy="108645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27616531-6CDE-DD03-0C5C-4A45E876B680}"/>
                </a:ext>
              </a:extLst>
            </p:cNvPr>
            <p:cNvSpPr/>
            <p:nvPr/>
          </p:nvSpPr>
          <p:spPr>
            <a:xfrm>
              <a:off x="1608114" y="4040561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12" name="Immagine 11" descr="Immagine che contiene Carattere, simbolo, Elementi grafici, design&#10;&#10;Descrizione generata automaticamente">
              <a:extLst>
                <a:ext uri="{FF2B5EF4-FFF2-40B4-BE49-F238E27FC236}">
                  <a16:creationId xmlns:a16="http://schemas.microsoft.com/office/drawing/2014/main" id="{51990190-CAC8-399C-4A83-867000EAA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4261506"/>
              <a:ext cx="640111" cy="640111"/>
            </a:xfrm>
            <a:prstGeom prst="rect">
              <a:avLst/>
            </a:prstGeom>
          </p:spPr>
        </p:pic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11C0B33-FC06-AEB9-23AC-0A8019180084}"/>
              </a:ext>
            </a:extLst>
          </p:cNvPr>
          <p:cNvSpPr txBox="1"/>
          <p:nvPr/>
        </p:nvSpPr>
        <p:spPr>
          <a:xfrm>
            <a:off x="1130264" y="167085"/>
            <a:ext cx="16780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latin typeface="Neo Sans Std" panose="020B0504030504040204" pitchFamily="34" charset="0"/>
              </a:rPr>
              <a:t>DPIA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73F28DC-5B19-4EBE-70F1-8D886212533F}"/>
              </a:ext>
            </a:extLst>
          </p:cNvPr>
          <p:cNvSpPr txBox="1"/>
          <p:nvPr/>
        </p:nvSpPr>
        <p:spPr>
          <a:xfrm>
            <a:off x="4739724" y="1152192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Possible</a:t>
            </a:r>
            <a:r>
              <a:rPr lang="it-IT" sz="4000" b="1" dirty="0">
                <a:latin typeface="Neo Sans Std" panose="020B0504030504040204" pitchFamily="34" charset="0"/>
              </a:rPr>
              <a:t> risks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3DA24F76-7FD9-E05F-3071-20F61DFADFBC}"/>
              </a:ext>
            </a:extLst>
          </p:cNvPr>
          <p:cNvSpPr txBox="1"/>
          <p:nvPr/>
        </p:nvSpPr>
        <p:spPr>
          <a:xfrm>
            <a:off x="9234252" y="1131941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Mandatory</a:t>
            </a:r>
            <a:endParaRPr lang="it-IT" sz="32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8AF59227-05E7-086E-C9EF-46F3CBAEF2D7}"/>
              </a:ext>
            </a:extLst>
          </p:cNvPr>
          <p:cNvSpPr txBox="1"/>
          <p:nvPr/>
        </p:nvSpPr>
        <p:spPr>
          <a:xfrm>
            <a:off x="981571" y="1161189"/>
            <a:ext cx="2397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Purpose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241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B2142A2F-B38A-DA93-7618-5DDB4C3C59AC}"/>
              </a:ext>
            </a:extLst>
          </p:cNvPr>
          <p:cNvSpPr/>
          <p:nvPr/>
        </p:nvSpPr>
        <p:spPr>
          <a:xfrm>
            <a:off x="8404412" y="1022575"/>
            <a:ext cx="3787588" cy="1061719"/>
          </a:xfrm>
          <a:prstGeom prst="roundRect">
            <a:avLst/>
          </a:prstGeom>
          <a:solidFill>
            <a:srgbClr val="146EB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B0E844D-2D26-6A51-78E3-6B645BB40425}"/>
              </a:ext>
            </a:extLst>
          </p:cNvPr>
          <p:cNvSpPr/>
          <p:nvPr/>
        </p:nvSpPr>
        <p:spPr>
          <a:xfrm>
            <a:off x="0" y="1925138"/>
            <a:ext cx="12192000" cy="5451833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E6A51C2F-C049-1868-8D54-07290B17FDB0}"/>
              </a:ext>
            </a:extLst>
          </p:cNvPr>
          <p:cNvSpPr txBox="1"/>
          <p:nvPr/>
        </p:nvSpPr>
        <p:spPr>
          <a:xfrm>
            <a:off x="5993528" y="3781343"/>
            <a:ext cx="63275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Use of New Technologies or Innovative Methods:</a:t>
            </a:r>
            <a:endParaRPr lang="it-IT" sz="2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E440EA65-8D51-4A78-4C34-100F4FE30521}"/>
              </a:ext>
            </a:extLst>
          </p:cNvPr>
          <p:cNvSpPr txBox="1"/>
          <p:nvPr/>
        </p:nvSpPr>
        <p:spPr>
          <a:xfrm>
            <a:off x="6107800" y="4157765"/>
            <a:ext cx="4513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Neo Sans Std" panose="020B0504030504040204" pitchFamily="34" charset="0"/>
              </a:rPr>
              <a:t>the use of voice recognition and voice assistants represents an application of new technologies.</a:t>
            </a:r>
            <a:endParaRPr lang="it-IT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50" name="Rettangolo con angoli arrotondati 16">
            <a:extLst>
              <a:ext uri="{FF2B5EF4-FFF2-40B4-BE49-F238E27FC236}">
                <a16:creationId xmlns:a16="http://schemas.microsoft.com/office/drawing/2014/main" id="{BADC335D-2D13-73C0-D27F-B918DBC09789}"/>
              </a:ext>
            </a:extLst>
          </p:cNvPr>
          <p:cNvSpPr/>
          <p:nvPr/>
        </p:nvSpPr>
        <p:spPr>
          <a:xfrm>
            <a:off x="2606177" y="5700429"/>
            <a:ext cx="1819832" cy="93421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Processing reviewed by the controller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A6CB2FEE-9F60-54F7-72B6-3953C45B8ACA}"/>
              </a:ext>
            </a:extLst>
          </p:cNvPr>
          <p:cNvCxnSpPr>
            <a:cxnSpLocks/>
            <a:stCxn id="22" idx="2"/>
            <a:endCxn id="50" idx="0"/>
          </p:cNvCxnSpPr>
          <p:nvPr/>
        </p:nvCxnSpPr>
        <p:spPr>
          <a:xfrm flipH="1">
            <a:off x="3516093" y="5372336"/>
            <a:ext cx="1" cy="328093"/>
          </a:xfrm>
          <a:prstGeom prst="straightConnector1">
            <a:avLst/>
          </a:prstGeom>
          <a:ln w="57150">
            <a:solidFill>
              <a:srgbClr val="232F3E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sp>
        <p:nvSpPr>
          <p:cNvPr id="53" name="Rettangolo con angoli arrotondati 16">
            <a:extLst>
              <a:ext uri="{FF2B5EF4-FFF2-40B4-BE49-F238E27FC236}">
                <a16:creationId xmlns:a16="http://schemas.microsoft.com/office/drawing/2014/main" id="{1493ED3C-3CC7-5C28-AEA1-AA1C1084F317}"/>
              </a:ext>
            </a:extLst>
          </p:cNvPr>
          <p:cNvSpPr/>
          <p:nvPr/>
        </p:nvSpPr>
        <p:spPr>
          <a:xfrm>
            <a:off x="2704381" y="2478682"/>
            <a:ext cx="1623425" cy="93970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Code(s) of conduct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7EC5DA83-C155-4A76-6701-E64DA05C6391}"/>
              </a:ext>
            </a:extLst>
          </p:cNvPr>
          <p:cNvCxnSpPr>
            <a:cxnSpLocks/>
            <a:stCxn id="52" idx="2"/>
          </p:cNvCxnSpPr>
          <p:nvPr/>
        </p:nvCxnSpPr>
        <p:spPr>
          <a:xfrm>
            <a:off x="1699390" y="3420140"/>
            <a:ext cx="1799495" cy="532133"/>
          </a:xfrm>
          <a:prstGeom prst="straightConnector1">
            <a:avLst/>
          </a:prstGeom>
          <a:ln w="57150">
            <a:solidFill>
              <a:srgbClr val="232F3E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BE9DFA59-8900-8538-BA0B-88D61708B39B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3516094" y="3418388"/>
            <a:ext cx="0" cy="563010"/>
          </a:xfrm>
          <a:prstGeom prst="straightConnector1">
            <a:avLst/>
          </a:prstGeom>
          <a:ln w="57150">
            <a:solidFill>
              <a:srgbClr val="232F3E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57" name="Connettore 2 56">
            <a:extLst>
              <a:ext uri="{FF2B5EF4-FFF2-40B4-BE49-F238E27FC236}">
                <a16:creationId xmlns:a16="http://schemas.microsoft.com/office/drawing/2014/main" id="{FE5EA826-6297-3AC3-06DB-5A043A55959A}"/>
              </a:ext>
            </a:extLst>
          </p:cNvPr>
          <p:cNvCxnSpPr>
            <a:cxnSpLocks/>
            <a:endCxn id="54" idx="2"/>
          </p:cNvCxnSpPr>
          <p:nvPr/>
        </p:nvCxnSpPr>
        <p:spPr>
          <a:xfrm flipV="1">
            <a:off x="3516094" y="3414801"/>
            <a:ext cx="1926242" cy="548443"/>
          </a:xfrm>
          <a:prstGeom prst="straightConnector1">
            <a:avLst/>
          </a:prstGeom>
          <a:ln w="57150">
            <a:solidFill>
              <a:srgbClr val="232F3E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pic>
        <p:nvPicPr>
          <p:cNvPr id="6" name="Immagine 5" descr="Immagine che contiene Carattere, simbolo, Elementi grafici, design&#10;&#10;Descrizione generata automaticamente">
            <a:extLst>
              <a:ext uri="{FF2B5EF4-FFF2-40B4-BE49-F238E27FC236}">
                <a16:creationId xmlns:a16="http://schemas.microsoft.com/office/drawing/2014/main" id="{03137E53-ACD4-2D87-88AC-C212EF5A8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7" y="269361"/>
            <a:ext cx="481913" cy="481913"/>
          </a:xfrm>
          <a:prstGeom prst="rect">
            <a:avLst/>
          </a:prstGeom>
        </p:spPr>
      </p:pic>
      <p:pic>
        <p:nvPicPr>
          <p:cNvPr id="10" name="Immagine 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A6D52958-7775-41F0-C362-C93884C0AD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005" y="1156334"/>
            <a:ext cx="746748" cy="746748"/>
          </a:xfrm>
          <a:prstGeom prst="rect">
            <a:avLst/>
          </a:prstGeom>
        </p:spPr>
      </p:pic>
      <p:pic>
        <p:nvPicPr>
          <p:cNvPr id="16" name="Immagine 15" descr="Immagine che contiene cerchi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1D4A82D8-ACEB-CD39-A635-05635C67E0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092" y="1207120"/>
            <a:ext cx="609600" cy="609600"/>
          </a:xfrm>
          <a:prstGeom prst="rect">
            <a:avLst/>
          </a:prstGeom>
        </p:spPr>
      </p:pic>
      <p:pic>
        <p:nvPicPr>
          <p:cNvPr id="19" name="Immagine 1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E88AD04C-BF6E-9A91-9C21-BFBDCDD228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7" y="1294259"/>
            <a:ext cx="547357" cy="547357"/>
          </a:xfrm>
          <a:prstGeom prst="rect">
            <a:avLst/>
          </a:prstGeom>
        </p:spPr>
      </p:pic>
      <p:sp>
        <p:nvSpPr>
          <p:cNvPr id="22" name="Rettangolo con angoli arrotondati 16">
            <a:extLst>
              <a:ext uri="{FF2B5EF4-FFF2-40B4-BE49-F238E27FC236}">
                <a16:creationId xmlns:a16="http://schemas.microsoft.com/office/drawing/2014/main" id="{A4BFA58F-C240-96B1-D1CE-C9D37A962AC7}"/>
              </a:ext>
            </a:extLst>
          </p:cNvPr>
          <p:cNvSpPr/>
          <p:nvPr/>
        </p:nvSpPr>
        <p:spPr>
          <a:xfrm>
            <a:off x="2494643" y="4003083"/>
            <a:ext cx="2042901" cy="1369253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Neo Sans Std" panose="020B0504030504040204" pitchFamily="34" charset="0"/>
                <a:cs typeface="Calibri" panose="020F0502020204030204" pitchFamily="34" charset="0"/>
              </a:rPr>
              <a:t>DPIA</a:t>
            </a:r>
            <a:endParaRPr lang="it-IT" sz="32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Rettangolo con angoli arrotondati 16">
            <a:extLst>
              <a:ext uri="{FF2B5EF4-FFF2-40B4-BE49-F238E27FC236}">
                <a16:creationId xmlns:a16="http://schemas.microsoft.com/office/drawing/2014/main" id="{E964E2AB-DFC1-5331-E410-B33029C83DC2}"/>
              </a:ext>
            </a:extLst>
          </p:cNvPr>
          <p:cNvSpPr/>
          <p:nvPr/>
        </p:nvSpPr>
        <p:spPr>
          <a:xfrm>
            <a:off x="4524213" y="2480587"/>
            <a:ext cx="1836245" cy="93421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Seek the advice of the data subjects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Rettangolo con angoli arrotondati 16">
            <a:extLst>
              <a:ext uri="{FF2B5EF4-FFF2-40B4-BE49-F238E27FC236}">
                <a16:creationId xmlns:a16="http://schemas.microsoft.com/office/drawing/2014/main" id="{079A37E9-F46E-C70D-10ED-7B7A11D38BEB}"/>
              </a:ext>
            </a:extLst>
          </p:cNvPr>
          <p:cNvSpPr/>
          <p:nvPr/>
        </p:nvSpPr>
        <p:spPr>
          <a:xfrm>
            <a:off x="887677" y="2480434"/>
            <a:ext cx="1623425" cy="93970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Neo Sans Std" panose="020B0504030504040204" pitchFamily="34" charset="0"/>
                <a:cs typeface="Calibri" panose="020F0502020204030204" pitchFamily="34" charset="0"/>
              </a:rPr>
              <a:t>Advice of the DPO</a:t>
            </a:r>
            <a:endParaRPr lang="it-IT" sz="2000" dirty="0">
              <a:latin typeface="Neo Sans Std" panose="020B05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Immagine 11" descr="Immagine che contiene simbolo, Carattere, logo, testo&#10;&#10;Descrizione generata automaticamente">
            <a:extLst>
              <a:ext uri="{FF2B5EF4-FFF2-40B4-BE49-F238E27FC236}">
                <a16:creationId xmlns:a16="http://schemas.microsoft.com/office/drawing/2014/main" id="{7B36DABD-207E-2473-48A9-BD4A4E8D4E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6943" y="4203509"/>
            <a:ext cx="609600" cy="60960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A422ED8-8897-8712-E8BD-73C41F04E38F}"/>
              </a:ext>
            </a:extLst>
          </p:cNvPr>
          <p:cNvSpPr txBox="1"/>
          <p:nvPr/>
        </p:nvSpPr>
        <p:spPr>
          <a:xfrm>
            <a:off x="2106734" y="644542"/>
            <a:ext cx="1029092" cy="369332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Art. 35</a:t>
            </a: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8F7CDD3E-70AC-F71B-AAEB-D54ED183C2E2}"/>
              </a:ext>
            </a:extLst>
          </p:cNvPr>
          <p:cNvGrpSpPr/>
          <p:nvPr/>
        </p:nvGrpSpPr>
        <p:grpSpPr>
          <a:xfrm>
            <a:off x="300038" y="136977"/>
            <a:ext cx="772599" cy="757126"/>
            <a:chOff x="1608114" y="4040561"/>
            <a:chExt cx="989788" cy="1086456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D6F155C-E04E-A775-025B-6A410F02C00D}"/>
                </a:ext>
              </a:extLst>
            </p:cNvPr>
            <p:cNvSpPr/>
            <p:nvPr/>
          </p:nvSpPr>
          <p:spPr>
            <a:xfrm>
              <a:off x="1608114" y="4040561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15" name="Immagine 14" descr="Immagine che contiene Carattere, simbolo, Elementi grafici, design&#10;&#10;Descrizione generata automaticamente">
              <a:extLst>
                <a:ext uri="{FF2B5EF4-FFF2-40B4-BE49-F238E27FC236}">
                  <a16:creationId xmlns:a16="http://schemas.microsoft.com/office/drawing/2014/main" id="{E6905746-A3E1-6B81-5350-068D19DED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4261506"/>
              <a:ext cx="640111" cy="640111"/>
            </a:xfrm>
            <a:prstGeom prst="rect">
              <a:avLst/>
            </a:prstGeom>
          </p:spPr>
        </p:pic>
      </p:grp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AC0C055-5CA5-2FB3-1093-195930CC8C17}"/>
              </a:ext>
            </a:extLst>
          </p:cNvPr>
          <p:cNvSpPr txBox="1"/>
          <p:nvPr/>
        </p:nvSpPr>
        <p:spPr>
          <a:xfrm>
            <a:off x="1130264" y="167085"/>
            <a:ext cx="16780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latin typeface="Neo Sans Std" panose="020B0504030504040204" pitchFamily="34" charset="0"/>
              </a:rPr>
              <a:t>DPIA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FF50C6E9-489E-86B5-E062-30F6568373F1}"/>
              </a:ext>
            </a:extLst>
          </p:cNvPr>
          <p:cNvSpPr txBox="1"/>
          <p:nvPr/>
        </p:nvSpPr>
        <p:spPr>
          <a:xfrm>
            <a:off x="4739724" y="1152192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Possible</a:t>
            </a:r>
            <a:r>
              <a:rPr lang="it-IT" sz="4000" b="1" dirty="0">
                <a:latin typeface="Neo Sans Std" panose="020B0504030504040204" pitchFamily="34" charset="0"/>
              </a:rPr>
              <a:t> risks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365675ED-FE50-D124-0200-78EFE46BA6CC}"/>
              </a:ext>
            </a:extLst>
          </p:cNvPr>
          <p:cNvSpPr txBox="1"/>
          <p:nvPr/>
        </p:nvSpPr>
        <p:spPr>
          <a:xfrm>
            <a:off x="9234252" y="1131941"/>
            <a:ext cx="4053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Mandatory</a:t>
            </a:r>
            <a:endParaRPr lang="it-IT" sz="32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6B8D0E47-1AF1-D701-BE40-6743C18CB2B2}"/>
              </a:ext>
            </a:extLst>
          </p:cNvPr>
          <p:cNvSpPr txBox="1"/>
          <p:nvPr/>
        </p:nvSpPr>
        <p:spPr>
          <a:xfrm>
            <a:off x="981571" y="1161189"/>
            <a:ext cx="2397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latin typeface="Neo Sans Std" panose="020B0504030504040204" pitchFamily="34" charset="0"/>
              </a:rPr>
              <a:t>Purpose</a:t>
            </a:r>
            <a:endParaRPr lang="it-IT" sz="3200" b="1" dirty="0">
              <a:latin typeface="Neo Sans Std" panose="020B05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83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Elementi grafici, Carattere, schermata, grafica&#10;&#10;Descrizione generata automaticamente">
            <a:extLst>
              <a:ext uri="{FF2B5EF4-FFF2-40B4-BE49-F238E27FC236}">
                <a16:creationId xmlns:a16="http://schemas.microsoft.com/office/drawing/2014/main" id="{B3DEA837-F37A-55C5-FA46-39E9C9BCD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554" y="2756905"/>
            <a:ext cx="3047619" cy="1561905"/>
          </a:xfrm>
          <a:prstGeom prst="rect">
            <a:avLst/>
          </a:prstGeom>
        </p:spPr>
      </p:pic>
      <p:sp>
        <p:nvSpPr>
          <p:cNvPr id="7" name="Rectangle 22">
            <a:extLst>
              <a:ext uri="{FF2B5EF4-FFF2-40B4-BE49-F238E27FC236}">
                <a16:creationId xmlns:a16="http://schemas.microsoft.com/office/drawing/2014/main" id="{6A947410-9B8F-CC28-CB09-82E71E614282}"/>
              </a:ext>
            </a:extLst>
          </p:cNvPr>
          <p:cNvSpPr/>
          <p:nvPr/>
        </p:nvSpPr>
        <p:spPr>
          <a:xfrm>
            <a:off x="6004560" y="0"/>
            <a:ext cx="6187440" cy="685800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8AFAD36D-C426-D36F-81C0-0B03B4EA5D22}"/>
              </a:ext>
            </a:extLst>
          </p:cNvPr>
          <p:cNvSpPr txBox="1"/>
          <p:nvPr/>
        </p:nvSpPr>
        <p:spPr>
          <a:xfrm>
            <a:off x="6912076" y="2295240"/>
            <a:ext cx="5224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Privacy policy is not exhaustive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cxnSp>
        <p:nvCxnSpPr>
          <p:cNvPr id="35" name="Straight Arrow Connector 12">
            <a:extLst>
              <a:ext uri="{FF2B5EF4-FFF2-40B4-BE49-F238E27FC236}">
                <a16:creationId xmlns:a16="http://schemas.microsoft.com/office/drawing/2014/main" id="{7C22EAD5-A699-F5C2-DDCC-820EFDDD8AD2}"/>
              </a:ext>
            </a:extLst>
          </p:cNvPr>
          <p:cNvCxnSpPr>
            <a:cxnSpLocks/>
          </p:cNvCxnSpPr>
          <p:nvPr/>
        </p:nvCxnSpPr>
        <p:spPr>
          <a:xfrm>
            <a:off x="9451134" y="3006814"/>
            <a:ext cx="0" cy="684000"/>
          </a:xfrm>
          <a:prstGeom prst="straightConnector1">
            <a:avLst/>
          </a:prstGeom>
          <a:ln w="92075" cap="rnd">
            <a:solidFill>
              <a:schemeClr val="bg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05399ED-6916-1F0C-93D4-7B48EA55E722}"/>
              </a:ext>
            </a:extLst>
          </p:cNvPr>
          <p:cNvSpPr txBox="1"/>
          <p:nvPr/>
        </p:nvSpPr>
        <p:spPr>
          <a:xfrm>
            <a:off x="6843943" y="3786685"/>
            <a:ext cx="5214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Neo Sans Std" panose="020B0504030504040204" pitchFamily="34" charset="0"/>
              </a:rPr>
              <a:t>Educational </a:t>
            </a:r>
            <a:r>
              <a:rPr lang="it-IT" sz="24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Purposes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C1AB375-DB07-5E52-8998-825934D4A9A1}"/>
              </a:ext>
            </a:extLst>
          </p:cNvPr>
          <p:cNvSpPr txBox="1"/>
          <p:nvPr/>
        </p:nvSpPr>
        <p:spPr>
          <a:xfrm>
            <a:off x="1118918" y="100042"/>
            <a:ext cx="2397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/>
              <a:t>DPIA</a:t>
            </a:r>
            <a:endParaRPr lang="it-IT" sz="4000" b="1" dirty="0"/>
          </a:p>
        </p:txBody>
      </p:sp>
      <p:pic>
        <p:nvPicPr>
          <p:cNvPr id="8" name="Immagine 7" descr="Immagine che contiene Carattere, simbolo, Elementi grafici, design&#10;&#10;Descrizione generata automaticamente">
            <a:extLst>
              <a:ext uri="{FF2B5EF4-FFF2-40B4-BE49-F238E27FC236}">
                <a16:creationId xmlns:a16="http://schemas.microsoft.com/office/drawing/2014/main" id="{971D1114-97C4-6337-0CAF-10B320ADE5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71" y="271681"/>
            <a:ext cx="481913" cy="481913"/>
          </a:xfrm>
          <a:prstGeom prst="rect">
            <a:avLst/>
          </a:prstGeom>
        </p:spPr>
      </p:pic>
      <p:pic>
        <p:nvPicPr>
          <p:cNvPr id="10" name="Immagine 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FE83F398-1F68-79DB-0F89-F0665B2A0A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266" y="2708427"/>
            <a:ext cx="1610383" cy="1610383"/>
          </a:xfrm>
          <a:prstGeom prst="rect">
            <a:avLst/>
          </a:prstGeom>
        </p:spPr>
      </p:pic>
      <p:grpSp>
        <p:nvGrpSpPr>
          <p:cNvPr id="3" name="Gruppo 2">
            <a:extLst>
              <a:ext uri="{FF2B5EF4-FFF2-40B4-BE49-F238E27FC236}">
                <a16:creationId xmlns:a16="http://schemas.microsoft.com/office/drawing/2014/main" id="{36C068B6-C2A1-CED0-87C1-BF4C211AA5F1}"/>
              </a:ext>
            </a:extLst>
          </p:cNvPr>
          <p:cNvGrpSpPr/>
          <p:nvPr/>
        </p:nvGrpSpPr>
        <p:grpSpPr>
          <a:xfrm>
            <a:off x="300038" y="136977"/>
            <a:ext cx="772599" cy="757126"/>
            <a:chOff x="1608114" y="4040561"/>
            <a:chExt cx="989788" cy="108645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482D43C4-9573-2C4D-BD23-C150E1EC0785}"/>
                </a:ext>
              </a:extLst>
            </p:cNvPr>
            <p:cNvSpPr/>
            <p:nvPr/>
          </p:nvSpPr>
          <p:spPr>
            <a:xfrm>
              <a:off x="1608114" y="4040561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9" name="Immagine 8" descr="Immagine che contiene Carattere, simbolo, Elementi grafici, design&#10;&#10;Descrizione generata automaticamente">
              <a:extLst>
                <a:ext uri="{FF2B5EF4-FFF2-40B4-BE49-F238E27FC236}">
                  <a16:creationId xmlns:a16="http://schemas.microsoft.com/office/drawing/2014/main" id="{DBFE2F70-1D54-8A40-0D9F-FCB6E09C9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4261506"/>
              <a:ext cx="640111" cy="6401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3714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43EAE5A-BC28-9036-2C88-4A8193910CD7}"/>
              </a:ext>
            </a:extLst>
          </p:cNvPr>
          <p:cNvSpPr txBox="1"/>
          <p:nvPr/>
        </p:nvSpPr>
        <p:spPr>
          <a:xfrm>
            <a:off x="2104550" y="3273852"/>
            <a:ext cx="2397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>
                <a:solidFill>
                  <a:srgbClr val="091C6B"/>
                </a:solidFill>
                <a:latin typeface="Neo Sans Std" panose="020B0504030504040204" pitchFamily="34" charset="0"/>
              </a:rPr>
              <a:t>DPIA</a:t>
            </a:r>
          </a:p>
        </p:txBody>
      </p:sp>
      <p:pic>
        <p:nvPicPr>
          <p:cNvPr id="13" name="Immagine 12" descr="Immagine che contiene Elementi grafici, Carattere, schermata, grafica&#10;&#10;Descrizione generata automaticamente">
            <a:extLst>
              <a:ext uri="{FF2B5EF4-FFF2-40B4-BE49-F238E27FC236}">
                <a16:creationId xmlns:a16="http://schemas.microsoft.com/office/drawing/2014/main" id="{74763CAB-52F3-EB20-34F3-09C9D4A90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78" y="247537"/>
            <a:ext cx="1627872" cy="834285"/>
          </a:xfrm>
          <a:prstGeom prst="rect">
            <a:avLst/>
          </a:prstGeom>
          <a:ln>
            <a:noFill/>
          </a:ln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7B373A6-89FC-1BD4-7C4E-BB8A73443C3D}"/>
              </a:ext>
            </a:extLst>
          </p:cNvPr>
          <p:cNvSpPr txBox="1"/>
          <p:nvPr/>
        </p:nvSpPr>
        <p:spPr>
          <a:xfrm>
            <a:off x="1467147" y="2598003"/>
            <a:ext cx="43622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rgbClr val="091C6B"/>
                </a:solidFill>
              </a:rPr>
              <a:t>Case </a:t>
            </a:r>
            <a:r>
              <a:rPr lang="it-IT" sz="4000" b="1" dirty="0">
                <a:solidFill>
                  <a:srgbClr val="091C6B"/>
                </a:solidFill>
                <a:latin typeface="Neo Sans Std" panose="020B0504030504040204" pitchFamily="34" charset="0"/>
              </a:rPr>
              <a:t>Study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9AAD9E9-64F6-3A77-A08C-10D64D166AA6}"/>
              </a:ext>
            </a:extLst>
          </p:cNvPr>
          <p:cNvSpPr txBox="1"/>
          <p:nvPr/>
        </p:nvSpPr>
        <p:spPr>
          <a:xfrm>
            <a:off x="7253907" y="1518383"/>
            <a:ext cx="3528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Neo Sans Std" panose="020B0504030504040204" pitchFamily="34" charset="0"/>
              </a:rPr>
              <a:t>Definition of </a:t>
            </a:r>
            <a:r>
              <a:rPr lang="it-IT" sz="2800" b="1" dirty="0" err="1">
                <a:latin typeface="Neo Sans Std" panose="020B0504030504040204" pitchFamily="34" charset="0"/>
              </a:rPr>
              <a:t>roles</a:t>
            </a:r>
            <a:endParaRPr lang="it-IT" sz="2800" b="1" dirty="0">
              <a:latin typeface="Neo Sans Std" panose="020B050403050404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81803950-A097-865A-A429-CE5A7EED9A03}"/>
              </a:ext>
            </a:extLst>
          </p:cNvPr>
          <p:cNvSpPr txBox="1"/>
          <p:nvPr/>
        </p:nvSpPr>
        <p:spPr>
          <a:xfrm>
            <a:off x="7253907" y="3162594"/>
            <a:ext cx="45097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>
                <a:latin typeface="Neo Sans Std" panose="020B0504030504040204" pitchFamily="34" charset="0"/>
              </a:rPr>
              <a:t>Possible</a:t>
            </a:r>
            <a:r>
              <a:rPr lang="it-IT" sz="2800" b="1" dirty="0"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latin typeface="Neo Sans Std" panose="020B0504030504040204" pitchFamily="34" charset="0"/>
              </a:rPr>
              <a:t>implementation</a:t>
            </a:r>
            <a:endParaRPr lang="it-IT" sz="2800" b="1" dirty="0">
              <a:latin typeface="Neo Sans Std" panose="020B0504030504040204" pitchFamily="34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87E729C-F6A9-BEEF-5CF9-3C3485F63B35}"/>
              </a:ext>
            </a:extLst>
          </p:cNvPr>
          <p:cNvSpPr txBox="1"/>
          <p:nvPr/>
        </p:nvSpPr>
        <p:spPr>
          <a:xfrm>
            <a:off x="7253906" y="5211661"/>
            <a:ext cx="45097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Neo Sans Std" panose="020B0504030504040204" pitchFamily="34" charset="0"/>
              </a:rPr>
              <a:t>Exchange of information</a:t>
            </a:r>
          </a:p>
        </p:txBody>
      </p:sp>
      <p:pic>
        <p:nvPicPr>
          <p:cNvPr id="4" name="Immagine 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80CE7EB8-CE32-5C81-8547-144DB13DD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346" y="4939616"/>
            <a:ext cx="1067310" cy="1067310"/>
          </a:xfrm>
          <a:prstGeom prst="rect">
            <a:avLst/>
          </a:prstGeom>
        </p:spPr>
      </p:pic>
      <p:pic>
        <p:nvPicPr>
          <p:cNvPr id="6" name="Immagine 5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EBDDC8FE-F633-239F-CC6A-4DAE14904C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2244" y="2875848"/>
            <a:ext cx="1096713" cy="1096713"/>
          </a:xfrm>
          <a:prstGeom prst="rect">
            <a:avLst/>
          </a:prstGeom>
        </p:spPr>
      </p:pic>
      <p:pic>
        <p:nvPicPr>
          <p:cNvPr id="9" name="Immagine 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1BF4E635-A90E-2C91-F71D-BC24CF0CBD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594" y="1246338"/>
            <a:ext cx="1067310" cy="1067310"/>
          </a:xfrm>
          <a:prstGeom prst="rect">
            <a:avLst/>
          </a:prstGeom>
        </p:spPr>
      </p:pic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C62ACC95-A65D-6FD0-82D9-A9281C439E0F}"/>
              </a:ext>
            </a:extLst>
          </p:cNvPr>
          <p:cNvCxnSpPr/>
          <p:nvPr/>
        </p:nvCxnSpPr>
        <p:spPr>
          <a:xfrm>
            <a:off x="4864100" y="1487606"/>
            <a:ext cx="0" cy="4519320"/>
          </a:xfrm>
          <a:prstGeom prst="line">
            <a:avLst/>
          </a:prstGeom>
          <a:ln w="76200">
            <a:solidFill>
              <a:srgbClr val="FF0D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magine 1" descr="Immagine che contiene Elementi grafici, Carattere, logo, grafica&#10;&#10;Descrizione generata automaticamente">
            <a:extLst>
              <a:ext uri="{FF2B5EF4-FFF2-40B4-BE49-F238E27FC236}">
                <a16:creationId xmlns:a16="http://schemas.microsoft.com/office/drawing/2014/main" id="{44CB0DBE-AEC4-31E1-770C-B70D9483B0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305" y="3754037"/>
            <a:ext cx="1841072" cy="125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90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465D807-A1D6-A5E8-A50D-19BA0F038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809" y="3973582"/>
            <a:ext cx="833741" cy="833741"/>
          </a:xfrm>
          <a:prstGeom prst="rect">
            <a:avLst/>
          </a:prstGeom>
        </p:spPr>
      </p:pic>
      <p:pic>
        <p:nvPicPr>
          <p:cNvPr id="8" name="Immagine 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041741ED-68BD-C92C-B12B-799F8ACD0F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805" y="3967674"/>
            <a:ext cx="833741" cy="833741"/>
          </a:xfrm>
          <a:prstGeom prst="rect">
            <a:avLst/>
          </a:prstGeom>
        </p:spPr>
      </p:pic>
      <p:pic>
        <p:nvPicPr>
          <p:cNvPr id="10" name="Immagine 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0290E2A-615E-ED83-9AB0-12160CA4D6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801" y="3967674"/>
            <a:ext cx="833741" cy="833741"/>
          </a:xfrm>
          <a:prstGeom prst="rect">
            <a:avLst/>
          </a:prstGeom>
        </p:spPr>
      </p:pic>
      <p:pic>
        <p:nvPicPr>
          <p:cNvPr id="13" name="Immagine 12" descr="Immagine che contiene Elementi grafici, Carattere, schermata, grafica&#10;&#10;Descrizione generata automaticamente">
            <a:extLst>
              <a:ext uri="{FF2B5EF4-FFF2-40B4-BE49-F238E27FC236}">
                <a16:creationId xmlns:a16="http://schemas.microsoft.com/office/drawing/2014/main" id="{74763CAB-52F3-EB20-34F3-09C9D4A905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78" y="247537"/>
            <a:ext cx="1627872" cy="834285"/>
          </a:xfrm>
          <a:prstGeom prst="rect">
            <a:avLst/>
          </a:prstGeom>
          <a:ln>
            <a:noFill/>
          </a:ln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9AAD9E9-64F6-3A77-A08C-10D64D166AA6}"/>
              </a:ext>
            </a:extLst>
          </p:cNvPr>
          <p:cNvSpPr txBox="1"/>
          <p:nvPr/>
        </p:nvSpPr>
        <p:spPr>
          <a:xfrm>
            <a:off x="2104550" y="4122934"/>
            <a:ext cx="3248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rgbClr val="091C6B"/>
                </a:solidFill>
                <a:latin typeface="Neo Sans Std" panose="020B0504030504040204" pitchFamily="34" charset="0"/>
              </a:rPr>
              <a:t>Author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81803950-A097-865A-A429-CE5A7EED9A03}"/>
              </a:ext>
            </a:extLst>
          </p:cNvPr>
          <p:cNvSpPr txBox="1"/>
          <p:nvPr/>
        </p:nvSpPr>
        <p:spPr>
          <a:xfrm>
            <a:off x="5946815" y="4122934"/>
            <a:ext cx="3248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>
                <a:solidFill>
                  <a:srgbClr val="091C6B"/>
                </a:solidFill>
                <a:latin typeface="Neo Sans Std" panose="020B0504030504040204" pitchFamily="34" charset="0"/>
              </a:rPr>
              <a:t>Reviewer</a:t>
            </a:r>
            <a:endParaRPr lang="it-IT" sz="2800" b="1" dirty="0">
              <a:solidFill>
                <a:srgbClr val="091C6B"/>
              </a:solidFill>
              <a:latin typeface="Neo Sans Std" panose="020B0504030504040204" pitchFamily="34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87E729C-F6A9-BEEF-5CF9-3C3485F63B35}"/>
              </a:ext>
            </a:extLst>
          </p:cNvPr>
          <p:cNvSpPr txBox="1"/>
          <p:nvPr/>
        </p:nvSpPr>
        <p:spPr>
          <a:xfrm>
            <a:off x="9726542" y="4122934"/>
            <a:ext cx="3248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>
                <a:solidFill>
                  <a:srgbClr val="091C6B"/>
                </a:solidFill>
                <a:latin typeface="Neo Sans Std" panose="020B0504030504040204" pitchFamily="34" charset="0"/>
              </a:rPr>
              <a:t>Validator</a:t>
            </a:r>
            <a:endParaRPr lang="it-IT" sz="2800" b="1" dirty="0">
              <a:solidFill>
                <a:srgbClr val="091C6B"/>
              </a:solidFill>
              <a:latin typeface="Neo Sans Std" panose="020B0504030504040204" pitchFamily="34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73B212DF-810D-A02B-C63D-6AE8AB578D33}"/>
              </a:ext>
            </a:extLst>
          </p:cNvPr>
          <p:cNvSpPr txBox="1"/>
          <p:nvPr/>
        </p:nvSpPr>
        <p:spPr>
          <a:xfrm>
            <a:off x="4306453" y="2381389"/>
            <a:ext cx="357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rgbClr val="091C6B"/>
                </a:solidFill>
                <a:latin typeface="Neo Sans Std" panose="020B0504030504040204" pitchFamily="34" charset="0"/>
              </a:rPr>
              <a:t>Definition of </a:t>
            </a:r>
            <a:r>
              <a:rPr lang="it-IT" sz="2800" b="1" dirty="0" err="1">
                <a:solidFill>
                  <a:srgbClr val="091C6B"/>
                </a:solidFill>
                <a:latin typeface="Neo Sans Std" panose="020B0504030504040204" pitchFamily="34" charset="0"/>
              </a:rPr>
              <a:t>roles</a:t>
            </a:r>
            <a:endParaRPr lang="it-IT" sz="2800" b="1" dirty="0">
              <a:solidFill>
                <a:srgbClr val="091C6B"/>
              </a:solidFill>
              <a:latin typeface="Neo Sans Std" panose="020B0504030504040204" pitchFamily="34" charset="0"/>
            </a:endParaRPr>
          </a:p>
        </p:txBody>
      </p:sp>
      <p:pic>
        <p:nvPicPr>
          <p:cNvPr id="38" name="Immagine 3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151D3441-8C18-4E28-C034-E5FEB7CC1E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345" y="1217243"/>
            <a:ext cx="1067310" cy="1067310"/>
          </a:xfrm>
          <a:prstGeom prst="rect">
            <a:avLst/>
          </a:prstGeom>
        </p:spPr>
      </p:pic>
      <p:pic>
        <p:nvPicPr>
          <p:cNvPr id="39" name="Immagine 3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5A52282E-96DD-020A-46BB-7832E7D7CA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490" y="461585"/>
            <a:ext cx="635691" cy="635691"/>
          </a:xfrm>
          <a:prstGeom prst="rect">
            <a:avLst/>
          </a:prstGeom>
        </p:spPr>
      </p:pic>
      <p:pic>
        <p:nvPicPr>
          <p:cNvPr id="40" name="Immagine 3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2415C007-BB68-8CB6-5ACC-D4D2357442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223" y="444370"/>
            <a:ext cx="635691" cy="635691"/>
          </a:xfrm>
          <a:prstGeom prst="rect">
            <a:avLst/>
          </a:prstGeom>
        </p:spPr>
      </p:pic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29F10315-5AA1-E99A-B1E5-07666EDBE679}"/>
              </a:ext>
            </a:extLst>
          </p:cNvPr>
          <p:cNvCxnSpPr>
            <a:cxnSpLocks/>
          </p:cNvCxnSpPr>
          <p:nvPr/>
        </p:nvCxnSpPr>
        <p:spPr>
          <a:xfrm rot="5400000">
            <a:off x="5988293" y="830232"/>
            <a:ext cx="0" cy="4519320"/>
          </a:xfrm>
          <a:prstGeom prst="line">
            <a:avLst/>
          </a:prstGeom>
          <a:ln w="76200">
            <a:solidFill>
              <a:srgbClr val="FF0D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848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465D807-A1D6-A5E8-A50D-19BA0F038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072" y="1348140"/>
            <a:ext cx="1448481" cy="1448481"/>
          </a:xfrm>
          <a:prstGeom prst="rect">
            <a:avLst/>
          </a:prstGeom>
        </p:spPr>
      </p:pic>
      <p:pic>
        <p:nvPicPr>
          <p:cNvPr id="8" name="Immagine 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041741ED-68BD-C92C-B12B-799F8ACD0F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794" y="1890552"/>
            <a:ext cx="942746" cy="942746"/>
          </a:xfrm>
          <a:prstGeom prst="rect">
            <a:avLst/>
          </a:prstGeom>
        </p:spPr>
      </p:pic>
      <p:pic>
        <p:nvPicPr>
          <p:cNvPr id="10" name="Immagine 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0290E2A-615E-ED83-9AB0-12160CA4D6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281" y="1890552"/>
            <a:ext cx="942746" cy="942746"/>
          </a:xfrm>
          <a:prstGeom prst="rect">
            <a:avLst/>
          </a:prstGeom>
        </p:spPr>
      </p:pic>
      <p:pic>
        <p:nvPicPr>
          <p:cNvPr id="13" name="Immagine 12" descr="Immagine che contiene Elementi grafici, Carattere, schermata, grafica&#10;&#10;Descrizione generata automaticamente">
            <a:extLst>
              <a:ext uri="{FF2B5EF4-FFF2-40B4-BE49-F238E27FC236}">
                <a16:creationId xmlns:a16="http://schemas.microsoft.com/office/drawing/2014/main" id="{74763CAB-52F3-EB20-34F3-09C9D4A905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78" y="247537"/>
            <a:ext cx="1627872" cy="834285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6544D13A-BED3-0B4F-FA56-DD29F5881C37}"/>
              </a:ext>
            </a:extLst>
          </p:cNvPr>
          <p:cNvSpPr txBox="1"/>
          <p:nvPr/>
        </p:nvSpPr>
        <p:spPr>
          <a:xfrm>
            <a:off x="5541307" y="2007018"/>
            <a:ext cx="3248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rgbClr val="091C6B"/>
                </a:solidFill>
                <a:latin typeface="Neo Sans Std" panose="020B0504030504040204" pitchFamily="34" charset="0"/>
              </a:rPr>
              <a:t>Author</a:t>
            </a:r>
            <a:endParaRPr lang="it-IT" sz="2400" b="1" dirty="0">
              <a:solidFill>
                <a:srgbClr val="091C6B"/>
              </a:solidFill>
              <a:latin typeface="Neo Sans Std" panose="020B050403050404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DDB7B58-26D0-DF19-5895-61F511BD88FE}"/>
              </a:ext>
            </a:extLst>
          </p:cNvPr>
          <p:cNvSpPr txBox="1"/>
          <p:nvPr/>
        </p:nvSpPr>
        <p:spPr>
          <a:xfrm>
            <a:off x="1351438" y="3861824"/>
            <a:ext cx="338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Neo Sans Std" panose="020B0504030504040204" pitchFamily="34" charset="0"/>
              </a:rPr>
              <a:t>Data Controller</a:t>
            </a:r>
          </a:p>
        </p:txBody>
      </p:sp>
      <p:cxnSp>
        <p:nvCxnSpPr>
          <p:cNvPr id="5" name="Straight Arrow Connector 12">
            <a:extLst>
              <a:ext uri="{FF2B5EF4-FFF2-40B4-BE49-F238E27FC236}">
                <a16:creationId xmlns:a16="http://schemas.microsoft.com/office/drawing/2014/main" id="{016BF262-2265-CC83-86E4-E1A19CEC1F1A}"/>
              </a:ext>
            </a:extLst>
          </p:cNvPr>
          <p:cNvCxnSpPr>
            <a:cxnSpLocks/>
          </p:cNvCxnSpPr>
          <p:nvPr/>
        </p:nvCxnSpPr>
        <p:spPr>
          <a:xfrm>
            <a:off x="4316385" y="4469602"/>
            <a:ext cx="839397" cy="0"/>
          </a:xfrm>
          <a:prstGeom prst="straightConnector1">
            <a:avLst/>
          </a:prstGeom>
          <a:ln w="92075" cap="rnd">
            <a:solidFill>
              <a:srgbClr val="FF0D5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260E28D-6C80-4299-7F4A-5099F35D9E80}"/>
              </a:ext>
            </a:extLst>
          </p:cNvPr>
          <p:cNvSpPr txBox="1"/>
          <p:nvPr/>
        </p:nvSpPr>
        <p:spPr>
          <a:xfrm>
            <a:off x="5538317" y="3742928"/>
            <a:ext cx="2996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Neo Sans Std" panose="020B0504030504040204" pitchFamily="34" charset="0"/>
              </a:rPr>
              <a:t> Amazon Europe Core SARL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9ACD3A5-FD0B-088D-6626-0E0B3D4B1BEC}"/>
              </a:ext>
            </a:extLst>
          </p:cNvPr>
          <p:cNvSpPr txBox="1"/>
          <p:nvPr/>
        </p:nvSpPr>
        <p:spPr>
          <a:xfrm>
            <a:off x="5588461" y="4124532"/>
            <a:ext cx="2016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Neo Sans Std" panose="020B0504030504040204" pitchFamily="34" charset="0"/>
              </a:rPr>
              <a:t>Amazon EU SARL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E379B14-97BE-0F29-7F47-E80427BBA9E7}"/>
              </a:ext>
            </a:extLst>
          </p:cNvPr>
          <p:cNvSpPr txBox="1"/>
          <p:nvPr/>
        </p:nvSpPr>
        <p:spPr>
          <a:xfrm>
            <a:off x="5592436" y="4482471"/>
            <a:ext cx="3248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Neo Sans Std" panose="020B0504030504040204" pitchFamily="34" charset="0"/>
              </a:rPr>
              <a:t>Amazon Services Europe SARL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D51D33A3-F16A-F89B-E493-1D4F5018E402}"/>
              </a:ext>
            </a:extLst>
          </p:cNvPr>
          <p:cNvSpPr txBox="1"/>
          <p:nvPr/>
        </p:nvSpPr>
        <p:spPr>
          <a:xfrm>
            <a:off x="5538317" y="4863437"/>
            <a:ext cx="3145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Neo Sans Std" panose="020B0504030504040204" pitchFamily="34" charset="0"/>
              </a:rPr>
              <a:t> Amazon Media EU SARL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25366CE2-BD2D-C2AF-B9AE-7710E9B5A8A4}"/>
              </a:ext>
            </a:extLst>
          </p:cNvPr>
          <p:cNvSpPr txBox="1"/>
          <p:nvPr/>
        </p:nvSpPr>
        <p:spPr>
          <a:xfrm>
            <a:off x="5541307" y="5221376"/>
            <a:ext cx="3098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Neo Sans Std" panose="020B0504030504040204" pitchFamily="34" charset="0"/>
              </a:rPr>
              <a:t> Amazon Digital UK Limited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37F10BC8-B079-D786-3446-2F6F9A6F8375}"/>
              </a:ext>
            </a:extLst>
          </p:cNvPr>
          <p:cNvSpPr txBox="1"/>
          <p:nvPr/>
        </p:nvSpPr>
        <p:spPr>
          <a:xfrm>
            <a:off x="8948996" y="4350842"/>
            <a:ext cx="32481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>
                <a:latin typeface="Neo Sans Std" panose="020B0504030504040204" pitchFamily="34" charset="0"/>
              </a:rPr>
              <a:t>Amazon Europe</a:t>
            </a:r>
            <a:endParaRPr lang="it-IT" sz="2800" b="1" dirty="0">
              <a:latin typeface="Neo Sans Std" panose="020B0504030504040204" pitchFamily="34" charset="0"/>
            </a:endParaRPr>
          </a:p>
        </p:txBody>
      </p:sp>
      <p:pic>
        <p:nvPicPr>
          <p:cNvPr id="34" name="Immagine 3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84FEDB1-CE9B-485D-2DD6-092ACE8214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490" y="461585"/>
            <a:ext cx="635691" cy="635691"/>
          </a:xfrm>
          <a:prstGeom prst="rect">
            <a:avLst/>
          </a:prstGeom>
        </p:spPr>
      </p:pic>
      <p:pic>
        <p:nvPicPr>
          <p:cNvPr id="35" name="Immagine 34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E70A219-50A1-12C0-A65E-28E0FC3A7C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223" y="444370"/>
            <a:ext cx="635691" cy="635691"/>
          </a:xfrm>
          <a:prstGeom prst="rect">
            <a:avLst/>
          </a:prstGeom>
        </p:spPr>
      </p:pic>
      <p:pic>
        <p:nvPicPr>
          <p:cNvPr id="36" name="Immagine 35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99BB993-1948-423A-C527-691C4D15A3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550" y="245775"/>
            <a:ext cx="834286" cy="834286"/>
          </a:xfrm>
          <a:prstGeom prst="rect">
            <a:avLst/>
          </a:prstGeom>
        </p:spPr>
      </p:pic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6073ECAD-B665-8717-1A0A-D577D385F578}"/>
              </a:ext>
            </a:extLst>
          </p:cNvPr>
          <p:cNvCxnSpPr>
            <a:cxnSpLocks/>
          </p:cNvCxnSpPr>
          <p:nvPr/>
        </p:nvCxnSpPr>
        <p:spPr>
          <a:xfrm>
            <a:off x="8836626" y="3677824"/>
            <a:ext cx="0" cy="2065877"/>
          </a:xfrm>
          <a:prstGeom prst="line">
            <a:avLst/>
          </a:prstGeom>
          <a:ln w="76200">
            <a:solidFill>
              <a:srgbClr val="FF0D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ABB8631-3B3D-9A1F-5DDA-1D7A96363259}"/>
              </a:ext>
            </a:extLst>
          </p:cNvPr>
          <p:cNvSpPr txBox="1"/>
          <p:nvPr/>
        </p:nvSpPr>
        <p:spPr>
          <a:xfrm>
            <a:off x="1351437" y="4549458"/>
            <a:ext cx="338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Neo Sans Std" panose="020B0504030504040204" pitchFamily="34" charset="0"/>
              </a:rPr>
              <a:t>Data Processor</a:t>
            </a:r>
          </a:p>
        </p:txBody>
      </p:sp>
    </p:spTree>
    <p:extLst>
      <p:ext uri="{BB962C8B-B14F-4D97-AF65-F5344CB8AC3E}">
        <p14:creationId xmlns:p14="http://schemas.microsoft.com/office/powerpoint/2010/main" val="2782170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465D807-A1D6-A5E8-A50D-19BA0F038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072" y="1962336"/>
            <a:ext cx="834285" cy="834285"/>
          </a:xfrm>
          <a:prstGeom prst="rect">
            <a:avLst/>
          </a:prstGeom>
        </p:spPr>
      </p:pic>
      <p:pic>
        <p:nvPicPr>
          <p:cNvPr id="8" name="Immagine 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041741ED-68BD-C92C-B12B-799F8ACD0F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794" y="1890552"/>
            <a:ext cx="942746" cy="942746"/>
          </a:xfrm>
          <a:prstGeom prst="rect">
            <a:avLst/>
          </a:prstGeom>
        </p:spPr>
      </p:pic>
      <p:pic>
        <p:nvPicPr>
          <p:cNvPr id="10" name="Immagine 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0290E2A-615E-ED83-9AB0-12160CA4D6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869" y="1348140"/>
            <a:ext cx="1485158" cy="1485158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DDB7B58-26D0-DF19-5895-61F511BD88FE}"/>
              </a:ext>
            </a:extLst>
          </p:cNvPr>
          <p:cNvSpPr txBox="1"/>
          <p:nvPr/>
        </p:nvSpPr>
        <p:spPr>
          <a:xfrm>
            <a:off x="1252823" y="4171933"/>
            <a:ext cx="446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rgbClr val="091C6B"/>
                </a:solidFill>
                <a:latin typeface="Neo Sans Std" panose="020B0504030504040204" pitchFamily="34" charset="0"/>
              </a:rPr>
              <a:t>Data </a:t>
            </a:r>
            <a:r>
              <a:rPr lang="it-IT" sz="2800" b="1" dirty="0" err="1">
                <a:solidFill>
                  <a:srgbClr val="091C6B"/>
                </a:solidFill>
                <a:latin typeface="Neo Sans Std" panose="020B0504030504040204" pitchFamily="34" charset="0"/>
              </a:rPr>
              <a:t>Protection</a:t>
            </a:r>
            <a:r>
              <a:rPr lang="it-IT" sz="2800" b="1" dirty="0">
                <a:solidFill>
                  <a:srgbClr val="091C6B"/>
                </a:solidFill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solidFill>
                  <a:srgbClr val="091C6B"/>
                </a:solidFill>
                <a:latin typeface="Neo Sans Std" panose="020B0504030504040204" pitchFamily="34" charset="0"/>
              </a:rPr>
              <a:t>Officier</a:t>
            </a:r>
            <a:endParaRPr lang="it-IT" sz="2800" b="1" dirty="0">
              <a:solidFill>
                <a:srgbClr val="091C6B"/>
              </a:solidFill>
              <a:latin typeface="Neo Sans Std" panose="020B0504030504040204" pitchFamily="34" charset="0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FCE4893-91FF-43F3-0505-8D0E97188F15}"/>
              </a:ext>
            </a:extLst>
          </p:cNvPr>
          <p:cNvSpPr txBox="1"/>
          <p:nvPr/>
        </p:nvSpPr>
        <p:spPr>
          <a:xfrm>
            <a:off x="7165388" y="3379342"/>
            <a:ext cx="2257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>
                <a:latin typeface="Neo Sans Std" panose="020B0504030504040204" pitchFamily="34" charset="0"/>
              </a:rPr>
              <a:t>Internal</a:t>
            </a:r>
            <a:r>
              <a:rPr lang="it-IT" sz="2800" dirty="0">
                <a:latin typeface="Neo Sans Std" panose="020B0504030504040204" pitchFamily="34" charset="0"/>
              </a:rPr>
              <a:t> DPO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5604C26-5F20-6BC0-F738-5CFE65F3968E}"/>
              </a:ext>
            </a:extLst>
          </p:cNvPr>
          <p:cNvSpPr txBox="1"/>
          <p:nvPr/>
        </p:nvSpPr>
        <p:spPr>
          <a:xfrm>
            <a:off x="7165388" y="4882350"/>
            <a:ext cx="2364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>
                <a:latin typeface="Neo Sans Std" panose="020B0504030504040204" pitchFamily="34" charset="0"/>
              </a:rPr>
              <a:t>External</a:t>
            </a:r>
            <a:r>
              <a:rPr lang="it-IT" sz="2800" dirty="0">
                <a:latin typeface="Neo Sans Std" panose="020B0504030504040204" pitchFamily="34" charset="0"/>
              </a:rPr>
              <a:t> DPO</a:t>
            </a:r>
          </a:p>
        </p:txBody>
      </p:sp>
      <p:pic>
        <p:nvPicPr>
          <p:cNvPr id="19" name="Immagine 18" descr="Immagine che contiene Elementi grafici, Carattere, schermata, grafica&#10;&#10;Descrizione generata automaticamente">
            <a:extLst>
              <a:ext uri="{FF2B5EF4-FFF2-40B4-BE49-F238E27FC236}">
                <a16:creationId xmlns:a16="http://schemas.microsoft.com/office/drawing/2014/main" id="{AE973A2B-F9B2-BBA8-0FD0-6BA7083F45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78" y="247537"/>
            <a:ext cx="1627872" cy="834285"/>
          </a:xfrm>
          <a:prstGeom prst="rect">
            <a:avLst/>
          </a:prstGeom>
        </p:spPr>
      </p:pic>
      <p:pic>
        <p:nvPicPr>
          <p:cNvPr id="38" name="Immagine 3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15C82417-58E7-D559-5924-5B84112F66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490" y="461585"/>
            <a:ext cx="635691" cy="635691"/>
          </a:xfrm>
          <a:prstGeom prst="rect">
            <a:avLst/>
          </a:prstGeom>
        </p:spPr>
      </p:pic>
      <p:pic>
        <p:nvPicPr>
          <p:cNvPr id="39" name="Immagine 3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0E49CDC-FF25-F978-4150-5879043F04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223" y="444370"/>
            <a:ext cx="635691" cy="635691"/>
          </a:xfrm>
          <a:prstGeom prst="rect">
            <a:avLst/>
          </a:prstGeom>
        </p:spPr>
      </p:pic>
      <p:pic>
        <p:nvPicPr>
          <p:cNvPr id="40" name="Immagine 3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69875455-1DB4-0DB9-BC87-E44ABC707D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550" y="245775"/>
            <a:ext cx="834286" cy="834286"/>
          </a:xfrm>
          <a:prstGeom prst="rect">
            <a:avLst/>
          </a:prstGeom>
        </p:spPr>
      </p:pic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C7F7ADCF-6178-4D39-CCDC-85A16472D14D}"/>
              </a:ext>
            </a:extLst>
          </p:cNvPr>
          <p:cNvCxnSpPr>
            <a:cxnSpLocks/>
          </p:cNvCxnSpPr>
          <p:nvPr/>
        </p:nvCxnSpPr>
        <p:spPr>
          <a:xfrm>
            <a:off x="5956948" y="3446577"/>
            <a:ext cx="0" cy="2065877"/>
          </a:xfrm>
          <a:prstGeom prst="line">
            <a:avLst/>
          </a:prstGeom>
          <a:ln w="76200">
            <a:solidFill>
              <a:srgbClr val="FF0D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magine 19" descr="Immagine che contiene logo, Elementi grafici, schermata, simbolo&#10;&#10;Descrizione generata automaticamente">
            <a:extLst>
              <a:ext uri="{FF2B5EF4-FFF2-40B4-BE49-F238E27FC236}">
                <a16:creationId xmlns:a16="http://schemas.microsoft.com/office/drawing/2014/main" id="{3AC1B30D-90EB-9836-F4EE-A3FB08C9FD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403" y="4775467"/>
            <a:ext cx="736987" cy="736987"/>
          </a:xfrm>
          <a:prstGeom prst="rect">
            <a:avLst/>
          </a:prstGeom>
        </p:spPr>
      </p:pic>
      <p:pic>
        <p:nvPicPr>
          <p:cNvPr id="22" name="Immagine 21" descr="Immagine che contiene Elementi grafici, schermata, Carattere, simbolo&#10;&#10;Descrizione generata automaticamente">
            <a:extLst>
              <a:ext uri="{FF2B5EF4-FFF2-40B4-BE49-F238E27FC236}">
                <a16:creationId xmlns:a16="http://schemas.microsoft.com/office/drawing/2014/main" id="{26EC2042-F131-E112-CAB3-3B5FB3AF0D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403" y="3287682"/>
            <a:ext cx="736985" cy="73698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D418B6C-BD09-B376-39CB-F56D55F92DA7}"/>
              </a:ext>
            </a:extLst>
          </p:cNvPr>
          <p:cNvSpPr txBox="1"/>
          <p:nvPr/>
        </p:nvSpPr>
        <p:spPr>
          <a:xfrm>
            <a:off x="5541307" y="2007018"/>
            <a:ext cx="3248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>
                <a:solidFill>
                  <a:srgbClr val="091C6B"/>
                </a:solidFill>
                <a:latin typeface="Neo Sans Std" panose="020B0504030504040204" pitchFamily="34" charset="0"/>
              </a:rPr>
              <a:t>Reviewer</a:t>
            </a:r>
            <a:endParaRPr lang="it-IT" sz="2400" b="1" dirty="0">
              <a:solidFill>
                <a:srgbClr val="091C6B"/>
              </a:solidFill>
              <a:latin typeface="Neo Sans Std" panose="020B05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364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465D807-A1D6-A5E8-A50D-19BA0F038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072" y="1962336"/>
            <a:ext cx="834285" cy="834285"/>
          </a:xfrm>
          <a:prstGeom prst="rect">
            <a:avLst/>
          </a:prstGeom>
        </p:spPr>
      </p:pic>
      <p:pic>
        <p:nvPicPr>
          <p:cNvPr id="8" name="Immagine 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041741ED-68BD-C92C-B12B-799F8ACD0F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637" y="1347395"/>
            <a:ext cx="1485903" cy="1485903"/>
          </a:xfrm>
          <a:prstGeom prst="rect">
            <a:avLst/>
          </a:prstGeom>
        </p:spPr>
      </p:pic>
      <p:pic>
        <p:nvPicPr>
          <p:cNvPr id="10" name="Immagine 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0290E2A-615E-ED83-9AB0-12160CA4D6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869" y="1962336"/>
            <a:ext cx="870962" cy="87096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DDB7B58-26D0-DF19-5895-61F511BD88FE}"/>
              </a:ext>
            </a:extLst>
          </p:cNvPr>
          <p:cNvSpPr txBox="1"/>
          <p:nvPr/>
        </p:nvSpPr>
        <p:spPr>
          <a:xfrm>
            <a:off x="2446130" y="4131880"/>
            <a:ext cx="162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Neo Sans Std" panose="020B0504030504040204" pitchFamily="34" charset="0"/>
              </a:rPr>
              <a:t>C-suite</a:t>
            </a:r>
          </a:p>
        </p:txBody>
      </p:sp>
      <p:cxnSp>
        <p:nvCxnSpPr>
          <p:cNvPr id="5" name="Straight Arrow Connector 12">
            <a:extLst>
              <a:ext uri="{FF2B5EF4-FFF2-40B4-BE49-F238E27FC236}">
                <a16:creationId xmlns:a16="http://schemas.microsoft.com/office/drawing/2014/main" id="{8965D402-156F-71AD-015E-C41039047E6B}"/>
              </a:ext>
            </a:extLst>
          </p:cNvPr>
          <p:cNvCxnSpPr>
            <a:cxnSpLocks/>
          </p:cNvCxnSpPr>
          <p:nvPr/>
        </p:nvCxnSpPr>
        <p:spPr>
          <a:xfrm>
            <a:off x="4017908" y="4438158"/>
            <a:ext cx="839397" cy="0"/>
          </a:xfrm>
          <a:prstGeom prst="straightConnector1">
            <a:avLst/>
          </a:prstGeom>
          <a:ln w="92075" cap="rnd">
            <a:solidFill>
              <a:srgbClr val="FF0D5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6FDF2DD-23E7-D671-F792-4759E080E7A8}"/>
              </a:ext>
            </a:extLst>
          </p:cNvPr>
          <p:cNvSpPr txBox="1"/>
          <p:nvPr/>
        </p:nvSpPr>
        <p:spPr>
          <a:xfrm>
            <a:off x="5399463" y="4655100"/>
            <a:ext cx="4443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dirty="0">
                <a:solidFill>
                  <a:srgbClr val="252525"/>
                </a:solidFill>
                <a:effectLst/>
                <a:latin typeface="Neo Sans Std" panose="020B0504030504040204" pitchFamily="34" charset="0"/>
              </a:rPr>
              <a:t>the upper echelons of a corporation's senior executives and managers</a:t>
            </a:r>
          </a:p>
          <a:p>
            <a:br>
              <a:rPr lang="en-US" dirty="0">
                <a:latin typeface="Neo Sans Std" panose="020B0504030504040204" pitchFamily="34" charset="0"/>
              </a:rPr>
            </a:br>
            <a:endParaRPr lang="it-IT" dirty="0">
              <a:latin typeface="Neo Sans Std" panose="020B0504030504040204" pitchFamily="34" charset="0"/>
            </a:endParaRPr>
          </a:p>
        </p:txBody>
      </p:sp>
      <p:pic>
        <p:nvPicPr>
          <p:cNvPr id="9" name="Immagine 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07285677-EE49-ADC1-5498-B3231B7493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68" y="2973485"/>
            <a:ext cx="1051218" cy="1051218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4A200E7-5DB4-09D5-884A-E36ED38EB23F}"/>
              </a:ext>
            </a:extLst>
          </p:cNvPr>
          <p:cNvSpPr txBox="1"/>
          <p:nvPr/>
        </p:nvSpPr>
        <p:spPr>
          <a:xfrm>
            <a:off x="5446550" y="4009820"/>
            <a:ext cx="1051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Neo Sans Std" panose="020B0504030504040204" pitchFamily="34" charset="0"/>
              </a:rPr>
              <a:t>CEO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98D7149-A699-1552-4466-181C86EECDBF}"/>
              </a:ext>
            </a:extLst>
          </p:cNvPr>
          <p:cNvSpPr txBox="1"/>
          <p:nvPr/>
        </p:nvSpPr>
        <p:spPr>
          <a:xfrm>
            <a:off x="7692577" y="4009819"/>
            <a:ext cx="1388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Neo Sans Std" panose="020B0504030504040204" pitchFamily="34" charset="0"/>
              </a:rPr>
              <a:t>CISO</a:t>
            </a:r>
          </a:p>
        </p:txBody>
      </p:sp>
      <p:pic>
        <p:nvPicPr>
          <p:cNvPr id="7" name="Immagine 6" descr="Immagine che contiene Elementi grafici, Carattere, schermata, grafica&#10;&#10;Descrizione generata automaticamente">
            <a:extLst>
              <a:ext uri="{FF2B5EF4-FFF2-40B4-BE49-F238E27FC236}">
                <a16:creationId xmlns:a16="http://schemas.microsoft.com/office/drawing/2014/main" id="{B3A26B95-FC7D-3886-B55B-0894F87AC1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78" y="247537"/>
            <a:ext cx="1627872" cy="834285"/>
          </a:xfrm>
          <a:prstGeom prst="rect">
            <a:avLst/>
          </a:prstGeom>
        </p:spPr>
      </p:pic>
      <p:pic>
        <p:nvPicPr>
          <p:cNvPr id="21" name="Immagine 20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A691004D-FEBD-B066-98B4-E222C46193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490" y="461585"/>
            <a:ext cx="635691" cy="635691"/>
          </a:xfrm>
          <a:prstGeom prst="rect">
            <a:avLst/>
          </a:prstGeom>
        </p:spPr>
      </p:pic>
      <p:pic>
        <p:nvPicPr>
          <p:cNvPr id="22" name="Immagine 21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17936D62-B885-4EA1-25B6-F5CE42B9F6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223" y="444370"/>
            <a:ext cx="635691" cy="635691"/>
          </a:xfrm>
          <a:prstGeom prst="rect">
            <a:avLst/>
          </a:prstGeom>
        </p:spPr>
      </p:pic>
      <p:pic>
        <p:nvPicPr>
          <p:cNvPr id="23" name="Immagine 2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12167DFB-434D-9183-B09C-341BDA6BE8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550" y="245775"/>
            <a:ext cx="834286" cy="83428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648B383-F77D-9134-F623-3FA670AF2CF9}"/>
              </a:ext>
            </a:extLst>
          </p:cNvPr>
          <p:cNvSpPr txBox="1"/>
          <p:nvPr/>
        </p:nvSpPr>
        <p:spPr>
          <a:xfrm>
            <a:off x="6774607" y="3876530"/>
            <a:ext cx="1051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/>
              <a:t>…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0C028C0-1F31-595C-6E15-B26802BB45FB}"/>
              </a:ext>
            </a:extLst>
          </p:cNvPr>
          <p:cNvSpPr txBox="1"/>
          <p:nvPr/>
        </p:nvSpPr>
        <p:spPr>
          <a:xfrm>
            <a:off x="5541307" y="2007018"/>
            <a:ext cx="3248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>
                <a:solidFill>
                  <a:srgbClr val="091C6B"/>
                </a:solidFill>
                <a:latin typeface="Neo Sans Std" panose="020B0504030504040204" pitchFamily="34" charset="0"/>
              </a:rPr>
              <a:t>Validator</a:t>
            </a:r>
            <a:endParaRPr lang="it-IT" sz="2400" b="1" dirty="0">
              <a:solidFill>
                <a:srgbClr val="091C6B"/>
              </a:solidFill>
              <a:latin typeface="Neo Sans Std" panose="020B05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459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Elementi grafici, Carattere, schermata, grafica&#10;&#10;Descrizione generata automaticamente">
            <a:extLst>
              <a:ext uri="{FF2B5EF4-FFF2-40B4-BE49-F238E27FC236}">
                <a16:creationId xmlns:a16="http://schemas.microsoft.com/office/drawing/2014/main" id="{836F3B3B-E1CF-EA68-FB61-409F47494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78" y="247537"/>
            <a:ext cx="1627872" cy="834285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7E52A04-3B08-2D1E-A39E-F13357F24B69}"/>
              </a:ext>
            </a:extLst>
          </p:cNvPr>
          <p:cNvSpPr txBox="1"/>
          <p:nvPr/>
        </p:nvSpPr>
        <p:spPr>
          <a:xfrm>
            <a:off x="3882117" y="1899306"/>
            <a:ext cx="5302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 err="1">
                <a:solidFill>
                  <a:srgbClr val="091C6B"/>
                </a:solidFill>
                <a:latin typeface="Neo Sans Std" panose="020B0504030504040204" pitchFamily="34" charset="0"/>
              </a:rPr>
              <a:t>Possible</a:t>
            </a:r>
            <a:r>
              <a:rPr lang="it-IT" sz="3200" b="1" dirty="0">
                <a:solidFill>
                  <a:srgbClr val="091C6B"/>
                </a:solidFill>
                <a:latin typeface="Neo Sans Std" panose="020B0504030504040204" pitchFamily="34" charset="0"/>
              </a:rPr>
              <a:t> </a:t>
            </a:r>
            <a:r>
              <a:rPr lang="it-IT" sz="3200" b="1" dirty="0" err="1">
                <a:solidFill>
                  <a:srgbClr val="091C6B"/>
                </a:solidFill>
                <a:latin typeface="Neo Sans Std" panose="020B0504030504040204" pitchFamily="34" charset="0"/>
              </a:rPr>
              <a:t>implementation</a:t>
            </a:r>
            <a:endParaRPr lang="it-IT" sz="3200" b="1" dirty="0">
              <a:solidFill>
                <a:srgbClr val="091C6B"/>
              </a:solidFill>
              <a:latin typeface="Neo Sans Std" panose="020B0504030504040204" pitchFamily="34" charset="0"/>
            </a:endParaRPr>
          </a:p>
        </p:txBody>
      </p:sp>
      <p:cxnSp>
        <p:nvCxnSpPr>
          <p:cNvPr id="27" name="Straight Arrow Connector 12">
            <a:extLst>
              <a:ext uri="{FF2B5EF4-FFF2-40B4-BE49-F238E27FC236}">
                <a16:creationId xmlns:a16="http://schemas.microsoft.com/office/drawing/2014/main" id="{EFE55CD0-D98D-2A41-C388-E23895B1388F}"/>
              </a:ext>
            </a:extLst>
          </p:cNvPr>
          <p:cNvCxnSpPr>
            <a:cxnSpLocks/>
          </p:cNvCxnSpPr>
          <p:nvPr/>
        </p:nvCxnSpPr>
        <p:spPr>
          <a:xfrm>
            <a:off x="4611361" y="3098002"/>
            <a:ext cx="839397" cy="0"/>
          </a:xfrm>
          <a:prstGeom prst="straightConnector1">
            <a:avLst/>
          </a:prstGeom>
          <a:ln w="92075" cap="rnd">
            <a:solidFill>
              <a:srgbClr val="FF0D5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Immagine 3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8762460B-9B61-4972-5E36-7A0A38D6F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228" y="2487971"/>
            <a:ext cx="1519467" cy="1519467"/>
          </a:xfrm>
          <a:prstGeom prst="rect">
            <a:avLst/>
          </a:prstGeom>
        </p:spPr>
      </p:pic>
      <p:pic>
        <p:nvPicPr>
          <p:cNvPr id="35" name="Immagine 34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AF2955A-C7AC-2791-7090-264ABDCB9C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768" y="4838698"/>
            <a:ext cx="1113645" cy="1113645"/>
          </a:xfrm>
          <a:prstGeom prst="rect">
            <a:avLst/>
          </a:prstGeom>
        </p:spPr>
      </p:pic>
      <p:pic>
        <p:nvPicPr>
          <p:cNvPr id="37" name="Immagine 36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B08D3395-57D9-1070-BF7F-B263EB01C8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658" y="4838698"/>
            <a:ext cx="1282700" cy="1282700"/>
          </a:xfrm>
          <a:prstGeom prst="rect">
            <a:avLst/>
          </a:prstGeom>
        </p:spPr>
      </p:pic>
      <p:pic>
        <p:nvPicPr>
          <p:cNvPr id="39" name="Immagine 3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E20FD071-4A96-A8AD-4A9D-C3D2DAA350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1603" y="4838697"/>
            <a:ext cx="1113645" cy="1113645"/>
          </a:xfrm>
          <a:prstGeom prst="rect">
            <a:avLst/>
          </a:prstGeom>
        </p:spPr>
      </p:pic>
      <p:cxnSp>
        <p:nvCxnSpPr>
          <p:cNvPr id="40" name="Straight Arrow Connector 12">
            <a:extLst>
              <a:ext uri="{FF2B5EF4-FFF2-40B4-BE49-F238E27FC236}">
                <a16:creationId xmlns:a16="http://schemas.microsoft.com/office/drawing/2014/main" id="{D44CC1D8-3362-7DC9-6195-0731B006AA9A}"/>
              </a:ext>
            </a:extLst>
          </p:cNvPr>
          <p:cNvCxnSpPr>
            <a:cxnSpLocks/>
          </p:cNvCxnSpPr>
          <p:nvPr/>
        </p:nvCxnSpPr>
        <p:spPr>
          <a:xfrm>
            <a:off x="5589261" y="4007438"/>
            <a:ext cx="0" cy="635798"/>
          </a:xfrm>
          <a:prstGeom prst="straightConnector1">
            <a:avLst/>
          </a:prstGeom>
          <a:ln w="92075" cap="rnd">
            <a:solidFill>
              <a:srgbClr val="FF0D5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12">
            <a:extLst>
              <a:ext uri="{FF2B5EF4-FFF2-40B4-BE49-F238E27FC236}">
                <a16:creationId xmlns:a16="http://schemas.microsoft.com/office/drawing/2014/main" id="{254EDF1B-E137-7B9C-4942-8245E7964292}"/>
              </a:ext>
            </a:extLst>
          </p:cNvPr>
          <p:cNvCxnSpPr>
            <a:cxnSpLocks/>
          </p:cNvCxnSpPr>
          <p:nvPr/>
        </p:nvCxnSpPr>
        <p:spPr>
          <a:xfrm>
            <a:off x="7662962" y="4007438"/>
            <a:ext cx="0" cy="635798"/>
          </a:xfrm>
          <a:prstGeom prst="straightConnector1">
            <a:avLst/>
          </a:prstGeom>
          <a:ln w="92075" cap="rnd">
            <a:solidFill>
              <a:srgbClr val="FF0D5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12">
            <a:extLst>
              <a:ext uri="{FF2B5EF4-FFF2-40B4-BE49-F238E27FC236}">
                <a16:creationId xmlns:a16="http://schemas.microsoft.com/office/drawing/2014/main" id="{760C32E0-EB3A-E78B-7B02-1D0AE06FFF7D}"/>
              </a:ext>
            </a:extLst>
          </p:cNvPr>
          <p:cNvCxnSpPr>
            <a:cxnSpLocks/>
          </p:cNvCxnSpPr>
          <p:nvPr/>
        </p:nvCxnSpPr>
        <p:spPr>
          <a:xfrm>
            <a:off x="9956987" y="4007438"/>
            <a:ext cx="0" cy="635798"/>
          </a:xfrm>
          <a:prstGeom prst="straightConnector1">
            <a:avLst/>
          </a:prstGeom>
          <a:ln w="92075" cap="rnd">
            <a:solidFill>
              <a:srgbClr val="FF0D5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D4C715B6-86FD-B89A-AA6A-8CD743C75623}"/>
              </a:ext>
            </a:extLst>
          </p:cNvPr>
          <p:cNvSpPr txBox="1"/>
          <p:nvPr/>
        </p:nvSpPr>
        <p:spPr>
          <a:xfrm>
            <a:off x="5008046" y="5983821"/>
            <a:ext cx="1328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Neo Sans Std" panose="020B0504030504040204" pitchFamily="34" charset="0"/>
              </a:rPr>
              <a:t>Standard</a:t>
            </a: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07015FB3-1D3D-D09A-50AF-0FEBC76B9302}"/>
              </a:ext>
            </a:extLst>
          </p:cNvPr>
          <p:cNvSpPr txBox="1"/>
          <p:nvPr/>
        </p:nvSpPr>
        <p:spPr>
          <a:xfrm>
            <a:off x="6902941" y="5983821"/>
            <a:ext cx="1815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Neo Sans Std" panose="020B0504030504040204" pitchFamily="34" charset="0"/>
              </a:rPr>
              <a:t>Storage Time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19A6CE80-4FD5-CA8E-BA03-9B15B87F8F0D}"/>
              </a:ext>
            </a:extLst>
          </p:cNvPr>
          <p:cNvSpPr txBox="1"/>
          <p:nvPr/>
        </p:nvSpPr>
        <p:spPr>
          <a:xfrm>
            <a:off x="9131062" y="5983821"/>
            <a:ext cx="1680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Neo Sans Std" panose="020B0504030504040204" pitchFamily="34" charset="0"/>
              </a:rPr>
              <a:t>Profiling</a:t>
            </a:r>
          </a:p>
        </p:txBody>
      </p:sp>
      <p:pic>
        <p:nvPicPr>
          <p:cNvPr id="51" name="Immagine 50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5AAF6CC4-9BBC-FEE3-8729-2D7ECFA98D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490" y="461585"/>
            <a:ext cx="635691" cy="635691"/>
          </a:xfrm>
          <a:prstGeom prst="rect">
            <a:avLst/>
          </a:prstGeom>
        </p:spPr>
      </p:pic>
      <p:pic>
        <p:nvPicPr>
          <p:cNvPr id="52" name="Immagine 51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CBAAC691-DF80-9D6B-668D-410AF550E4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204" y="707424"/>
            <a:ext cx="1249592" cy="1249592"/>
          </a:xfrm>
          <a:prstGeom prst="rect">
            <a:avLst/>
          </a:prstGeom>
        </p:spPr>
      </p:pic>
      <p:pic>
        <p:nvPicPr>
          <p:cNvPr id="53" name="Immagine 5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B1EE96E0-43A3-0B83-3C41-70ED757997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550" y="444369"/>
            <a:ext cx="635692" cy="635692"/>
          </a:xfrm>
          <a:prstGeom prst="rect">
            <a:avLst/>
          </a:prstGeom>
        </p:spPr>
      </p:pic>
      <p:pic>
        <p:nvPicPr>
          <p:cNvPr id="3" name="Immagine 2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6FA27A43-4E60-0FDD-667A-262C76C1B1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512" y="2363246"/>
            <a:ext cx="1959242" cy="424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846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Elementi grafici, Carattere, schermata, grafica&#10;&#10;Descrizione generata automaticamente">
            <a:extLst>
              <a:ext uri="{FF2B5EF4-FFF2-40B4-BE49-F238E27FC236}">
                <a16:creationId xmlns:a16="http://schemas.microsoft.com/office/drawing/2014/main" id="{836F3B3B-E1CF-EA68-FB61-409F47494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78" y="247537"/>
            <a:ext cx="1627872" cy="834285"/>
          </a:xfrm>
          <a:prstGeom prst="rect">
            <a:avLst/>
          </a:prstGeom>
        </p:spPr>
      </p:pic>
      <p:pic>
        <p:nvPicPr>
          <p:cNvPr id="33" name="Immagine 3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8762460B-9B61-4972-5E36-7A0A38D6F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77" y="3560274"/>
            <a:ext cx="1519467" cy="1519467"/>
          </a:xfrm>
          <a:prstGeom prst="rect">
            <a:avLst/>
          </a:prstGeom>
        </p:spPr>
      </p:pic>
      <p:pic>
        <p:nvPicPr>
          <p:cNvPr id="16" name="Immagine 15" descr="Immagine che contiene Carattere, logo, Elementi grafici, simbolo&#10;&#10;Descrizione generata automaticamente">
            <a:extLst>
              <a:ext uri="{FF2B5EF4-FFF2-40B4-BE49-F238E27FC236}">
                <a16:creationId xmlns:a16="http://schemas.microsoft.com/office/drawing/2014/main" id="{B1DFA23C-01B8-F3C7-E99C-2E50E7E53F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132" y="1844040"/>
            <a:ext cx="2403065" cy="1261609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AAE55D40-0760-B115-9FC3-02D0AE1B852A}"/>
              </a:ext>
            </a:extLst>
          </p:cNvPr>
          <p:cNvSpPr txBox="1"/>
          <p:nvPr/>
        </p:nvSpPr>
        <p:spPr>
          <a:xfrm>
            <a:off x="6814217" y="912610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 err="1">
                <a:latin typeface="Neo Sans Std" panose="020B0504030504040204" pitchFamily="34" charset="0"/>
              </a:rPr>
              <a:t>Relevant</a:t>
            </a:r>
            <a:r>
              <a:rPr lang="it-IT" b="1" dirty="0">
                <a:latin typeface="Neo Sans Std" panose="020B0504030504040204" pitchFamily="34" charset="0"/>
              </a:rPr>
              <a:t> standards </a:t>
            </a:r>
            <a:r>
              <a:rPr lang="it-IT" b="1" dirty="0" err="1">
                <a:latin typeface="Neo Sans Std" panose="020B0504030504040204" pitchFamily="34" charset="0"/>
              </a:rPr>
              <a:t>applicable</a:t>
            </a:r>
            <a:r>
              <a:rPr lang="it-IT" b="1" dirty="0">
                <a:latin typeface="Neo Sans Std" panose="020B0504030504040204" pitchFamily="34" charset="0"/>
              </a:rPr>
              <a:t> to the treatment</a:t>
            </a:r>
          </a:p>
        </p:txBody>
      </p: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FA3A2FAA-2097-67BF-FA7E-DEC3B449662D}"/>
              </a:ext>
            </a:extLst>
          </p:cNvPr>
          <p:cNvCxnSpPr>
            <a:endCxn id="16" idx="0"/>
          </p:cNvCxnSpPr>
          <p:nvPr/>
        </p:nvCxnSpPr>
        <p:spPr>
          <a:xfrm>
            <a:off x="9484664" y="1352270"/>
            <a:ext cx="1" cy="49177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E9889E4A-4B69-F3FB-A278-1E87045C4C05}"/>
              </a:ext>
            </a:extLst>
          </p:cNvPr>
          <p:cNvSpPr txBox="1"/>
          <p:nvPr/>
        </p:nvSpPr>
        <p:spPr>
          <a:xfrm>
            <a:off x="6799171" y="3891932"/>
            <a:ext cx="29679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Neo Sans Std" panose="020B0504030504040204" pitchFamily="34" charset="0"/>
              </a:rPr>
              <a:t>ISO/IEC</a:t>
            </a:r>
          </a:p>
          <a:p>
            <a:r>
              <a:rPr lang="it-IT" dirty="0">
                <a:latin typeface="Neo Sans Std" panose="020B0504030504040204" pitchFamily="34" charset="0"/>
              </a:rPr>
              <a:t>27001:2013, 27017:2015,</a:t>
            </a:r>
            <a:br>
              <a:rPr lang="it-IT" dirty="0">
                <a:latin typeface="Neo Sans Std" panose="020B0504030504040204" pitchFamily="34" charset="0"/>
              </a:rPr>
            </a:br>
            <a:r>
              <a:rPr lang="it-IT" dirty="0">
                <a:latin typeface="Neo Sans Std" panose="020B0504030504040204" pitchFamily="34" charset="0"/>
              </a:rPr>
              <a:t>27018:2019, 27701:2019, </a:t>
            </a:r>
            <a:br>
              <a:rPr lang="it-IT" dirty="0">
                <a:latin typeface="Neo Sans Std" panose="020B0504030504040204" pitchFamily="34" charset="0"/>
              </a:rPr>
            </a:br>
            <a:r>
              <a:rPr lang="it-IT" dirty="0">
                <a:latin typeface="Neo Sans Std" panose="020B0504030504040204" pitchFamily="34" charset="0"/>
              </a:rPr>
              <a:t>22301:2019, 9001:2015</a:t>
            </a:r>
          </a:p>
        </p:txBody>
      </p:sp>
      <p:pic>
        <p:nvPicPr>
          <p:cNvPr id="30" name="Immagine 29" descr="Immagine che contiene testo, schermata, Carattere, cerchio&#10;&#10;Descrizione generata automaticamente">
            <a:extLst>
              <a:ext uri="{FF2B5EF4-FFF2-40B4-BE49-F238E27FC236}">
                <a16:creationId xmlns:a16="http://schemas.microsoft.com/office/drawing/2014/main" id="{A474C1F1-9BA2-BD4D-CBE6-6E319378B4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092" y="3891932"/>
            <a:ext cx="2403065" cy="2966068"/>
          </a:xfrm>
          <a:prstGeom prst="rect">
            <a:avLst/>
          </a:prstGeom>
        </p:spPr>
      </p:pic>
      <p:pic>
        <p:nvPicPr>
          <p:cNvPr id="49" name="Immagine 4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DBE4EF05-E961-8F2F-004B-4E936B714E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490" y="461585"/>
            <a:ext cx="635691" cy="635691"/>
          </a:xfrm>
          <a:prstGeom prst="rect">
            <a:avLst/>
          </a:prstGeom>
        </p:spPr>
      </p:pic>
      <p:pic>
        <p:nvPicPr>
          <p:cNvPr id="50" name="Immagine 4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3EBB54E-01BE-1CFA-E29A-0E8203EB71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550" y="444369"/>
            <a:ext cx="635692" cy="635692"/>
          </a:xfrm>
          <a:prstGeom prst="rect">
            <a:avLst/>
          </a:prstGeom>
        </p:spPr>
      </p:pic>
      <p:pic>
        <p:nvPicPr>
          <p:cNvPr id="51" name="Immagine 50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063938DC-C65E-8443-1CF8-87581D3377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131" y="195944"/>
            <a:ext cx="937470" cy="937470"/>
          </a:xfrm>
          <a:prstGeom prst="rect">
            <a:avLst/>
          </a:prstGeom>
        </p:spPr>
      </p:pic>
      <p:pic>
        <p:nvPicPr>
          <p:cNvPr id="18" name="Immagine 1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61573579-3766-F225-0D8E-0AD6F5BAC9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981" y="1608228"/>
            <a:ext cx="1652353" cy="1652353"/>
          </a:xfrm>
          <a:prstGeom prst="rect">
            <a:avLst/>
          </a:prstGeom>
        </p:spPr>
      </p:pic>
      <p:pic>
        <p:nvPicPr>
          <p:cNvPr id="19" name="Immagine 1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6017FF7-2F75-F243-1387-6112A2D91D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038" y="3607490"/>
            <a:ext cx="820297" cy="820297"/>
          </a:xfrm>
          <a:prstGeom prst="rect">
            <a:avLst/>
          </a:prstGeom>
        </p:spPr>
      </p:pic>
      <p:pic>
        <p:nvPicPr>
          <p:cNvPr id="27" name="Immagine 26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13F08E7D-B002-FD98-E6E0-0F46ED360BA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765" y="5534366"/>
            <a:ext cx="820297" cy="820297"/>
          </a:xfrm>
          <a:prstGeom prst="rect">
            <a:avLst/>
          </a:prstGeom>
        </p:spPr>
      </p:pic>
      <p:cxnSp>
        <p:nvCxnSpPr>
          <p:cNvPr id="31" name="Connettore diritto 30">
            <a:extLst>
              <a:ext uri="{FF2B5EF4-FFF2-40B4-BE49-F238E27FC236}">
                <a16:creationId xmlns:a16="http://schemas.microsoft.com/office/drawing/2014/main" id="{9AA12216-8CCB-451B-3467-E5C5FE90E34A}"/>
              </a:ext>
            </a:extLst>
          </p:cNvPr>
          <p:cNvCxnSpPr>
            <a:cxnSpLocks/>
          </p:cNvCxnSpPr>
          <p:nvPr/>
        </p:nvCxnSpPr>
        <p:spPr>
          <a:xfrm>
            <a:off x="6658833" y="1133414"/>
            <a:ext cx="0" cy="5050869"/>
          </a:xfrm>
          <a:prstGeom prst="line">
            <a:avLst/>
          </a:prstGeom>
          <a:ln w="76200">
            <a:solidFill>
              <a:srgbClr val="FF0D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12">
            <a:extLst>
              <a:ext uri="{FF2B5EF4-FFF2-40B4-BE49-F238E27FC236}">
                <a16:creationId xmlns:a16="http://schemas.microsoft.com/office/drawing/2014/main" id="{FDBEA6AC-7B96-FAF4-3AB3-5456F0CA1C51}"/>
              </a:ext>
            </a:extLst>
          </p:cNvPr>
          <p:cNvCxnSpPr>
            <a:cxnSpLocks/>
          </p:cNvCxnSpPr>
          <p:nvPr/>
        </p:nvCxnSpPr>
        <p:spPr>
          <a:xfrm>
            <a:off x="3732082" y="2058653"/>
            <a:ext cx="701486" cy="0"/>
          </a:xfrm>
          <a:prstGeom prst="straightConnector1">
            <a:avLst/>
          </a:prstGeom>
          <a:ln w="92075" cap="rnd">
            <a:solidFill>
              <a:srgbClr val="FF0D5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12">
            <a:extLst>
              <a:ext uri="{FF2B5EF4-FFF2-40B4-BE49-F238E27FC236}">
                <a16:creationId xmlns:a16="http://schemas.microsoft.com/office/drawing/2014/main" id="{4F7A21F5-75E6-245C-E7E7-EAE5B38AC1A8}"/>
              </a:ext>
            </a:extLst>
          </p:cNvPr>
          <p:cNvCxnSpPr>
            <a:cxnSpLocks/>
          </p:cNvCxnSpPr>
          <p:nvPr/>
        </p:nvCxnSpPr>
        <p:spPr>
          <a:xfrm>
            <a:off x="3732082" y="4017639"/>
            <a:ext cx="701486" cy="0"/>
          </a:xfrm>
          <a:prstGeom prst="straightConnector1">
            <a:avLst/>
          </a:prstGeom>
          <a:ln w="92075" cap="rnd">
            <a:solidFill>
              <a:srgbClr val="FF0D5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12">
            <a:extLst>
              <a:ext uri="{FF2B5EF4-FFF2-40B4-BE49-F238E27FC236}">
                <a16:creationId xmlns:a16="http://schemas.microsoft.com/office/drawing/2014/main" id="{4B7A0886-445F-3F58-851D-7F335B201676}"/>
              </a:ext>
            </a:extLst>
          </p:cNvPr>
          <p:cNvCxnSpPr>
            <a:cxnSpLocks/>
          </p:cNvCxnSpPr>
          <p:nvPr/>
        </p:nvCxnSpPr>
        <p:spPr>
          <a:xfrm>
            <a:off x="3732082" y="5944515"/>
            <a:ext cx="701486" cy="0"/>
          </a:xfrm>
          <a:prstGeom prst="straightConnector1">
            <a:avLst/>
          </a:prstGeom>
          <a:ln w="92075" cap="rnd">
            <a:solidFill>
              <a:srgbClr val="FF0D5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0E8F728F-2F0D-A94A-22A3-B3B7E502A33C}"/>
              </a:ext>
            </a:extLst>
          </p:cNvPr>
          <p:cNvCxnSpPr/>
          <p:nvPr/>
        </p:nvCxnSpPr>
        <p:spPr>
          <a:xfrm>
            <a:off x="9484663" y="3115720"/>
            <a:ext cx="1" cy="49177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190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Elementi grafici, Carattere, schermata, grafica&#10;&#10;Descrizione generata automaticamente">
            <a:extLst>
              <a:ext uri="{FF2B5EF4-FFF2-40B4-BE49-F238E27FC236}">
                <a16:creationId xmlns:a16="http://schemas.microsoft.com/office/drawing/2014/main" id="{836F3B3B-E1CF-EA68-FB61-409F47494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78" y="247537"/>
            <a:ext cx="1627872" cy="834285"/>
          </a:xfrm>
          <a:prstGeom prst="rect">
            <a:avLst/>
          </a:prstGeom>
        </p:spPr>
      </p:pic>
      <p:pic>
        <p:nvPicPr>
          <p:cNvPr id="33" name="Immagine 3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8762460B-9B61-4972-5E36-7A0A38D6F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77" y="3560274"/>
            <a:ext cx="1519467" cy="151946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7F94366-7C5B-DD21-159E-24FE086E787F}"/>
              </a:ext>
            </a:extLst>
          </p:cNvPr>
          <p:cNvSpPr txBox="1"/>
          <p:nvPr/>
        </p:nvSpPr>
        <p:spPr>
          <a:xfrm>
            <a:off x="7106211" y="1501254"/>
            <a:ext cx="4808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Neo Sans Std" panose="020B0504030504040204" pitchFamily="34" charset="0"/>
              </a:rPr>
              <a:t>Data collected and processed indicating the retention period</a:t>
            </a:r>
            <a:endParaRPr lang="it-IT" b="1" dirty="0">
              <a:latin typeface="Neo Sans Std" panose="020B0504030504040204" pitchFamily="34" charset="0"/>
            </a:endParaRPr>
          </a:p>
        </p:txBody>
      </p:sp>
      <p:pic>
        <p:nvPicPr>
          <p:cNvPr id="10" name="Immagine 9" descr="Immagine che contiene testo, Carattere, schermata, linea&#10;&#10;Descrizione generata automaticamente">
            <a:extLst>
              <a:ext uri="{FF2B5EF4-FFF2-40B4-BE49-F238E27FC236}">
                <a16:creationId xmlns:a16="http://schemas.microsoft.com/office/drawing/2014/main" id="{B71E6E4C-63CF-64C5-C0F9-A6BC7549B0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726" y="2834776"/>
            <a:ext cx="5382675" cy="1038532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03651A8-2D60-D7AC-C32B-7B51747DE0EE}"/>
              </a:ext>
            </a:extLst>
          </p:cNvPr>
          <p:cNvSpPr txBox="1"/>
          <p:nvPr/>
        </p:nvSpPr>
        <p:spPr>
          <a:xfrm>
            <a:off x="6428553" y="4564603"/>
            <a:ext cx="6121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solidFill>
                  <a:srgbClr val="FF9900"/>
                </a:solidFill>
                <a:latin typeface="Neo Sans Std" panose="020B0504030504040204" pitchFamily="34" charset="0"/>
              </a:rPr>
              <a:t>«</a:t>
            </a:r>
            <a:r>
              <a:rPr lang="it-IT" b="1" dirty="0" err="1">
                <a:solidFill>
                  <a:srgbClr val="FF9900"/>
                </a:solidFill>
                <a:latin typeface="Neo Sans Std" panose="020B0504030504040204" pitchFamily="34" charset="0"/>
              </a:rPr>
              <a:t>there's</a:t>
            </a:r>
            <a:r>
              <a:rPr lang="it-IT" b="1" dirty="0">
                <a:solidFill>
                  <a:srgbClr val="FF9900"/>
                </a:solidFill>
                <a:latin typeface="Neo Sans Std" panose="020B0504030504040204" pitchFamily="34" charset="0"/>
              </a:rPr>
              <a:t> </a:t>
            </a:r>
            <a:r>
              <a:rPr lang="it-IT" b="1" dirty="0" err="1">
                <a:solidFill>
                  <a:srgbClr val="FF9900"/>
                </a:solidFill>
                <a:latin typeface="Neo Sans Std" panose="020B0504030504040204" pitchFamily="34" charset="0"/>
              </a:rPr>
              <a:t>many</a:t>
            </a:r>
            <a:r>
              <a:rPr lang="it-IT" b="1" dirty="0">
                <a:solidFill>
                  <a:srgbClr val="FF9900"/>
                </a:solidFill>
                <a:latin typeface="Neo Sans Std" panose="020B0504030504040204" pitchFamily="34" charset="0"/>
              </a:rPr>
              <a:t> a slip '</a:t>
            </a:r>
            <a:r>
              <a:rPr lang="it-IT" b="1" dirty="0" err="1">
                <a:solidFill>
                  <a:srgbClr val="FF9900"/>
                </a:solidFill>
                <a:latin typeface="Neo Sans Std" panose="020B0504030504040204" pitchFamily="34" charset="0"/>
              </a:rPr>
              <a:t>twixt</a:t>
            </a:r>
            <a:r>
              <a:rPr lang="it-IT" b="1" dirty="0">
                <a:solidFill>
                  <a:srgbClr val="FF9900"/>
                </a:solidFill>
                <a:latin typeface="Neo Sans Std" panose="020B0504030504040204" pitchFamily="34" charset="0"/>
              </a:rPr>
              <a:t> </a:t>
            </a:r>
            <a:r>
              <a:rPr lang="it-IT" b="1" dirty="0" err="1">
                <a:solidFill>
                  <a:srgbClr val="FF9900"/>
                </a:solidFill>
                <a:latin typeface="Neo Sans Std" panose="020B0504030504040204" pitchFamily="34" charset="0"/>
              </a:rPr>
              <a:t>cup</a:t>
            </a:r>
            <a:r>
              <a:rPr lang="it-IT" b="1" dirty="0">
                <a:solidFill>
                  <a:srgbClr val="FF9900"/>
                </a:solidFill>
                <a:latin typeface="Neo Sans Std" panose="020B0504030504040204" pitchFamily="34" charset="0"/>
              </a:rPr>
              <a:t> and </a:t>
            </a:r>
            <a:r>
              <a:rPr lang="it-IT" b="1" dirty="0" err="1">
                <a:solidFill>
                  <a:srgbClr val="FF9900"/>
                </a:solidFill>
                <a:latin typeface="Neo Sans Std" panose="020B0504030504040204" pitchFamily="34" charset="0"/>
              </a:rPr>
              <a:t>lip</a:t>
            </a:r>
            <a:r>
              <a:rPr lang="it-IT" b="1" dirty="0">
                <a:solidFill>
                  <a:srgbClr val="FF9900"/>
                </a:solidFill>
                <a:latin typeface="Neo Sans Std" panose="020B0504030504040204" pitchFamily="34" charset="0"/>
              </a:rPr>
              <a:t>»</a:t>
            </a:r>
          </a:p>
        </p:txBody>
      </p:sp>
      <p:pic>
        <p:nvPicPr>
          <p:cNvPr id="41" name="Immagine 40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686FCCE5-2176-E1CF-BF0A-D80B6AFDB4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490" y="461585"/>
            <a:ext cx="635691" cy="635691"/>
          </a:xfrm>
          <a:prstGeom prst="rect">
            <a:avLst/>
          </a:prstGeom>
        </p:spPr>
      </p:pic>
      <p:pic>
        <p:nvPicPr>
          <p:cNvPr id="42" name="Immagine 41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676CA455-FF9A-1D82-FDA9-6A2E0E039D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550" y="444369"/>
            <a:ext cx="635692" cy="635692"/>
          </a:xfrm>
          <a:prstGeom prst="rect">
            <a:avLst/>
          </a:prstGeom>
        </p:spPr>
      </p:pic>
      <p:pic>
        <p:nvPicPr>
          <p:cNvPr id="43" name="Immagine 4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27FA0F80-AF88-17E9-F665-5B1560132C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131" y="195944"/>
            <a:ext cx="937470" cy="937470"/>
          </a:xfrm>
          <a:prstGeom prst="rect">
            <a:avLst/>
          </a:prstGeom>
        </p:spPr>
      </p:pic>
      <p:cxnSp>
        <p:nvCxnSpPr>
          <p:cNvPr id="5" name="Straight Arrow Connector 12">
            <a:extLst>
              <a:ext uri="{FF2B5EF4-FFF2-40B4-BE49-F238E27FC236}">
                <a16:creationId xmlns:a16="http://schemas.microsoft.com/office/drawing/2014/main" id="{0609C67E-1232-0097-943D-0E8EDE649287}"/>
              </a:ext>
            </a:extLst>
          </p:cNvPr>
          <p:cNvCxnSpPr>
            <a:cxnSpLocks/>
          </p:cNvCxnSpPr>
          <p:nvPr/>
        </p:nvCxnSpPr>
        <p:spPr>
          <a:xfrm>
            <a:off x="3732082" y="2058653"/>
            <a:ext cx="701486" cy="0"/>
          </a:xfrm>
          <a:prstGeom prst="straightConnector1">
            <a:avLst/>
          </a:prstGeom>
          <a:ln w="92075" cap="rnd">
            <a:solidFill>
              <a:srgbClr val="FF0D5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12">
            <a:extLst>
              <a:ext uri="{FF2B5EF4-FFF2-40B4-BE49-F238E27FC236}">
                <a16:creationId xmlns:a16="http://schemas.microsoft.com/office/drawing/2014/main" id="{9B71C142-202B-89EA-4A54-07796AFFC5D7}"/>
              </a:ext>
            </a:extLst>
          </p:cNvPr>
          <p:cNvCxnSpPr>
            <a:cxnSpLocks/>
          </p:cNvCxnSpPr>
          <p:nvPr/>
        </p:nvCxnSpPr>
        <p:spPr>
          <a:xfrm>
            <a:off x="3732082" y="4017639"/>
            <a:ext cx="701486" cy="0"/>
          </a:xfrm>
          <a:prstGeom prst="straightConnector1">
            <a:avLst/>
          </a:prstGeom>
          <a:ln w="92075" cap="rnd">
            <a:solidFill>
              <a:srgbClr val="FF0D5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12">
            <a:extLst>
              <a:ext uri="{FF2B5EF4-FFF2-40B4-BE49-F238E27FC236}">
                <a16:creationId xmlns:a16="http://schemas.microsoft.com/office/drawing/2014/main" id="{B80ABDB8-45CC-26DF-40A1-B2F66818047F}"/>
              </a:ext>
            </a:extLst>
          </p:cNvPr>
          <p:cNvCxnSpPr>
            <a:cxnSpLocks/>
          </p:cNvCxnSpPr>
          <p:nvPr/>
        </p:nvCxnSpPr>
        <p:spPr>
          <a:xfrm>
            <a:off x="3732082" y="5944515"/>
            <a:ext cx="701486" cy="0"/>
          </a:xfrm>
          <a:prstGeom prst="straightConnector1">
            <a:avLst/>
          </a:prstGeom>
          <a:ln w="92075" cap="rnd">
            <a:solidFill>
              <a:srgbClr val="FF0D5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AAD1D864-8E70-7FAB-D6D1-625ED1C3EF38}"/>
              </a:ext>
            </a:extLst>
          </p:cNvPr>
          <p:cNvCxnSpPr>
            <a:cxnSpLocks/>
          </p:cNvCxnSpPr>
          <p:nvPr/>
        </p:nvCxnSpPr>
        <p:spPr>
          <a:xfrm>
            <a:off x="6658833" y="1133414"/>
            <a:ext cx="0" cy="5050869"/>
          </a:xfrm>
          <a:prstGeom prst="line">
            <a:avLst/>
          </a:prstGeom>
          <a:ln w="76200">
            <a:solidFill>
              <a:srgbClr val="FF0D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magine 14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8E9A077-3373-924B-7137-3E8E88E0F8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038" y="1598155"/>
            <a:ext cx="820300" cy="820300"/>
          </a:xfrm>
          <a:prstGeom prst="rect">
            <a:avLst/>
          </a:prstGeom>
        </p:spPr>
      </p:pic>
      <p:pic>
        <p:nvPicPr>
          <p:cNvPr id="17" name="Immagine 16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A72D7B6E-6A39-7A7F-6A4C-0DACFB589F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765" y="5534366"/>
            <a:ext cx="820297" cy="820297"/>
          </a:xfrm>
          <a:prstGeom prst="rect">
            <a:avLst/>
          </a:prstGeom>
        </p:spPr>
      </p:pic>
      <p:pic>
        <p:nvPicPr>
          <p:cNvPr id="20" name="Immagine 1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A0127A81-9125-1EFF-B2C4-311416F55CE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375" y="3191462"/>
            <a:ext cx="1652353" cy="1652353"/>
          </a:xfrm>
          <a:prstGeom prst="rect">
            <a:avLst/>
          </a:prstGeom>
        </p:spPr>
      </p:pic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A19926F5-7A93-FB04-02FF-2D8F94A35BA8}"/>
              </a:ext>
            </a:extLst>
          </p:cNvPr>
          <p:cNvCxnSpPr/>
          <p:nvPr/>
        </p:nvCxnSpPr>
        <p:spPr>
          <a:xfrm>
            <a:off x="9489065" y="2276073"/>
            <a:ext cx="1" cy="49177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2B87550A-FFD6-1C50-17DF-41F50A4E736D}"/>
              </a:ext>
            </a:extLst>
          </p:cNvPr>
          <p:cNvCxnSpPr/>
          <p:nvPr/>
        </p:nvCxnSpPr>
        <p:spPr>
          <a:xfrm>
            <a:off x="9510491" y="3957073"/>
            <a:ext cx="1" cy="49177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Immagine 23" descr="Immagine che contiene linea, cartello&#10;&#10;Descrizione generata automaticamente">
            <a:extLst>
              <a:ext uri="{FF2B5EF4-FFF2-40B4-BE49-F238E27FC236}">
                <a16:creationId xmlns:a16="http://schemas.microsoft.com/office/drawing/2014/main" id="{A96BF4C3-6F2E-350E-06EB-EC204FD27A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349" y="5020130"/>
            <a:ext cx="677427" cy="677427"/>
          </a:xfrm>
          <a:prstGeom prst="rect">
            <a:avLst/>
          </a:prstGeom>
        </p:spPr>
      </p:pic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F4FF8430-3D01-42FE-748F-EA093943EFFF}"/>
              </a:ext>
            </a:extLst>
          </p:cNvPr>
          <p:cNvCxnSpPr>
            <a:cxnSpLocks/>
          </p:cNvCxnSpPr>
          <p:nvPr/>
        </p:nvCxnSpPr>
        <p:spPr>
          <a:xfrm>
            <a:off x="6899275" y="3645999"/>
            <a:ext cx="404948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A56EA1EB-23EE-16F6-87DB-F6787936B074}"/>
              </a:ext>
            </a:extLst>
          </p:cNvPr>
          <p:cNvCxnSpPr>
            <a:cxnSpLocks/>
          </p:cNvCxnSpPr>
          <p:nvPr/>
        </p:nvCxnSpPr>
        <p:spPr>
          <a:xfrm>
            <a:off x="11914772" y="3426924"/>
            <a:ext cx="196039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727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Elementi grafici, Carattere, schermata, grafica&#10;&#10;Descrizione generata automaticamente">
            <a:extLst>
              <a:ext uri="{FF2B5EF4-FFF2-40B4-BE49-F238E27FC236}">
                <a16:creationId xmlns:a16="http://schemas.microsoft.com/office/drawing/2014/main" id="{836F3B3B-E1CF-EA68-FB61-409F47494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78" y="247537"/>
            <a:ext cx="1627872" cy="834285"/>
          </a:xfrm>
          <a:prstGeom prst="rect">
            <a:avLst/>
          </a:prstGeom>
        </p:spPr>
      </p:pic>
      <p:pic>
        <p:nvPicPr>
          <p:cNvPr id="33" name="Immagine 3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8762460B-9B61-4972-5E36-7A0A38D6F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77" y="3560274"/>
            <a:ext cx="1519467" cy="151946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7F94366-7C5B-DD21-159E-24FE086E787F}"/>
              </a:ext>
            </a:extLst>
          </p:cNvPr>
          <p:cNvSpPr txBox="1"/>
          <p:nvPr/>
        </p:nvSpPr>
        <p:spPr>
          <a:xfrm>
            <a:off x="7106211" y="1501254"/>
            <a:ext cx="4808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Neo Sans Std" panose="020B0504030504040204" pitchFamily="34" charset="0"/>
              </a:rPr>
              <a:t>User preferences for the purposes of customizing and improving the service</a:t>
            </a:r>
            <a:endParaRPr lang="it-IT" b="1" dirty="0">
              <a:latin typeface="Neo Sans Std" panose="020B0504030504040204" pitchFamily="34" charset="0"/>
            </a:endParaRPr>
          </a:p>
        </p:txBody>
      </p:sp>
      <p:pic>
        <p:nvPicPr>
          <p:cNvPr id="16" name="Immagine 15" descr="Immagine che contiene testo, schermata, Carattere, linea&#10;&#10;Descrizione generata automaticamente">
            <a:extLst>
              <a:ext uri="{FF2B5EF4-FFF2-40B4-BE49-F238E27FC236}">
                <a16:creationId xmlns:a16="http://schemas.microsoft.com/office/drawing/2014/main" id="{D5926B9F-837B-979F-31B4-6DB0C413D6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509" y="2746821"/>
            <a:ext cx="5424429" cy="1144448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7D9DDA5-119B-34E6-9621-9E96BFE77FC4}"/>
              </a:ext>
            </a:extLst>
          </p:cNvPr>
          <p:cNvSpPr txBox="1"/>
          <p:nvPr/>
        </p:nvSpPr>
        <p:spPr>
          <a:xfrm>
            <a:off x="7868525" y="4710409"/>
            <a:ext cx="3198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solidFill>
                  <a:srgbClr val="FF9900"/>
                </a:solidFill>
                <a:latin typeface="Neo Sans Std" panose="020B0504030504040204" pitchFamily="34" charset="0"/>
              </a:rPr>
              <a:t>«</a:t>
            </a:r>
            <a:r>
              <a:rPr lang="it-IT" b="1" dirty="0" err="1">
                <a:solidFill>
                  <a:srgbClr val="FF9900"/>
                </a:solidFill>
                <a:latin typeface="Neo Sans Std" panose="020B0504030504040204" pitchFamily="34" charset="0"/>
              </a:rPr>
              <a:t>neither</a:t>
            </a:r>
            <a:r>
              <a:rPr lang="it-IT" b="1" dirty="0">
                <a:solidFill>
                  <a:srgbClr val="FF9900"/>
                </a:solidFill>
                <a:latin typeface="Neo Sans Std" panose="020B0504030504040204" pitchFamily="34" charset="0"/>
              </a:rPr>
              <a:t> </a:t>
            </a:r>
            <a:r>
              <a:rPr lang="it-IT" b="1" dirty="0" err="1">
                <a:solidFill>
                  <a:srgbClr val="FF9900"/>
                </a:solidFill>
                <a:latin typeface="Neo Sans Std" panose="020B0504030504040204" pitchFamily="34" charset="0"/>
              </a:rPr>
              <a:t>fish</a:t>
            </a:r>
            <a:r>
              <a:rPr lang="it-IT" b="1" dirty="0">
                <a:solidFill>
                  <a:srgbClr val="FF9900"/>
                </a:solidFill>
                <a:latin typeface="Neo Sans Std" panose="020B0504030504040204" pitchFamily="34" charset="0"/>
              </a:rPr>
              <a:t> </a:t>
            </a:r>
            <a:r>
              <a:rPr lang="it-IT" b="1" dirty="0" err="1">
                <a:solidFill>
                  <a:srgbClr val="FF9900"/>
                </a:solidFill>
                <a:latin typeface="Neo Sans Std" panose="020B0504030504040204" pitchFamily="34" charset="0"/>
              </a:rPr>
              <a:t>nor</a:t>
            </a:r>
            <a:r>
              <a:rPr lang="it-IT" b="1" dirty="0">
                <a:solidFill>
                  <a:srgbClr val="FF9900"/>
                </a:solidFill>
                <a:latin typeface="Neo Sans Std" panose="020B0504030504040204" pitchFamily="34" charset="0"/>
              </a:rPr>
              <a:t> </a:t>
            </a:r>
            <a:r>
              <a:rPr lang="it-IT" b="1" dirty="0" err="1">
                <a:solidFill>
                  <a:srgbClr val="FF9900"/>
                </a:solidFill>
                <a:latin typeface="Neo Sans Std" panose="020B0504030504040204" pitchFamily="34" charset="0"/>
              </a:rPr>
              <a:t>fowl</a:t>
            </a:r>
            <a:r>
              <a:rPr lang="it-IT" b="1" dirty="0">
                <a:solidFill>
                  <a:srgbClr val="FF9900"/>
                </a:solidFill>
                <a:latin typeface="Neo Sans Std" panose="020B0504030504040204" pitchFamily="34" charset="0"/>
              </a:rPr>
              <a:t>»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284C2EBA-E840-5729-BB20-A294B7B78EC5}"/>
              </a:ext>
            </a:extLst>
          </p:cNvPr>
          <p:cNvCxnSpPr>
            <a:cxnSpLocks/>
          </p:cNvCxnSpPr>
          <p:nvPr/>
        </p:nvCxnSpPr>
        <p:spPr>
          <a:xfrm>
            <a:off x="8734567" y="3560274"/>
            <a:ext cx="3457433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DD93AC03-C9BA-C331-7431-1168E7CD00C0}"/>
              </a:ext>
            </a:extLst>
          </p:cNvPr>
          <p:cNvCxnSpPr>
            <a:cxnSpLocks/>
          </p:cNvCxnSpPr>
          <p:nvPr/>
        </p:nvCxnSpPr>
        <p:spPr>
          <a:xfrm>
            <a:off x="6810232" y="3886483"/>
            <a:ext cx="3657601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AE8F0FC2-874B-988C-561B-55E030739140}"/>
              </a:ext>
            </a:extLst>
          </p:cNvPr>
          <p:cNvCxnSpPr>
            <a:cxnSpLocks/>
          </p:cNvCxnSpPr>
          <p:nvPr/>
        </p:nvCxnSpPr>
        <p:spPr>
          <a:xfrm>
            <a:off x="7642746" y="3287319"/>
            <a:ext cx="3562065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6" name="Immagine 35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C445017C-44C4-6BBD-E608-D765B12FCB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490" y="461585"/>
            <a:ext cx="635691" cy="635691"/>
          </a:xfrm>
          <a:prstGeom prst="rect">
            <a:avLst/>
          </a:prstGeom>
        </p:spPr>
      </p:pic>
      <p:pic>
        <p:nvPicPr>
          <p:cNvPr id="37" name="Immagine 36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F28D5A7-C800-2817-D414-0CFEB08A41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550" y="444369"/>
            <a:ext cx="635692" cy="635692"/>
          </a:xfrm>
          <a:prstGeom prst="rect">
            <a:avLst/>
          </a:prstGeom>
        </p:spPr>
      </p:pic>
      <p:pic>
        <p:nvPicPr>
          <p:cNvPr id="38" name="Immagine 3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CEBEAD90-7EA3-D234-04DB-EF3CE68904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131" y="195944"/>
            <a:ext cx="937470" cy="937470"/>
          </a:xfrm>
          <a:prstGeom prst="rect">
            <a:avLst/>
          </a:prstGeom>
        </p:spPr>
      </p:pic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69614B1A-9E6F-0FC0-C6BC-B9BB0869333B}"/>
              </a:ext>
            </a:extLst>
          </p:cNvPr>
          <p:cNvCxnSpPr>
            <a:cxnSpLocks/>
          </p:cNvCxnSpPr>
          <p:nvPr/>
        </p:nvCxnSpPr>
        <p:spPr>
          <a:xfrm>
            <a:off x="6658833" y="1133414"/>
            <a:ext cx="0" cy="5050869"/>
          </a:xfrm>
          <a:prstGeom prst="line">
            <a:avLst/>
          </a:prstGeom>
          <a:ln w="76200">
            <a:solidFill>
              <a:srgbClr val="FF0D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160B0429-F211-4F81-D208-7092E9197D61}"/>
              </a:ext>
            </a:extLst>
          </p:cNvPr>
          <p:cNvCxnSpPr>
            <a:cxnSpLocks/>
          </p:cNvCxnSpPr>
          <p:nvPr/>
        </p:nvCxnSpPr>
        <p:spPr>
          <a:xfrm>
            <a:off x="3732082" y="2058653"/>
            <a:ext cx="701486" cy="0"/>
          </a:xfrm>
          <a:prstGeom prst="straightConnector1">
            <a:avLst/>
          </a:prstGeom>
          <a:ln w="92075" cap="rnd">
            <a:solidFill>
              <a:srgbClr val="FF0D5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2">
            <a:extLst>
              <a:ext uri="{FF2B5EF4-FFF2-40B4-BE49-F238E27FC236}">
                <a16:creationId xmlns:a16="http://schemas.microsoft.com/office/drawing/2014/main" id="{DCD98C8D-BA8A-11AE-C68F-BAE7F5C07A35}"/>
              </a:ext>
            </a:extLst>
          </p:cNvPr>
          <p:cNvCxnSpPr>
            <a:cxnSpLocks/>
          </p:cNvCxnSpPr>
          <p:nvPr/>
        </p:nvCxnSpPr>
        <p:spPr>
          <a:xfrm>
            <a:off x="3732082" y="4017639"/>
            <a:ext cx="701486" cy="0"/>
          </a:xfrm>
          <a:prstGeom prst="straightConnector1">
            <a:avLst/>
          </a:prstGeom>
          <a:ln w="92075" cap="rnd">
            <a:solidFill>
              <a:srgbClr val="FF0D5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12">
            <a:extLst>
              <a:ext uri="{FF2B5EF4-FFF2-40B4-BE49-F238E27FC236}">
                <a16:creationId xmlns:a16="http://schemas.microsoft.com/office/drawing/2014/main" id="{E1F3A2BB-CEE4-336D-7C6F-160DEB184C38}"/>
              </a:ext>
            </a:extLst>
          </p:cNvPr>
          <p:cNvCxnSpPr>
            <a:cxnSpLocks/>
          </p:cNvCxnSpPr>
          <p:nvPr/>
        </p:nvCxnSpPr>
        <p:spPr>
          <a:xfrm>
            <a:off x="3732082" y="5944515"/>
            <a:ext cx="701486" cy="0"/>
          </a:xfrm>
          <a:prstGeom prst="straightConnector1">
            <a:avLst/>
          </a:prstGeom>
          <a:ln w="92075" cap="rnd">
            <a:solidFill>
              <a:srgbClr val="FF0D5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magine 2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FD6EEBD-9FDB-52AD-6B0E-62B1269EDB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038" y="1598155"/>
            <a:ext cx="820300" cy="820300"/>
          </a:xfrm>
          <a:prstGeom prst="rect">
            <a:avLst/>
          </a:prstGeom>
        </p:spPr>
      </p:pic>
      <p:pic>
        <p:nvPicPr>
          <p:cNvPr id="29" name="Immagine 2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D50F048C-0579-7472-C7D1-76E38B7A32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038" y="3607490"/>
            <a:ext cx="820297" cy="820297"/>
          </a:xfrm>
          <a:prstGeom prst="rect">
            <a:avLst/>
          </a:prstGeom>
        </p:spPr>
      </p:pic>
      <p:pic>
        <p:nvPicPr>
          <p:cNvPr id="30" name="Immagine 2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40B50227-03F6-E995-B1EE-29C3E4B557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026" y="4790647"/>
            <a:ext cx="1652349" cy="1652349"/>
          </a:xfrm>
          <a:prstGeom prst="rect">
            <a:avLst/>
          </a:prstGeom>
        </p:spPr>
      </p:pic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8149877A-7D5E-2470-DF28-7E88BD533290}"/>
              </a:ext>
            </a:extLst>
          </p:cNvPr>
          <p:cNvCxnSpPr/>
          <p:nvPr/>
        </p:nvCxnSpPr>
        <p:spPr>
          <a:xfrm>
            <a:off x="9496733" y="2268790"/>
            <a:ext cx="1" cy="49177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873E5E0A-6EF0-0F83-444E-AB97B8F46B6C}"/>
              </a:ext>
            </a:extLst>
          </p:cNvPr>
          <p:cNvCxnSpPr/>
          <p:nvPr/>
        </p:nvCxnSpPr>
        <p:spPr>
          <a:xfrm>
            <a:off x="9489065" y="4159437"/>
            <a:ext cx="1" cy="49177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4" name="Immagine 43" descr="Immagine che contiene linea, cartello&#10;&#10;Descrizione generata automaticamente">
            <a:extLst>
              <a:ext uri="{FF2B5EF4-FFF2-40B4-BE49-F238E27FC236}">
                <a16:creationId xmlns:a16="http://schemas.microsoft.com/office/drawing/2014/main" id="{3CF4EF01-1D14-A462-2706-03B255F1629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732" y="5136418"/>
            <a:ext cx="677427" cy="67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110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Elementi grafici, Carattere, schermata, grafica&#10;&#10;Descrizione generata automaticamente">
            <a:extLst>
              <a:ext uri="{FF2B5EF4-FFF2-40B4-BE49-F238E27FC236}">
                <a16:creationId xmlns:a16="http://schemas.microsoft.com/office/drawing/2014/main" id="{836F3B3B-E1CF-EA68-FB61-409F47494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78" y="247537"/>
            <a:ext cx="1627872" cy="834285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7E52A04-3B08-2D1E-A39E-F13357F24B69}"/>
              </a:ext>
            </a:extLst>
          </p:cNvPr>
          <p:cNvSpPr txBox="1"/>
          <p:nvPr/>
        </p:nvSpPr>
        <p:spPr>
          <a:xfrm>
            <a:off x="3844023" y="1908302"/>
            <a:ext cx="4503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rgbClr val="FF0D50"/>
                </a:solidFill>
                <a:latin typeface="Neo Sans Std" panose="020B0504030504040204" pitchFamily="34" charset="0"/>
              </a:rPr>
              <a:t>Exchange of information</a:t>
            </a:r>
          </a:p>
        </p:txBody>
      </p:sp>
      <p:pic>
        <p:nvPicPr>
          <p:cNvPr id="8" name="Immagine 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81ED25B-F791-2BA5-15D7-3DE671689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615" y="664679"/>
            <a:ext cx="1249592" cy="1249592"/>
          </a:xfrm>
          <a:prstGeom prst="rect">
            <a:avLst/>
          </a:prstGeom>
        </p:spPr>
      </p:pic>
      <p:pic>
        <p:nvPicPr>
          <p:cNvPr id="9" name="Immagine 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02000925-9EE8-447E-581D-56AF61B91B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550" y="444369"/>
            <a:ext cx="635692" cy="635692"/>
          </a:xfrm>
          <a:prstGeom prst="rect">
            <a:avLst/>
          </a:prstGeom>
        </p:spPr>
      </p:pic>
      <p:pic>
        <p:nvPicPr>
          <p:cNvPr id="10" name="Immagine 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96544C3D-403B-8BAC-05F8-D4AFE2FB66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356" y="444369"/>
            <a:ext cx="635692" cy="635692"/>
          </a:xfrm>
          <a:prstGeom prst="rect">
            <a:avLst/>
          </a:prstGeom>
        </p:spPr>
      </p:pic>
      <p:pic>
        <p:nvPicPr>
          <p:cNvPr id="2" name="Immagine 1" descr="Immagine che contiene testo, schermata, Pagina Web, Sito Web&#10;&#10;Descrizione generata automaticamente">
            <a:extLst>
              <a:ext uri="{FF2B5EF4-FFF2-40B4-BE49-F238E27FC236}">
                <a16:creationId xmlns:a16="http://schemas.microsoft.com/office/drawing/2014/main" id="{6B195F47-BD52-1A71-DCA2-F6321E1D9B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196" y="2554391"/>
            <a:ext cx="5582429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03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Elementi grafici, Carattere, schermata, grafica&#10;&#10;Descrizione generata automaticamente">
            <a:extLst>
              <a:ext uri="{FF2B5EF4-FFF2-40B4-BE49-F238E27FC236}">
                <a16:creationId xmlns:a16="http://schemas.microsoft.com/office/drawing/2014/main" id="{836F3B3B-E1CF-EA68-FB61-409F47494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78" y="247537"/>
            <a:ext cx="1627872" cy="834285"/>
          </a:xfrm>
          <a:prstGeom prst="rect">
            <a:avLst/>
          </a:prstGeom>
        </p:spPr>
      </p:pic>
      <p:cxnSp>
        <p:nvCxnSpPr>
          <p:cNvPr id="40" name="Straight Arrow Connector 12">
            <a:extLst>
              <a:ext uri="{FF2B5EF4-FFF2-40B4-BE49-F238E27FC236}">
                <a16:creationId xmlns:a16="http://schemas.microsoft.com/office/drawing/2014/main" id="{D44CC1D8-3362-7DC9-6195-0731B006AA9A}"/>
              </a:ext>
            </a:extLst>
          </p:cNvPr>
          <p:cNvCxnSpPr>
            <a:cxnSpLocks/>
          </p:cNvCxnSpPr>
          <p:nvPr/>
        </p:nvCxnSpPr>
        <p:spPr>
          <a:xfrm>
            <a:off x="3264202" y="2377449"/>
            <a:ext cx="0" cy="635798"/>
          </a:xfrm>
          <a:prstGeom prst="straightConnector1">
            <a:avLst/>
          </a:prstGeom>
          <a:ln w="92075" cap="rnd">
            <a:solidFill>
              <a:srgbClr val="FF0D5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magine 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5A06C167-782D-23D9-A557-2E329BFC6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660" y="1276894"/>
            <a:ext cx="1099085" cy="1099085"/>
          </a:xfrm>
          <a:prstGeom prst="rect">
            <a:avLst/>
          </a:prstGeom>
        </p:spPr>
      </p:pic>
      <p:cxnSp>
        <p:nvCxnSpPr>
          <p:cNvPr id="19" name="Straight Arrow Connector 12">
            <a:extLst>
              <a:ext uri="{FF2B5EF4-FFF2-40B4-BE49-F238E27FC236}">
                <a16:creationId xmlns:a16="http://schemas.microsoft.com/office/drawing/2014/main" id="{A4C8995B-BB78-4C97-82B1-7654D4124905}"/>
              </a:ext>
            </a:extLst>
          </p:cNvPr>
          <p:cNvCxnSpPr>
            <a:cxnSpLocks/>
          </p:cNvCxnSpPr>
          <p:nvPr/>
        </p:nvCxnSpPr>
        <p:spPr>
          <a:xfrm>
            <a:off x="9183908" y="2375979"/>
            <a:ext cx="0" cy="635798"/>
          </a:xfrm>
          <a:prstGeom prst="straightConnector1">
            <a:avLst/>
          </a:prstGeom>
          <a:ln w="92075" cap="rnd">
            <a:solidFill>
              <a:srgbClr val="FF0D5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magine 21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CE27DAC0-ED89-8D8C-5522-69F1AC7838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550" y="444369"/>
            <a:ext cx="635692" cy="635692"/>
          </a:xfrm>
          <a:prstGeom prst="rect">
            <a:avLst/>
          </a:prstGeom>
        </p:spPr>
      </p:pic>
      <p:pic>
        <p:nvPicPr>
          <p:cNvPr id="23" name="Immagine 2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A950B8EC-2DD8-BE5B-CD84-BC775A8806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356" y="444369"/>
            <a:ext cx="635692" cy="635692"/>
          </a:xfrm>
          <a:prstGeom prst="rect">
            <a:avLst/>
          </a:prstGeom>
        </p:spPr>
      </p:pic>
      <p:pic>
        <p:nvPicPr>
          <p:cNvPr id="24" name="Immagine 2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EA7E6B36-5B27-2B51-08B9-21C9D96334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162" y="245776"/>
            <a:ext cx="840624" cy="840624"/>
          </a:xfrm>
          <a:prstGeom prst="rect">
            <a:avLst/>
          </a:prstGeom>
        </p:spPr>
      </p:pic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DB9888E5-AA11-98F8-C363-686A43C58BDF}"/>
              </a:ext>
            </a:extLst>
          </p:cNvPr>
          <p:cNvSpPr txBox="1"/>
          <p:nvPr/>
        </p:nvSpPr>
        <p:spPr>
          <a:xfrm>
            <a:off x="4874825" y="2618878"/>
            <a:ext cx="269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91C6B"/>
                </a:solidFill>
                <a:latin typeface="Neo Sans Std" panose="020B0504030504040204" pitchFamily="34" charset="0"/>
              </a:rPr>
              <a:t>Data </a:t>
            </a:r>
            <a:r>
              <a:rPr lang="it-IT" dirty="0" err="1">
                <a:solidFill>
                  <a:srgbClr val="091C6B"/>
                </a:solidFill>
                <a:latin typeface="Neo Sans Std" panose="020B0504030504040204" pitchFamily="34" charset="0"/>
              </a:rPr>
              <a:t>Protection</a:t>
            </a:r>
            <a:r>
              <a:rPr lang="it-IT" dirty="0">
                <a:solidFill>
                  <a:srgbClr val="091C6B"/>
                </a:solidFill>
                <a:latin typeface="Neo Sans Std" panose="020B0504030504040204" pitchFamily="34" charset="0"/>
              </a:rPr>
              <a:t> </a:t>
            </a:r>
            <a:r>
              <a:rPr lang="it-IT" dirty="0" err="1">
                <a:solidFill>
                  <a:srgbClr val="091C6B"/>
                </a:solidFill>
                <a:latin typeface="Neo Sans Std" panose="020B0504030504040204" pitchFamily="34" charset="0"/>
              </a:rPr>
              <a:t>Officier</a:t>
            </a:r>
            <a:endParaRPr lang="it-IT" dirty="0">
              <a:solidFill>
                <a:srgbClr val="091C6B"/>
              </a:solidFill>
              <a:latin typeface="Neo Sans Std" panose="020B0504030504040204" pitchFamily="34" charset="0"/>
            </a:endParaRPr>
          </a:p>
        </p:txBody>
      </p:sp>
      <p:pic>
        <p:nvPicPr>
          <p:cNvPr id="2" name="Immagine 1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51C3FE8F-A666-D217-D26E-967FDF084F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365" y="1276893"/>
            <a:ext cx="1099085" cy="1099085"/>
          </a:xfrm>
          <a:prstGeom prst="rect">
            <a:avLst/>
          </a:prstGeom>
        </p:spPr>
      </p:pic>
      <p:pic>
        <p:nvPicPr>
          <p:cNvPr id="8" name="Immagine 7" descr="Immagine che contiene viola, violetto, schermata&#10;&#10;Descrizione generata automaticamente">
            <a:extLst>
              <a:ext uri="{FF2B5EF4-FFF2-40B4-BE49-F238E27FC236}">
                <a16:creationId xmlns:a16="http://schemas.microsoft.com/office/drawing/2014/main" id="{59DE0156-7483-FB96-48B8-0C54F95F0B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73" y="1976184"/>
            <a:ext cx="609600" cy="609600"/>
          </a:xfrm>
          <a:prstGeom prst="rect">
            <a:avLst/>
          </a:prstGeom>
        </p:spPr>
      </p:pic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4C850C2F-5E51-9AC9-5A6C-B838565F8041}"/>
              </a:ext>
            </a:extLst>
          </p:cNvPr>
          <p:cNvCxnSpPr>
            <a:cxnSpLocks/>
          </p:cNvCxnSpPr>
          <p:nvPr/>
        </p:nvCxnSpPr>
        <p:spPr>
          <a:xfrm flipH="1">
            <a:off x="4417316" y="2645310"/>
            <a:ext cx="3367314" cy="0"/>
          </a:xfrm>
          <a:prstGeom prst="line">
            <a:avLst/>
          </a:prstGeom>
          <a:ln w="76200">
            <a:solidFill>
              <a:srgbClr val="091C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magine 15" descr="Immagine che contiene testo, elettronica, schermata, Carattere&#10;&#10;Descrizione generata automaticamente">
            <a:extLst>
              <a:ext uri="{FF2B5EF4-FFF2-40B4-BE49-F238E27FC236}">
                <a16:creationId xmlns:a16="http://schemas.microsoft.com/office/drawing/2014/main" id="{2C51B95D-4728-E1F4-FBA2-1196C49542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78" y="3151900"/>
            <a:ext cx="5556871" cy="3451709"/>
          </a:xfrm>
          <a:prstGeom prst="rect">
            <a:avLst/>
          </a:prstGeom>
        </p:spPr>
      </p:pic>
      <p:pic>
        <p:nvPicPr>
          <p:cNvPr id="20" name="Immagine 19" descr="Immagine che contiene testo, schermata, Carattere, Pagina Web&#10;&#10;Descrizione generata automaticamente">
            <a:extLst>
              <a:ext uri="{FF2B5EF4-FFF2-40B4-BE49-F238E27FC236}">
                <a16:creationId xmlns:a16="http://schemas.microsoft.com/office/drawing/2014/main" id="{F5EE7DB1-FA07-D86C-F28B-D08F9619EC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773" y="3130566"/>
            <a:ext cx="5556869" cy="347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923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79FF092-374B-2A67-1F0E-7BAE44452549}"/>
              </a:ext>
            </a:extLst>
          </p:cNvPr>
          <p:cNvSpPr/>
          <p:nvPr/>
        </p:nvSpPr>
        <p:spPr>
          <a:xfrm>
            <a:off x="0" y="0"/>
            <a:ext cx="12192000" cy="685526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134230C-9F4E-5907-E6E2-C96CFDAE9005}"/>
              </a:ext>
            </a:extLst>
          </p:cNvPr>
          <p:cNvSpPr txBox="1"/>
          <p:nvPr/>
        </p:nvSpPr>
        <p:spPr>
          <a:xfrm>
            <a:off x="1606881" y="5100111"/>
            <a:ext cx="989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DPIA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FF91099-221C-9CC3-A079-82FB2E2AA755}"/>
              </a:ext>
            </a:extLst>
          </p:cNvPr>
          <p:cNvSpPr txBox="1"/>
          <p:nvPr/>
        </p:nvSpPr>
        <p:spPr>
          <a:xfrm>
            <a:off x="4997588" y="5126561"/>
            <a:ext cx="2368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 err="1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Violations</a:t>
            </a:r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 of GDPR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D07126B-9BB1-3E44-C045-BE2FBAC3CE9A}"/>
              </a:ext>
            </a:extLst>
          </p:cNvPr>
          <p:cNvSpPr txBox="1"/>
          <p:nvPr/>
        </p:nvSpPr>
        <p:spPr>
          <a:xfrm>
            <a:off x="9570257" y="2964018"/>
            <a:ext cx="1239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Alexa &amp; Privacy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1D4F5AC4-5081-7B0E-5BD5-5F6A824D148A}"/>
              </a:ext>
            </a:extLst>
          </p:cNvPr>
          <p:cNvSpPr txBox="1"/>
          <p:nvPr/>
        </p:nvSpPr>
        <p:spPr>
          <a:xfrm>
            <a:off x="9449709" y="5100111"/>
            <a:ext cx="1480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 err="1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Possible</a:t>
            </a:r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 Solutions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37A9122-DBC9-E6F7-26BD-E0FF983BBBCF}"/>
              </a:ext>
            </a:extLst>
          </p:cNvPr>
          <p:cNvSpPr txBox="1"/>
          <p:nvPr/>
        </p:nvSpPr>
        <p:spPr>
          <a:xfrm>
            <a:off x="3819102" y="267046"/>
            <a:ext cx="455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Table</a:t>
            </a:r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 of </a:t>
            </a:r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Contents</a:t>
            </a:r>
            <a:endParaRPr lang="it-IT" sz="4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CC1D85A5-07A4-B7A0-3366-261087B46798}"/>
              </a:ext>
            </a:extLst>
          </p:cNvPr>
          <p:cNvGrpSpPr/>
          <p:nvPr/>
        </p:nvGrpSpPr>
        <p:grpSpPr>
          <a:xfrm>
            <a:off x="5601105" y="1872103"/>
            <a:ext cx="989788" cy="1086456"/>
            <a:chOff x="5601105" y="1872103"/>
            <a:chExt cx="989788" cy="108645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4E940A52-3718-317F-5F78-7999BAF19B40}"/>
                </a:ext>
              </a:extLst>
            </p:cNvPr>
            <p:cNvSpPr/>
            <p:nvPr/>
          </p:nvSpPr>
          <p:spPr>
            <a:xfrm>
              <a:off x="5601105" y="1872103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7" name="Immagine 6" descr="Immagine che contiene logo, simbolo, Carattere, Elementi grafici&#10;&#10;Descrizione generata automaticamente">
              <a:extLst>
                <a:ext uri="{FF2B5EF4-FFF2-40B4-BE49-F238E27FC236}">
                  <a16:creationId xmlns:a16="http://schemas.microsoft.com/office/drawing/2014/main" id="{A6D20C96-9FF8-9773-2554-0243D1DDC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943" y="2095276"/>
              <a:ext cx="640110" cy="640110"/>
            </a:xfrm>
            <a:prstGeom prst="rect">
              <a:avLst/>
            </a:prstGeom>
          </p:spPr>
        </p:pic>
      </p:grpSp>
      <p:sp>
        <p:nvSpPr>
          <p:cNvPr id="14" name="Freeform 5">
            <a:extLst>
              <a:ext uri="{FF2B5EF4-FFF2-40B4-BE49-F238E27FC236}">
                <a16:creationId xmlns:a16="http://schemas.microsoft.com/office/drawing/2014/main" id="{4B794181-D643-C43A-E24D-A5593B38716F}"/>
              </a:ext>
            </a:extLst>
          </p:cNvPr>
          <p:cNvSpPr/>
          <p:nvPr/>
        </p:nvSpPr>
        <p:spPr>
          <a:xfrm>
            <a:off x="9704038" y="1872103"/>
            <a:ext cx="989788" cy="1086456"/>
          </a:xfrm>
          <a:custGeom>
            <a:avLst/>
            <a:gdLst>
              <a:gd name="connsiteX0" fmla="*/ 1612423 w 1612281"/>
              <a:gd name="connsiteY0" fmla="*/ 1198981 h 1769747"/>
              <a:gd name="connsiteX1" fmla="*/ 1483129 w 1612281"/>
              <a:gd name="connsiteY1" fmla="*/ 1423165 h 1769747"/>
              <a:gd name="connsiteX2" fmla="*/ 936966 w 1612281"/>
              <a:gd name="connsiteY2" fmla="*/ 1738895 h 1769747"/>
              <a:gd name="connsiteX3" fmla="*/ 677807 w 1612281"/>
              <a:gd name="connsiteY3" fmla="*/ 1739218 h 1769747"/>
              <a:gd name="connsiteX4" fmla="*/ 130825 w 1612281"/>
              <a:gd name="connsiteY4" fmla="*/ 1424906 h 1769747"/>
              <a:gd name="connsiteX5" fmla="*/ 951 w 1612281"/>
              <a:gd name="connsiteY5" fmla="*/ 1201017 h 1769747"/>
              <a:gd name="connsiteX6" fmla="*/ 142 w 1612281"/>
              <a:gd name="connsiteY6" fmla="*/ 571003 h 1769747"/>
              <a:gd name="connsiteX7" fmla="*/ 129426 w 1612281"/>
              <a:gd name="connsiteY7" fmla="*/ 346791 h 1769747"/>
              <a:gd name="connsiteX8" fmla="*/ 675637 w 1612281"/>
              <a:gd name="connsiteY8" fmla="*/ 31089 h 1769747"/>
              <a:gd name="connsiteX9" fmla="*/ 934795 w 1612281"/>
              <a:gd name="connsiteY9" fmla="*/ 30756 h 1769747"/>
              <a:gd name="connsiteX10" fmla="*/ 1481777 w 1612281"/>
              <a:gd name="connsiteY10" fmla="*/ 345078 h 1769747"/>
              <a:gd name="connsiteX11" fmla="*/ 1611642 w 1612281"/>
              <a:gd name="connsiteY11" fmla="*/ 568920 h 176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12281" h="1769747">
                <a:moveTo>
                  <a:pt x="1612423" y="1198981"/>
                </a:moveTo>
                <a:cubicBezTo>
                  <a:pt x="1612527" y="1281127"/>
                  <a:pt x="1554350" y="1382025"/>
                  <a:pt x="1483129" y="1423165"/>
                </a:cubicBezTo>
                <a:lnTo>
                  <a:pt x="936966" y="1738895"/>
                </a:lnTo>
                <a:cubicBezTo>
                  <a:pt x="865736" y="1780063"/>
                  <a:pt x="749132" y="1780187"/>
                  <a:pt x="677807" y="1739218"/>
                </a:cubicBezTo>
                <a:lnTo>
                  <a:pt x="130825" y="1424906"/>
                </a:lnTo>
                <a:cubicBezTo>
                  <a:pt x="59500" y="1383909"/>
                  <a:pt x="1056" y="1283144"/>
                  <a:pt x="951" y="1201017"/>
                </a:cubicBezTo>
                <a:lnTo>
                  <a:pt x="142" y="571003"/>
                </a:lnTo>
                <a:cubicBezTo>
                  <a:pt x="46" y="488838"/>
                  <a:pt x="58215" y="387968"/>
                  <a:pt x="129426" y="346791"/>
                </a:cubicBezTo>
                <a:lnTo>
                  <a:pt x="675637" y="31089"/>
                </a:lnTo>
                <a:cubicBezTo>
                  <a:pt x="746857" y="-10088"/>
                  <a:pt x="863470" y="-10231"/>
                  <a:pt x="934795" y="30756"/>
                </a:cubicBezTo>
                <a:lnTo>
                  <a:pt x="1481777" y="345078"/>
                </a:lnTo>
                <a:cubicBezTo>
                  <a:pt x="1553102" y="386046"/>
                  <a:pt x="1611547" y="486793"/>
                  <a:pt x="1611642" y="568920"/>
                </a:cubicBezTo>
                <a:close/>
              </a:path>
            </a:pathLst>
          </a:custGeom>
          <a:solidFill>
            <a:srgbClr val="222E3E"/>
          </a:solidFill>
          <a:ln w="9511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IT"/>
          </a:p>
        </p:txBody>
      </p:sp>
      <p:pic>
        <p:nvPicPr>
          <p:cNvPr id="10" name="Immagine 9" descr="Immagine che contiene simbolo, logo, Carattere, Elementi grafici&#10;&#10;Descrizione generata automaticamente">
            <a:extLst>
              <a:ext uri="{FF2B5EF4-FFF2-40B4-BE49-F238E27FC236}">
                <a16:creationId xmlns:a16="http://schemas.microsoft.com/office/drawing/2014/main" id="{838A6D04-B477-7861-C856-163D069E2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876" y="2092351"/>
            <a:ext cx="640111" cy="640111"/>
          </a:xfrm>
          <a:prstGeom prst="rect">
            <a:avLst/>
          </a:prstGeom>
        </p:spPr>
      </p:pic>
      <p:grpSp>
        <p:nvGrpSpPr>
          <p:cNvPr id="31" name="Gruppo 30">
            <a:extLst>
              <a:ext uri="{FF2B5EF4-FFF2-40B4-BE49-F238E27FC236}">
                <a16:creationId xmlns:a16="http://schemas.microsoft.com/office/drawing/2014/main" id="{7E610907-EA13-8489-0E47-34CAEA020610}"/>
              </a:ext>
            </a:extLst>
          </p:cNvPr>
          <p:cNvGrpSpPr/>
          <p:nvPr/>
        </p:nvGrpSpPr>
        <p:grpSpPr>
          <a:xfrm>
            <a:off x="9704038" y="4040105"/>
            <a:ext cx="989788" cy="1086456"/>
            <a:chOff x="9704038" y="4040105"/>
            <a:chExt cx="989788" cy="108645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E85D2035-9278-423D-E4A3-F7FC7E331453}"/>
                </a:ext>
              </a:extLst>
            </p:cNvPr>
            <p:cNvSpPr/>
            <p:nvPr/>
          </p:nvSpPr>
          <p:spPr>
            <a:xfrm>
              <a:off x="9704038" y="4040105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28" name="Immagine 27" descr="Immagine che contiene Elementi grafici, Carattere, simbolo, logo&#10;&#10;Descrizione generata automaticamente">
              <a:extLst>
                <a:ext uri="{FF2B5EF4-FFF2-40B4-BE49-F238E27FC236}">
                  <a16:creationId xmlns:a16="http://schemas.microsoft.com/office/drawing/2014/main" id="{885A62B1-AA7B-4D4A-EFF2-37CA4F47E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9891" y="4190551"/>
              <a:ext cx="640111" cy="640111"/>
            </a:xfrm>
            <a:prstGeom prst="rect">
              <a:avLst/>
            </a:prstGeom>
          </p:spPr>
        </p:pic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1D77F8E8-291C-EDA7-1473-F4FBB1BF5C66}"/>
              </a:ext>
            </a:extLst>
          </p:cNvPr>
          <p:cNvGrpSpPr/>
          <p:nvPr/>
        </p:nvGrpSpPr>
        <p:grpSpPr>
          <a:xfrm>
            <a:off x="1608116" y="1872103"/>
            <a:ext cx="989788" cy="1086456"/>
            <a:chOff x="1608116" y="1872103"/>
            <a:chExt cx="989788" cy="108645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6BFDEC2A-1A38-1E91-881C-0C87B4A3EE5F}"/>
                </a:ext>
              </a:extLst>
            </p:cNvPr>
            <p:cNvSpPr/>
            <p:nvPr/>
          </p:nvSpPr>
          <p:spPr>
            <a:xfrm>
              <a:off x="1608116" y="1872103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>
                <a:solidFill>
                  <a:schemeClr val="bg1"/>
                </a:solidFill>
              </a:endParaRPr>
            </a:p>
          </p:txBody>
        </p:sp>
        <p:pic>
          <p:nvPicPr>
            <p:cNvPr id="8" name="Immagine 7" descr="Immagine che contiene simbolo, schermata, Carattere, logo&#10;&#10;Descrizione generata automaticamente">
              <a:extLst>
                <a:ext uri="{FF2B5EF4-FFF2-40B4-BE49-F238E27FC236}">
                  <a16:creationId xmlns:a16="http://schemas.microsoft.com/office/drawing/2014/main" id="{71F876E8-D63E-B5D2-5721-883EF3181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2095276"/>
              <a:ext cx="640111" cy="640111"/>
            </a:xfrm>
            <a:prstGeom prst="rect">
              <a:avLst/>
            </a:prstGeom>
          </p:spPr>
        </p:pic>
      </p:grp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E199EC8-6D2F-4648-83DB-541250E8A99C}"/>
              </a:ext>
            </a:extLst>
          </p:cNvPr>
          <p:cNvSpPr txBox="1"/>
          <p:nvPr/>
        </p:nvSpPr>
        <p:spPr>
          <a:xfrm>
            <a:off x="1104966" y="2959471"/>
            <a:ext cx="19551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How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VVAs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work</a:t>
            </a:r>
          </a:p>
        </p:txBody>
      </p: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FE15EFCD-D790-A135-04C6-558E4B2EE372}"/>
              </a:ext>
            </a:extLst>
          </p:cNvPr>
          <p:cNvGrpSpPr/>
          <p:nvPr/>
        </p:nvGrpSpPr>
        <p:grpSpPr>
          <a:xfrm>
            <a:off x="1608114" y="4040561"/>
            <a:ext cx="989788" cy="1086456"/>
            <a:chOff x="1608114" y="4040561"/>
            <a:chExt cx="989788" cy="1086456"/>
          </a:xfrm>
        </p:grpSpPr>
        <p:sp>
          <p:nvSpPr>
            <p:cNvPr id="2" name="Freeform 5">
              <a:extLst>
                <a:ext uri="{FF2B5EF4-FFF2-40B4-BE49-F238E27FC236}">
                  <a16:creationId xmlns:a16="http://schemas.microsoft.com/office/drawing/2014/main" id="{017B18DE-A396-89FA-6CB5-F09FF29C0C78}"/>
                </a:ext>
              </a:extLst>
            </p:cNvPr>
            <p:cNvSpPr/>
            <p:nvPr/>
          </p:nvSpPr>
          <p:spPr>
            <a:xfrm>
              <a:off x="1608114" y="4040561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12" name="Immagine 11" descr="Immagine che contiene Carattere, simbolo, Elementi grafici, design&#10;&#10;Descrizione generata automaticamente">
              <a:extLst>
                <a:ext uri="{FF2B5EF4-FFF2-40B4-BE49-F238E27FC236}">
                  <a16:creationId xmlns:a16="http://schemas.microsoft.com/office/drawing/2014/main" id="{4F9DFE00-FAC0-0DA6-2E1C-70A6D0317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4261506"/>
              <a:ext cx="640111" cy="640111"/>
            </a:xfrm>
            <a:prstGeom prst="rect">
              <a:avLst/>
            </a:prstGeom>
          </p:spPr>
        </p:pic>
      </p:grp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915C9793-8684-92AB-BB7D-77C84D6B35A1}"/>
              </a:ext>
            </a:extLst>
          </p:cNvPr>
          <p:cNvGrpSpPr/>
          <p:nvPr/>
        </p:nvGrpSpPr>
        <p:grpSpPr>
          <a:xfrm>
            <a:off x="5601105" y="4040105"/>
            <a:ext cx="989788" cy="1086456"/>
            <a:chOff x="5601105" y="4040105"/>
            <a:chExt cx="989788" cy="1086456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488CC35A-43D8-B141-980D-F09713659B42}"/>
                </a:ext>
              </a:extLst>
            </p:cNvPr>
            <p:cNvSpPr/>
            <p:nvPr/>
          </p:nvSpPr>
          <p:spPr>
            <a:xfrm>
              <a:off x="5601105" y="4040105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32" name="Immagine 31" descr="Immagine che contiene Carattere, Elementi grafici, simbolo, logo&#10;&#10;Descrizione generata automaticamente">
              <a:extLst>
                <a:ext uri="{FF2B5EF4-FFF2-40B4-BE49-F238E27FC236}">
                  <a16:creationId xmlns:a16="http://schemas.microsoft.com/office/drawing/2014/main" id="{D71C9C73-F96C-F346-DA22-AB93A97BE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3396" y="4261505"/>
              <a:ext cx="640111" cy="640111"/>
            </a:xfrm>
            <a:prstGeom prst="rect">
              <a:avLst/>
            </a:prstGeom>
          </p:spPr>
        </p:pic>
      </p:grp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03A2BB81-CCA7-1C02-FE61-96BCE9758773}"/>
              </a:ext>
            </a:extLst>
          </p:cNvPr>
          <p:cNvSpPr txBox="1"/>
          <p:nvPr/>
        </p:nvSpPr>
        <p:spPr>
          <a:xfrm>
            <a:off x="4997588" y="2954043"/>
            <a:ext cx="21303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Personal Data &amp; GDPR</a:t>
            </a:r>
          </a:p>
        </p:txBody>
      </p:sp>
    </p:spTree>
    <p:extLst>
      <p:ext uri="{BB962C8B-B14F-4D97-AF65-F5344CB8AC3E}">
        <p14:creationId xmlns:p14="http://schemas.microsoft.com/office/powerpoint/2010/main" val="611563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o 22">
            <a:extLst>
              <a:ext uri="{FF2B5EF4-FFF2-40B4-BE49-F238E27FC236}">
                <a16:creationId xmlns:a16="http://schemas.microsoft.com/office/drawing/2014/main" id="{863E5ED8-C59A-CE64-8542-340C7A30D9B2}"/>
              </a:ext>
            </a:extLst>
          </p:cNvPr>
          <p:cNvGrpSpPr/>
          <p:nvPr/>
        </p:nvGrpSpPr>
        <p:grpSpPr>
          <a:xfrm>
            <a:off x="504969" y="0"/>
            <a:ext cx="4617495" cy="6858000"/>
            <a:chOff x="8124969" y="0"/>
            <a:chExt cx="4617495" cy="6858000"/>
          </a:xfrm>
        </p:grpSpPr>
        <p:sp>
          <p:nvSpPr>
            <p:cNvPr id="24" name="Rettangolo 23">
              <a:extLst>
                <a:ext uri="{FF2B5EF4-FFF2-40B4-BE49-F238E27FC236}">
                  <a16:creationId xmlns:a16="http://schemas.microsoft.com/office/drawing/2014/main" id="{7C264A7A-9D40-AE2F-68C4-57671FEAAEDD}"/>
                </a:ext>
              </a:extLst>
            </p:cNvPr>
            <p:cNvSpPr/>
            <p:nvPr/>
          </p:nvSpPr>
          <p:spPr>
            <a:xfrm>
              <a:off x="8124969" y="0"/>
              <a:ext cx="4067033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5" name="Triangolo isoscele 15">
              <a:extLst>
                <a:ext uri="{FF2B5EF4-FFF2-40B4-BE49-F238E27FC236}">
                  <a16:creationId xmlns:a16="http://schemas.microsoft.com/office/drawing/2014/main" id="{7CF57C92-0E01-6BD0-F61E-596E5E85129E}"/>
                </a:ext>
              </a:extLst>
            </p:cNvPr>
            <p:cNvSpPr/>
            <p:nvPr/>
          </p:nvSpPr>
          <p:spPr>
            <a:xfrm rot="5400000">
              <a:off x="12012309" y="770301"/>
              <a:ext cx="900752" cy="559559"/>
            </a:xfrm>
            <a:prstGeom prst="triangl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7" name="Immagine 26" descr="Immagine che contiene nero, oscurità&#10;&#10;Descrizione generata automaticamente">
              <a:extLst>
                <a:ext uri="{FF2B5EF4-FFF2-40B4-BE49-F238E27FC236}">
                  <a16:creationId xmlns:a16="http://schemas.microsoft.com/office/drawing/2014/main" id="{B490198E-10E1-7F1B-0E36-CFC0047B5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94366" y="2673066"/>
              <a:ext cx="923330" cy="923330"/>
            </a:xfrm>
            <a:prstGeom prst="rect">
              <a:avLst/>
            </a:prstGeom>
            <a:ln>
              <a:noFill/>
            </a:ln>
          </p:spPr>
        </p:pic>
        <p:sp>
          <p:nvSpPr>
            <p:cNvPr id="28" name="CasellaDiTesto 27">
              <a:extLst>
                <a:ext uri="{FF2B5EF4-FFF2-40B4-BE49-F238E27FC236}">
                  <a16:creationId xmlns:a16="http://schemas.microsoft.com/office/drawing/2014/main" id="{16A0096B-2C92-EB7F-7F48-AE220221F026}"/>
                </a:ext>
              </a:extLst>
            </p:cNvPr>
            <p:cNvSpPr txBox="1"/>
            <p:nvPr/>
          </p:nvSpPr>
          <p:spPr>
            <a:xfrm>
              <a:off x="8280597" y="3711360"/>
              <a:ext cx="375086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800" b="1" dirty="0" err="1">
                  <a:latin typeface="Neo Sans Std" panose="020B0504030504040204" pitchFamily="34" charset="0"/>
                </a:rPr>
                <a:t>She</a:t>
              </a:r>
              <a:r>
                <a:rPr lang="it-IT" sz="2800" b="1" dirty="0">
                  <a:latin typeface="Neo Sans Std" panose="020B0504030504040204" pitchFamily="34" charset="0"/>
                </a:rPr>
                <a:t> </a:t>
              </a:r>
              <a:r>
                <a:rPr lang="it-IT" sz="2800" b="1" dirty="0" err="1">
                  <a:latin typeface="Neo Sans Std" panose="020B0504030504040204" pitchFamily="34" charset="0"/>
                </a:rPr>
                <a:t>knows</a:t>
              </a:r>
              <a:r>
                <a:rPr lang="it-IT" sz="2800" b="1" dirty="0">
                  <a:latin typeface="Neo Sans Std" panose="020B0504030504040204" pitchFamily="34" charset="0"/>
                </a:rPr>
                <a:t> </a:t>
              </a:r>
              <a:r>
                <a:rPr lang="it-IT" sz="2800" b="1" dirty="0" err="1">
                  <a:latin typeface="Neo Sans Std" panose="020B0504030504040204" pitchFamily="34" charset="0"/>
                </a:rPr>
                <a:t>too</a:t>
              </a:r>
              <a:r>
                <a:rPr lang="it-IT" sz="2800" b="1" dirty="0">
                  <a:latin typeface="Neo Sans Std" panose="020B0504030504040204" pitchFamily="34" charset="0"/>
                </a:rPr>
                <a:t> </a:t>
              </a:r>
              <a:r>
                <a:rPr lang="it-IT" sz="2800" b="1" dirty="0" err="1">
                  <a:latin typeface="Neo Sans Std" panose="020B0504030504040204" pitchFamily="34" charset="0"/>
                </a:rPr>
                <a:t>much</a:t>
              </a:r>
              <a:endParaRPr lang="it-IT" sz="2800" b="1" dirty="0">
                <a:latin typeface="Neo Sans Std" panose="020B0504030504040204" pitchFamily="34" charset="0"/>
              </a:endParaRPr>
            </a:p>
          </p:txBody>
        </p:sp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E6136E79-3FF8-FD52-F303-18DB59849845}"/>
              </a:ext>
            </a:extLst>
          </p:cNvPr>
          <p:cNvGrpSpPr/>
          <p:nvPr/>
        </p:nvGrpSpPr>
        <p:grpSpPr>
          <a:xfrm>
            <a:off x="266109" y="0"/>
            <a:ext cx="4608397" cy="6858000"/>
            <a:chOff x="4057936" y="0"/>
            <a:chExt cx="4608397" cy="6858000"/>
          </a:xfrm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7C160FB2-13F0-766A-9249-432B71FE06B9}"/>
                </a:ext>
              </a:extLst>
            </p:cNvPr>
            <p:cNvSpPr/>
            <p:nvPr/>
          </p:nvSpPr>
          <p:spPr>
            <a:xfrm>
              <a:off x="4057936" y="0"/>
              <a:ext cx="4067033" cy="6858000"/>
            </a:xfrm>
            <a:prstGeom prst="rect">
              <a:avLst/>
            </a:prstGeom>
            <a:solidFill>
              <a:srgbClr val="146E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Triangolo isoscele 14">
              <a:extLst>
                <a:ext uri="{FF2B5EF4-FFF2-40B4-BE49-F238E27FC236}">
                  <a16:creationId xmlns:a16="http://schemas.microsoft.com/office/drawing/2014/main" id="{612D179A-6658-F805-A55B-DD6FAC942BD0}"/>
                </a:ext>
              </a:extLst>
            </p:cNvPr>
            <p:cNvSpPr/>
            <p:nvPr/>
          </p:nvSpPr>
          <p:spPr>
            <a:xfrm rot="5400000">
              <a:off x="7936178" y="753582"/>
              <a:ext cx="900752" cy="559559"/>
            </a:xfrm>
            <a:prstGeom prst="triangle">
              <a:avLst/>
            </a:prstGeom>
            <a:solidFill>
              <a:srgbClr val="146E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13D22130-DD07-4734-A781-C948DCD3E5AD}"/>
                </a:ext>
              </a:extLst>
            </p:cNvPr>
            <p:cNvSpPr txBox="1"/>
            <p:nvPr/>
          </p:nvSpPr>
          <p:spPr>
            <a:xfrm>
              <a:off x="4389839" y="3733119"/>
              <a:ext cx="36195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800" b="1" dirty="0">
                  <a:solidFill>
                    <a:schemeClr val="bg2"/>
                  </a:solidFill>
                  <a:latin typeface="Neo Sans Std" panose="020B0504030504040204" pitchFamily="34" charset="0"/>
                </a:rPr>
                <a:t>Who </a:t>
              </a:r>
              <a:r>
                <a:rPr lang="it-IT" sz="2800" b="1" dirty="0" err="1">
                  <a:solidFill>
                    <a:schemeClr val="bg2"/>
                  </a:solidFill>
                  <a:latin typeface="Neo Sans Std" panose="020B0504030504040204" pitchFamily="34" charset="0"/>
                </a:rPr>
                <a:t>is</a:t>
              </a:r>
              <a:r>
                <a:rPr lang="it-IT" sz="2800" b="1" dirty="0">
                  <a:solidFill>
                    <a:schemeClr val="bg2"/>
                  </a:solidFill>
                  <a:latin typeface="Neo Sans Std" panose="020B0504030504040204" pitchFamily="34" charset="0"/>
                </a:rPr>
                <a:t> the product?</a:t>
              </a:r>
            </a:p>
          </p:txBody>
        </p:sp>
        <p:pic>
          <p:nvPicPr>
            <p:cNvPr id="4" name="Immagine 3" descr="Immagine che contiene Carattere, Elementi grafici, cerchio, simbolo&#10;&#10;Descrizione generata automaticamente">
              <a:extLst>
                <a:ext uri="{FF2B5EF4-FFF2-40B4-BE49-F238E27FC236}">
                  <a16:creationId xmlns:a16="http://schemas.microsoft.com/office/drawing/2014/main" id="{1CE11AA8-5A0E-455E-D1C7-4EF0E2589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0960" y="2752830"/>
              <a:ext cx="1000288" cy="1000288"/>
            </a:xfrm>
            <a:prstGeom prst="rect">
              <a:avLst/>
            </a:prstGeom>
          </p:spPr>
        </p:pic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FFA52E2F-D554-8908-B89B-70FF6E2F141D}"/>
              </a:ext>
            </a:extLst>
          </p:cNvPr>
          <p:cNvGrpSpPr/>
          <p:nvPr/>
        </p:nvGrpSpPr>
        <p:grpSpPr>
          <a:xfrm>
            <a:off x="8138060" y="2687580"/>
            <a:ext cx="989788" cy="1086456"/>
            <a:chOff x="5601105" y="4040105"/>
            <a:chExt cx="989788" cy="108645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3F392104-78A3-6AFA-6FB1-91E6E6C168B7}"/>
                </a:ext>
              </a:extLst>
            </p:cNvPr>
            <p:cNvSpPr/>
            <p:nvPr/>
          </p:nvSpPr>
          <p:spPr>
            <a:xfrm>
              <a:off x="5601105" y="4040105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10" name="Immagine 9" descr="Immagine che contiene Carattere, Elementi grafici, simbolo, logo&#10;&#10;Descrizione generata automaticamente">
              <a:extLst>
                <a:ext uri="{FF2B5EF4-FFF2-40B4-BE49-F238E27FC236}">
                  <a16:creationId xmlns:a16="http://schemas.microsoft.com/office/drawing/2014/main" id="{54B7F5CF-53D9-C82A-7084-CAFDAEEC9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3396" y="4261505"/>
              <a:ext cx="640111" cy="640111"/>
            </a:xfrm>
            <a:prstGeom prst="rect">
              <a:avLst/>
            </a:prstGeom>
          </p:spPr>
        </p:pic>
      </p:grp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4A20145-1F00-0352-ED9D-3F61A353202D}"/>
              </a:ext>
            </a:extLst>
          </p:cNvPr>
          <p:cNvSpPr txBox="1"/>
          <p:nvPr/>
        </p:nvSpPr>
        <p:spPr>
          <a:xfrm>
            <a:off x="9888562" y="4101011"/>
            <a:ext cx="997280" cy="369332"/>
          </a:xfrm>
          <a:prstGeom prst="rect">
            <a:avLst/>
          </a:prstGeom>
          <a:solidFill>
            <a:srgbClr val="232F48"/>
          </a:solidFill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Neo Sans Std" panose="020B0504030504040204" pitchFamily="34" charset="0"/>
              </a:rPr>
              <a:t>Art. 83</a:t>
            </a:r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B8AA67CF-2CC1-E60C-7970-1F9B6E1E730C}"/>
              </a:ext>
            </a:extLst>
          </p:cNvPr>
          <p:cNvGrpSpPr/>
          <p:nvPr/>
        </p:nvGrpSpPr>
        <p:grpSpPr>
          <a:xfrm>
            <a:off x="0" y="0"/>
            <a:ext cx="4617494" cy="6858000"/>
            <a:chOff x="0" y="0"/>
            <a:chExt cx="4617494" cy="6858000"/>
          </a:xfrm>
        </p:grpSpPr>
        <p:sp>
          <p:nvSpPr>
            <p:cNvPr id="30" name="Rettangolo 29">
              <a:extLst>
                <a:ext uri="{FF2B5EF4-FFF2-40B4-BE49-F238E27FC236}">
                  <a16:creationId xmlns:a16="http://schemas.microsoft.com/office/drawing/2014/main" id="{801FE76F-9A31-955F-27AA-1CA5176718AE}"/>
                </a:ext>
              </a:extLst>
            </p:cNvPr>
            <p:cNvSpPr/>
            <p:nvPr/>
          </p:nvSpPr>
          <p:spPr>
            <a:xfrm>
              <a:off x="0" y="0"/>
              <a:ext cx="4067033" cy="6858000"/>
            </a:xfrm>
            <a:prstGeom prst="rect">
              <a:avLst/>
            </a:prstGeom>
            <a:solidFill>
              <a:srgbClr val="232F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1" name="Triangolo isoscele 13">
              <a:extLst>
                <a:ext uri="{FF2B5EF4-FFF2-40B4-BE49-F238E27FC236}">
                  <a16:creationId xmlns:a16="http://schemas.microsoft.com/office/drawing/2014/main" id="{671387BF-D51C-8A1D-EB6A-555F6A9554E6}"/>
                </a:ext>
              </a:extLst>
            </p:cNvPr>
            <p:cNvSpPr/>
            <p:nvPr/>
          </p:nvSpPr>
          <p:spPr>
            <a:xfrm rot="5400000">
              <a:off x="3887339" y="770303"/>
              <a:ext cx="900752" cy="559559"/>
            </a:xfrm>
            <a:prstGeom prst="triangle">
              <a:avLst/>
            </a:prstGeom>
            <a:solidFill>
              <a:srgbClr val="232F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Elementi grafici, Carattere, simbolo, clipart&#10;&#10;Descrizione generata automaticamente">
              <a:extLst>
                <a:ext uri="{FF2B5EF4-FFF2-40B4-BE49-F238E27FC236}">
                  <a16:creationId xmlns:a16="http://schemas.microsoft.com/office/drawing/2014/main" id="{F95372E4-FA78-A9DC-C2E3-196FD1B1B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0299" y="2788029"/>
              <a:ext cx="923331" cy="923331"/>
            </a:xfrm>
            <a:prstGeom prst="rect">
              <a:avLst/>
            </a:prstGeom>
          </p:spPr>
        </p:pic>
      </p:grp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67882AFC-503C-9E5A-D561-484992CE9DE8}"/>
              </a:ext>
            </a:extLst>
          </p:cNvPr>
          <p:cNvSpPr txBox="1"/>
          <p:nvPr/>
        </p:nvSpPr>
        <p:spPr>
          <a:xfrm>
            <a:off x="369207" y="3733119"/>
            <a:ext cx="36195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2"/>
                </a:solidFill>
                <a:latin typeface="Neo Sans Std" panose="020B0504030504040204" pitchFamily="34" charset="0"/>
              </a:rPr>
              <a:t>Can </a:t>
            </a:r>
            <a:r>
              <a:rPr lang="it-IT" sz="28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you</a:t>
            </a:r>
            <a:r>
              <a:rPr lang="it-IT" sz="2800" b="1" dirty="0">
                <a:solidFill>
                  <a:schemeClr val="bg2"/>
                </a:solidFill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hear</a:t>
            </a:r>
            <a:r>
              <a:rPr lang="it-IT" sz="2800" b="1" dirty="0">
                <a:solidFill>
                  <a:schemeClr val="bg2"/>
                </a:solidFill>
                <a:latin typeface="Neo Sans Std" panose="020B0504030504040204" pitchFamily="34" charset="0"/>
              </a:rPr>
              <a:t> me?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2B25D44-C2CF-A37D-BD59-C1106EDC9561}"/>
              </a:ext>
            </a:extLst>
          </p:cNvPr>
          <p:cNvSpPr txBox="1"/>
          <p:nvPr/>
        </p:nvSpPr>
        <p:spPr>
          <a:xfrm>
            <a:off x="6142977" y="3680582"/>
            <a:ext cx="4934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i="0" dirty="0" err="1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Violations</a:t>
            </a:r>
            <a:r>
              <a:rPr lang="it-IT" sz="32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 of GDPR</a:t>
            </a:r>
            <a:endParaRPr lang="it-IT" sz="24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07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3659BEC1-51DC-D0D5-EE72-FC23DC964147}"/>
              </a:ext>
            </a:extLst>
          </p:cNvPr>
          <p:cNvGrpSpPr/>
          <p:nvPr/>
        </p:nvGrpSpPr>
        <p:grpSpPr>
          <a:xfrm>
            <a:off x="8124969" y="0"/>
            <a:ext cx="4617495" cy="6858000"/>
            <a:chOff x="8124969" y="0"/>
            <a:chExt cx="4617495" cy="6858000"/>
          </a:xfrm>
        </p:grpSpPr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54D1007C-0E3E-55A8-B72D-A62B1626273D}"/>
                </a:ext>
              </a:extLst>
            </p:cNvPr>
            <p:cNvSpPr/>
            <p:nvPr/>
          </p:nvSpPr>
          <p:spPr>
            <a:xfrm>
              <a:off x="8124969" y="0"/>
              <a:ext cx="4067033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Triangolo isoscele 15">
              <a:extLst>
                <a:ext uri="{FF2B5EF4-FFF2-40B4-BE49-F238E27FC236}">
                  <a16:creationId xmlns:a16="http://schemas.microsoft.com/office/drawing/2014/main" id="{77E4D0F9-6B2D-D2A5-766C-44EF7676E8CE}"/>
                </a:ext>
              </a:extLst>
            </p:cNvPr>
            <p:cNvSpPr/>
            <p:nvPr/>
          </p:nvSpPr>
          <p:spPr>
            <a:xfrm rot="5400000">
              <a:off x="12012309" y="770301"/>
              <a:ext cx="900752" cy="559559"/>
            </a:xfrm>
            <a:prstGeom prst="triangl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9" name="Immagine 18" descr="Immagine che contiene nero, oscurità&#10;&#10;Descrizione generata automaticamente">
              <a:extLst>
                <a:ext uri="{FF2B5EF4-FFF2-40B4-BE49-F238E27FC236}">
                  <a16:creationId xmlns:a16="http://schemas.microsoft.com/office/drawing/2014/main" id="{6AF04F2C-1E53-4B40-C446-45384D5B8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94366" y="2673066"/>
              <a:ext cx="923330" cy="923330"/>
            </a:xfrm>
            <a:prstGeom prst="rect">
              <a:avLst/>
            </a:prstGeom>
            <a:ln>
              <a:noFill/>
            </a:ln>
          </p:spPr>
        </p:pic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E11E7A0C-5279-94E5-4988-DEB63CFF85C1}"/>
                </a:ext>
              </a:extLst>
            </p:cNvPr>
            <p:cNvSpPr txBox="1"/>
            <p:nvPr/>
          </p:nvSpPr>
          <p:spPr>
            <a:xfrm>
              <a:off x="8280597" y="3711360"/>
              <a:ext cx="375086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800" b="1" dirty="0" err="1">
                  <a:latin typeface="Neo Sans Std" panose="020B0504030504040204" pitchFamily="34" charset="0"/>
                </a:rPr>
                <a:t>She</a:t>
              </a:r>
              <a:r>
                <a:rPr lang="it-IT" sz="2800" b="1" dirty="0">
                  <a:latin typeface="Neo Sans Std" panose="020B0504030504040204" pitchFamily="34" charset="0"/>
                </a:rPr>
                <a:t> </a:t>
              </a:r>
              <a:r>
                <a:rPr lang="it-IT" sz="2800" b="1" dirty="0" err="1">
                  <a:latin typeface="Neo Sans Std" panose="020B0504030504040204" pitchFamily="34" charset="0"/>
                </a:rPr>
                <a:t>knows</a:t>
              </a:r>
              <a:r>
                <a:rPr lang="it-IT" sz="2800" b="1" dirty="0">
                  <a:latin typeface="Neo Sans Std" panose="020B0504030504040204" pitchFamily="34" charset="0"/>
                </a:rPr>
                <a:t> </a:t>
              </a:r>
              <a:r>
                <a:rPr lang="it-IT" sz="2800" b="1" dirty="0" err="1">
                  <a:latin typeface="Neo Sans Std" panose="020B0504030504040204" pitchFamily="34" charset="0"/>
                </a:rPr>
                <a:t>too</a:t>
              </a:r>
              <a:r>
                <a:rPr lang="it-IT" sz="2800" b="1" dirty="0">
                  <a:latin typeface="Neo Sans Std" panose="020B0504030504040204" pitchFamily="34" charset="0"/>
                </a:rPr>
                <a:t> </a:t>
              </a:r>
              <a:r>
                <a:rPr lang="it-IT" sz="2800" b="1" dirty="0" err="1">
                  <a:latin typeface="Neo Sans Std" panose="020B0504030504040204" pitchFamily="34" charset="0"/>
                </a:rPr>
                <a:t>much</a:t>
              </a:r>
              <a:endParaRPr lang="it-IT" sz="2800" b="1" dirty="0">
                <a:latin typeface="Neo Sans Std" panose="020B0504030504040204" pitchFamily="34" charset="0"/>
              </a:endParaRPr>
            </a:p>
          </p:txBody>
        </p:sp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E6136E79-3FF8-FD52-F303-18DB59849845}"/>
              </a:ext>
            </a:extLst>
          </p:cNvPr>
          <p:cNvGrpSpPr/>
          <p:nvPr/>
        </p:nvGrpSpPr>
        <p:grpSpPr>
          <a:xfrm>
            <a:off x="4057936" y="0"/>
            <a:ext cx="4608397" cy="6858000"/>
            <a:chOff x="4057936" y="0"/>
            <a:chExt cx="4608397" cy="6858000"/>
          </a:xfrm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7C160FB2-13F0-766A-9249-432B71FE06B9}"/>
                </a:ext>
              </a:extLst>
            </p:cNvPr>
            <p:cNvSpPr/>
            <p:nvPr/>
          </p:nvSpPr>
          <p:spPr>
            <a:xfrm>
              <a:off x="4057936" y="0"/>
              <a:ext cx="4067033" cy="6858000"/>
            </a:xfrm>
            <a:prstGeom prst="rect">
              <a:avLst/>
            </a:prstGeom>
            <a:solidFill>
              <a:srgbClr val="146E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Triangolo isoscele 14">
              <a:extLst>
                <a:ext uri="{FF2B5EF4-FFF2-40B4-BE49-F238E27FC236}">
                  <a16:creationId xmlns:a16="http://schemas.microsoft.com/office/drawing/2014/main" id="{612D179A-6658-F805-A55B-DD6FAC942BD0}"/>
                </a:ext>
              </a:extLst>
            </p:cNvPr>
            <p:cNvSpPr/>
            <p:nvPr/>
          </p:nvSpPr>
          <p:spPr>
            <a:xfrm rot="5400000">
              <a:off x="7936178" y="753582"/>
              <a:ext cx="900752" cy="559559"/>
            </a:xfrm>
            <a:prstGeom prst="triangle">
              <a:avLst/>
            </a:prstGeom>
            <a:solidFill>
              <a:srgbClr val="146E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13D22130-DD07-4734-A781-C948DCD3E5AD}"/>
                </a:ext>
              </a:extLst>
            </p:cNvPr>
            <p:cNvSpPr txBox="1"/>
            <p:nvPr/>
          </p:nvSpPr>
          <p:spPr>
            <a:xfrm>
              <a:off x="4389839" y="3733119"/>
              <a:ext cx="36195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800" b="1" dirty="0">
                  <a:solidFill>
                    <a:schemeClr val="bg2"/>
                  </a:solidFill>
                  <a:latin typeface="Neo Sans Std" panose="020B0504030504040204" pitchFamily="34" charset="0"/>
                </a:rPr>
                <a:t>Who </a:t>
              </a:r>
              <a:r>
                <a:rPr lang="it-IT" sz="2800" b="1" dirty="0" err="1">
                  <a:solidFill>
                    <a:schemeClr val="bg2"/>
                  </a:solidFill>
                  <a:latin typeface="Neo Sans Std" panose="020B0504030504040204" pitchFamily="34" charset="0"/>
                </a:rPr>
                <a:t>is</a:t>
              </a:r>
              <a:r>
                <a:rPr lang="it-IT" sz="2800" b="1" dirty="0">
                  <a:solidFill>
                    <a:schemeClr val="bg2"/>
                  </a:solidFill>
                  <a:latin typeface="Neo Sans Std" panose="020B0504030504040204" pitchFamily="34" charset="0"/>
                </a:rPr>
                <a:t> the product?</a:t>
              </a:r>
            </a:p>
          </p:txBody>
        </p:sp>
        <p:pic>
          <p:nvPicPr>
            <p:cNvPr id="4" name="Immagine 3" descr="Immagine che contiene Carattere, Elementi grafici, cerchio, simbolo&#10;&#10;Descrizione generata automaticamente">
              <a:extLst>
                <a:ext uri="{FF2B5EF4-FFF2-40B4-BE49-F238E27FC236}">
                  <a16:creationId xmlns:a16="http://schemas.microsoft.com/office/drawing/2014/main" id="{1CE11AA8-5A0E-455E-D1C7-4EF0E2589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0960" y="2752830"/>
              <a:ext cx="1000288" cy="1000288"/>
            </a:xfrm>
            <a:prstGeom prst="rect">
              <a:avLst/>
            </a:prstGeom>
          </p:spPr>
        </p:pic>
      </p:grpSp>
      <p:sp>
        <p:nvSpPr>
          <p:cNvPr id="2" name="Rettangolo 1">
            <a:extLst>
              <a:ext uri="{FF2B5EF4-FFF2-40B4-BE49-F238E27FC236}">
                <a16:creationId xmlns:a16="http://schemas.microsoft.com/office/drawing/2014/main" id="{84778786-B488-D24C-6944-835235F267B7}"/>
              </a:ext>
            </a:extLst>
          </p:cNvPr>
          <p:cNvSpPr/>
          <p:nvPr/>
        </p:nvSpPr>
        <p:spPr>
          <a:xfrm>
            <a:off x="0" y="0"/>
            <a:ext cx="4067033" cy="6858000"/>
          </a:xfrm>
          <a:prstGeom prst="rect">
            <a:avLst/>
          </a:prstGeom>
          <a:solidFill>
            <a:srgbClr val="232F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Triangolo isoscele 13">
            <a:extLst>
              <a:ext uri="{FF2B5EF4-FFF2-40B4-BE49-F238E27FC236}">
                <a16:creationId xmlns:a16="http://schemas.microsoft.com/office/drawing/2014/main" id="{018950CD-1B8B-6474-8A28-CCB990A6AAC7}"/>
              </a:ext>
            </a:extLst>
          </p:cNvPr>
          <p:cNvSpPr/>
          <p:nvPr/>
        </p:nvSpPr>
        <p:spPr>
          <a:xfrm rot="5400000">
            <a:off x="3887339" y="770303"/>
            <a:ext cx="900752" cy="559559"/>
          </a:xfrm>
          <a:prstGeom prst="triangle">
            <a:avLst/>
          </a:prstGeom>
          <a:solidFill>
            <a:srgbClr val="232F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Immagine 25" descr="Immagine che contiene Elementi grafici, Carattere, simbolo, clipart&#10;&#10;Descrizione generata automaticamente">
            <a:extLst>
              <a:ext uri="{FF2B5EF4-FFF2-40B4-BE49-F238E27FC236}">
                <a16:creationId xmlns:a16="http://schemas.microsoft.com/office/drawing/2014/main" id="{C944E539-0735-D27A-6F57-71A62A6C9F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299" y="2788029"/>
            <a:ext cx="923331" cy="923331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2D085D9D-B313-D26C-A1C5-A89636A81181}"/>
              </a:ext>
            </a:extLst>
          </p:cNvPr>
          <p:cNvSpPr txBox="1"/>
          <p:nvPr/>
        </p:nvSpPr>
        <p:spPr>
          <a:xfrm>
            <a:off x="369207" y="3733119"/>
            <a:ext cx="36195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2"/>
                </a:solidFill>
                <a:latin typeface="Neo Sans Std" panose="020B0504030504040204" pitchFamily="34" charset="0"/>
              </a:rPr>
              <a:t>Can </a:t>
            </a:r>
            <a:r>
              <a:rPr lang="it-IT" sz="28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you</a:t>
            </a:r>
            <a:r>
              <a:rPr lang="it-IT" sz="2800" b="1" dirty="0">
                <a:solidFill>
                  <a:schemeClr val="bg2"/>
                </a:solidFill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hear</a:t>
            </a:r>
            <a:r>
              <a:rPr lang="it-IT" sz="2800" b="1" dirty="0">
                <a:solidFill>
                  <a:schemeClr val="bg2"/>
                </a:solidFill>
                <a:latin typeface="Neo Sans Std" panose="020B0504030504040204" pitchFamily="34" charset="0"/>
              </a:rPr>
              <a:t> me?</a:t>
            </a:r>
          </a:p>
        </p:txBody>
      </p:sp>
    </p:spTree>
    <p:extLst>
      <p:ext uri="{BB962C8B-B14F-4D97-AF65-F5344CB8AC3E}">
        <p14:creationId xmlns:p14="http://schemas.microsoft.com/office/powerpoint/2010/main" val="710526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tangolo 25">
            <a:extLst>
              <a:ext uri="{FF2B5EF4-FFF2-40B4-BE49-F238E27FC236}">
                <a16:creationId xmlns:a16="http://schemas.microsoft.com/office/drawing/2014/main" id="{5E005149-E255-051E-F670-52EF8CFA01D3}"/>
              </a:ext>
            </a:extLst>
          </p:cNvPr>
          <p:cNvSpPr/>
          <p:nvPr/>
        </p:nvSpPr>
        <p:spPr>
          <a:xfrm>
            <a:off x="-1" y="0"/>
            <a:ext cx="11637295" cy="6858000"/>
          </a:xfrm>
          <a:prstGeom prst="rect">
            <a:avLst/>
          </a:prstGeom>
          <a:solidFill>
            <a:srgbClr val="232F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Triangolo isoscele 13">
            <a:extLst>
              <a:ext uri="{FF2B5EF4-FFF2-40B4-BE49-F238E27FC236}">
                <a16:creationId xmlns:a16="http://schemas.microsoft.com/office/drawing/2014/main" id="{373C34B1-454E-C1B6-12B4-3DA8CE902F92}"/>
              </a:ext>
            </a:extLst>
          </p:cNvPr>
          <p:cNvSpPr/>
          <p:nvPr/>
        </p:nvSpPr>
        <p:spPr>
          <a:xfrm rot="5400000">
            <a:off x="11457029" y="769813"/>
            <a:ext cx="900752" cy="560540"/>
          </a:xfrm>
          <a:prstGeom prst="triangle">
            <a:avLst/>
          </a:prstGeom>
          <a:solidFill>
            <a:srgbClr val="232F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CB490F04-239E-3DB8-B6C5-2890599C021E}"/>
              </a:ext>
            </a:extLst>
          </p:cNvPr>
          <p:cNvSpPr txBox="1"/>
          <p:nvPr/>
        </p:nvSpPr>
        <p:spPr>
          <a:xfrm>
            <a:off x="907910" y="5382600"/>
            <a:ext cx="2548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F2F2F2"/>
                </a:solidFill>
                <a:latin typeface="Neo Sans Std" panose="020B0504030504040204" pitchFamily="34" charset="0"/>
              </a:rPr>
              <a:t>COST: 425€ </a:t>
            </a:r>
            <a:r>
              <a:rPr lang="it-IT" sz="2000" b="1" dirty="0" err="1">
                <a:solidFill>
                  <a:srgbClr val="F2F2F2"/>
                </a:solidFill>
                <a:latin typeface="Neo Sans Std" panose="020B0504030504040204" pitchFamily="34" charset="0"/>
              </a:rPr>
              <a:t>million</a:t>
            </a:r>
            <a:endParaRPr lang="it-IT" sz="2000" b="1" dirty="0">
              <a:solidFill>
                <a:srgbClr val="F2F2F2"/>
              </a:solidFill>
              <a:latin typeface="Neo Sans Std" panose="020B0504030504040204" pitchFamily="34" charset="0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E235A821-F1FE-3F79-0C40-12BF31F90C73}"/>
              </a:ext>
            </a:extLst>
          </p:cNvPr>
          <p:cNvSpPr txBox="1"/>
          <p:nvPr/>
        </p:nvSpPr>
        <p:spPr>
          <a:xfrm>
            <a:off x="4455601" y="5382600"/>
            <a:ext cx="3280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F2F2F2"/>
                </a:solidFill>
                <a:latin typeface="Neo Sans Std" panose="020B0504030504040204" pitchFamily="34" charset="0"/>
              </a:rPr>
              <a:t>CAUSE: </a:t>
            </a:r>
            <a:r>
              <a:rPr lang="it-IT" sz="2000" b="1" dirty="0" err="1">
                <a:solidFill>
                  <a:srgbClr val="F2F2F2"/>
                </a:solidFill>
                <a:latin typeface="Neo Sans Std" panose="020B0504030504040204" pitchFamily="34" charset="0"/>
              </a:rPr>
              <a:t>Violation</a:t>
            </a:r>
            <a:r>
              <a:rPr lang="it-IT" sz="2000" b="1" dirty="0">
                <a:solidFill>
                  <a:srgbClr val="F2F2F2"/>
                </a:solidFill>
                <a:latin typeface="Neo Sans Std" panose="020B0504030504040204" pitchFamily="34" charset="0"/>
              </a:rPr>
              <a:t> of GDPR</a:t>
            </a:r>
          </a:p>
        </p:txBody>
      </p:sp>
      <p:pic>
        <p:nvPicPr>
          <p:cNvPr id="32" name="Immagine 31" descr="Immagine che contiene simbolo, Carattere, Elementi grafici, logo&#10;&#10;Descrizione generata automaticamente">
            <a:extLst>
              <a:ext uri="{FF2B5EF4-FFF2-40B4-BE49-F238E27FC236}">
                <a16:creationId xmlns:a16="http://schemas.microsoft.com/office/drawing/2014/main" id="{F69EE9B7-1E61-65FB-1DE9-6511533CD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31" y="5219646"/>
            <a:ext cx="609600" cy="609600"/>
          </a:xfrm>
          <a:prstGeom prst="rect">
            <a:avLst/>
          </a:prstGeom>
        </p:spPr>
      </p:pic>
      <p:pic>
        <p:nvPicPr>
          <p:cNvPr id="33" name="Immagine 32" descr="Immagine che contiene testo, bianco, Carattere, Elementi grafici&#10;&#10;Descrizione generata automaticamente">
            <a:extLst>
              <a:ext uri="{FF2B5EF4-FFF2-40B4-BE49-F238E27FC236}">
                <a16:creationId xmlns:a16="http://schemas.microsoft.com/office/drawing/2014/main" id="{896F76A5-B68C-F32A-6C7C-39CD46475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001" y="5276391"/>
            <a:ext cx="609600" cy="609600"/>
          </a:xfrm>
          <a:prstGeom prst="rect">
            <a:avLst/>
          </a:prstGeom>
        </p:spPr>
      </p:pic>
      <p:pic>
        <p:nvPicPr>
          <p:cNvPr id="37" name="Immagine 36" descr="Immagine che contiene testo, vestiti, schermata, persona&#10;&#10;Descrizione generata automaticamente">
            <a:extLst>
              <a:ext uri="{FF2B5EF4-FFF2-40B4-BE49-F238E27FC236}">
                <a16:creationId xmlns:a16="http://schemas.microsoft.com/office/drawing/2014/main" id="{689E74B6-4232-987B-041D-8D035AED8E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62" y="1578512"/>
            <a:ext cx="3818807" cy="3085596"/>
          </a:xfrm>
          <a:prstGeom prst="rect">
            <a:avLst/>
          </a:prstGeom>
        </p:spPr>
      </p:pic>
      <p:cxnSp>
        <p:nvCxnSpPr>
          <p:cNvPr id="38" name="Straight Arrow Connector 12">
            <a:extLst>
              <a:ext uri="{FF2B5EF4-FFF2-40B4-BE49-F238E27FC236}">
                <a16:creationId xmlns:a16="http://schemas.microsoft.com/office/drawing/2014/main" id="{E5AB78AE-880D-6F4C-76E3-74C43EFD306D}"/>
              </a:ext>
            </a:extLst>
          </p:cNvPr>
          <p:cNvCxnSpPr>
            <a:cxnSpLocks/>
          </p:cNvCxnSpPr>
          <p:nvPr/>
        </p:nvCxnSpPr>
        <p:spPr>
          <a:xfrm>
            <a:off x="4324806" y="2852057"/>
            <a:ext cx="701486" cy="0"/>
          </a:xfrm>
          <a:prstGeom prst="straightConnector1">
            <a:avLst/>
          </a:prstGeom>
          <a:ln w="92075" cap="rnd">
            <a:solidFill>
              <a:schemeClr val="bg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Immagine 38" descr="Immagine che contiene testo, Carattere, schermata, linea&#10;&#10;Descrizione generata automaticamente">
            <a:extLst>
              <a:ext uri="{FF2B5EF4-FFF2-40B4-BE49-F238E27FC236}">
                <a16:creationId xmlns:a16="http://schemas.microsoft.com/office/drawing/2014/main" id="{B0900F3E-BFE5-5176-8020-9886B1258A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620" y="2270951"/>
            <a:ext cx="5963482" cy="1162212"/>
          </a:xfrm>
          <a:prstGeom prst="rect">
            <a:avLst/>
          </a:prstGeom>
        </p:spPr>
      </p:pic>
      <p:pic>
        <p:nvPicPr>
          <p:cNvPr id="40" name="Immagine 39" descr="Immagine che contiene simbolo, logo, Carattere, cerchio&#10;&#10;Descrizione generata automaticamente">
            <a:extLst>
              <a:ext uri="{FF2B5EF4-FFF2-40B4-BE49-F238E27FC236}">
                <a16:creationId xmlns:a16="http://schemas.microsoft.com/office/drawing/2014/main" id="{0F65728F-ACE3-4C08-E3ED-C198528E92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868" y="5219646"/>
            <a:ext cx="609600" cy="609600"/>
          </a:xfrm>
          <a:prstGeom prst="rect">
            <a:avLst/>
          </a:prstGeom>
        </p:spPr>
      </p:pic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83C12AB5-4A10-2F6C-5471-024E323C64FE}"/>
              </a:ext>
            </a:extLst>
          </p:cNvPr>
          <p:cNvSpPr txBox="1"/>
          <p:nvPr/>
        </p:nvSpPr>
        <p:spPr>
          <a:xfrm>
            <a:off x="8840395" y="5382600"/>
            <a:ext cx="3080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F2F2F2"/>
                </a:solidFill>
                <a:latin typeface="Neo Sans Std" panose="020B0504030504040204" pitchFamily="34" charset="0"/>
              </a:rPr>
              <a:t>DATE: 11 GIU 2021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31D4E39E-8BA7-7AAC-6FB8-487B3DF93FEE}"/>
              </a:ext>
            </a:extLst>
          </p:cNvPr>
          <p:cNvSpPr txBox="1"/>
          <p:nvPr/>
        </p:nvSpPr>
        <p:spPr>
          <a:xfrm>
            <a:off x="369207" y="837519"/>
            <a:ext cx="36195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2"/>
                </a:solidFill>
                <a:latin typeface="Neo Sans Std" panose="020B0504030504040204" pitchFamily="34" charset="0"/>
              </a:rPr>
              <a:t>Can </a:t>
            </a:r>
            <a:r>
              <a:rPr lang="it-IT" sz="28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you</a:t>
            </a:r>
            <a:r>
              <a:rPr lang="it-IT" sz="2800" b="1" dirty="0">
                <a:solidFill>
                  <a:schemeClr val="bg2"/>
                </a:solidFill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hear</a:t>
            </a:r>
            <a:r>
              <a:rPr lang="it-IT" sz="2800" b="1" dirty="0">
                <a:solidFill>
                  <a:schemeClr val="bg2"/>
                </a:solidFill>
                <a:latin typeface="Neo Sans Std" panose="020B0504030504040204" pitchFamily="34" charset="0"/>
              </a:rPr>
              <a:t> me?</a:t>
            </a:r>
          </a:p>
        </p:txBody>
      </p:sp>
      <p:pic>
        <p:nvPicPr>
          <p:cNvPr id="43" name="Immagine 42" descr="Immagine che contiene Elementi grafici, Carattere, simbolo, clipart&#10;&#10;Descrizione generata automaticamente">
            <a:extLst>
              <a:ext uri="{FF2B5EF4-FFF2-40B4-BE49-F238E27FC236}">
                <a16:creationId xmlns:a16="http://schemas.microsoft.com/office/drawing/2014/main" id="{49DBF147-9646-B1B4-2E08-9819764C9A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299" y="75309"/>
            <a:ext cx="923331" cy="92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107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3659BEC1-51DC-D0D5-EE72-FC23DC964147}"/>
              </a:ext>
            </a:extLst>
          </p:cNvPr>
          <p:cNvGrpSpPr/>
          <p:nvPr/>
        </p:nvGrpSpPr>
        <p:grpSpPr>
          <a:xfrm>
            <a:off x="8124969" y="0"/>
            <a:ext cx="4617495" cy="6858000"/>
            <a:chOff x="8124969" y="0"/>
            <a:chExt cx="4617495" cy="6858000"/>
          </a:xfrm>
        </p:grpSpPr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54D1007C-0E3E-55A8-B72D-A62B1626273D}"/>
                </a:ext>
              </a:extLst>
            </p:cNvPr>
            <p:cNvSpPr/>
            <p:nvPr/>
          </p:nvSpPr>
          <p:spPr>
            <a:xfrm>
              <a:off x="8124969" y="0"/>
              <a:ext cx="4067033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Triangolo isoscele 15">
              <a:extLst>
                <a:ext uri="{FF2B5EF4-FFF2-40B4-BE49-F238E27FC236}">
                  <a16:creationId xmlns:a16="http://schemas.microsoft.com/office/drawing/2014/main" id="{77E4D0F9-6B2D-D2A5-766C-44EF7676E8CE}"/>
                </a:ext>
              </a:extLst>
            </p:cNvPr>
            <p:cNvSpPr/>
            <p:nvPr/>
          </p:nvSpPr>
          <p:spPr>
            <a:xfrm rot="5400000">
              <a:off x="12012309" y="770301"/>
              <a:ext cx="900752" cy="559559"/>
            </a:xfrm>
            <a:prstGeom prst="triangl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9" name="Immagine 18" descr="Immagine che contiene nero, oscurità&#10;&#10;Descrizione generata automaticamente">
              <a:extLst>
                <a:ext uri="{FF2B5EF4-FFF2-40B4-BE49-F238E27FC236}">
                  <a16:creationId xmlns:a16="http://schemas.microsoft.com/office/drawing/2014/main" id="{6AF04F2C-1E53-4B40-C446-45384D5B8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94366" y="2673066"/>
              <a:ext cx="923330" cy="923330"/>
            </a:xfrm>
            <a:prstGeom prst="rect">
              <a:avLst/>
            </a:prstGeom>
            <a:ln>
              <a:noFill/>
            </a:ln>
          </p:spPr>
        </p:pic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E11E7A0C-5279-94E5-4988-DEB63CFF85C1}"/>
                </a:ext>
              </a:extLst>
            </p:cNvPr>
            <p:cNvSpPr txBox="1"/>
            <p:nvPr/>
          </p:nvSpPr>
          <p:spPr>
            <a:xfrm>
              <a:off x="8280597" y="3711360"/>
              <a:ext cx="375086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800" b="1" dirty="0" err="1">
                  <a:latin typeface="Neo Sans Std" panose="020B0504030504040204" pitchFamily="34" charset="0"/>
                </a:rPr>
                <a:t>She</a:t>
              </a:r>
              <a:r>
                <a:rPr lang="it-IT" sz="2800" b="1" dirty="0">
                  <a:latin typeface="Neo Sans Std" panose="020B0504030504040204" pitchFamily="34" charset="0"/>
                </a:rPr>
                <a:t> </a:t>
              </a:r>
              <a:r>
                <a:rPr lang="it-IT" sz="2800" b="1" dirty="0" err="1">
                  <a:latin typeface="Neo Sans Std" panose="020B0504030504040204" pitchFamily="34" charset="0"/>
                </a:rPr>
                <a:t>knows</a:t>
              </a:r>
              <a:r>
                <a:rPr lang="it-IT" sz="2800" b="1" dirty="0">
                  <a:latin typeface="Neo Sans Std" panose="020B0504030504040204" pitchFamily="34" charset="0"/>
                </a:rPr>
                <a:t> </a:t>
              </a:r>
              <a:r>
                <a:rPr lang="it-IT" sz="2800" b="1" dirty="0" err="1">
                  <a:latin typeface="Neo Sans Std" panose="020B0504030504040204" pitchFamily="34" charset="0"/>
                </a:rPr>
                <a:t>too</a:t>
              </a:r>
              <a:r>
                <a:rPr lang="it-IT" sz="2800" b="1" dirty="0">
                  <a:latin typeface="Neo Sans Std" panose="020B0504030504040204" pitchFamily="34" charset="0"/>
                </a:rPr>
                <a:t> </a:t>
              </a:r>
              <a:r>
                <a:rPr lang="it-IT" sz="2800" b="1" dirty="0" err="1">
                  <a:latin typeface="Neo Sans Std" panose="020B0504030504040204" pitchFamily="34" charset="0"/>
                </a:rPr>
                <a:t>much</a:t>
              </a:r>
              <a:endParaRPr lang="it-IT" sz="2800" b="1" dirty="0">
                <a:latin typeface="Neo Sans Std" panose="020B0504030504040204" pitchFamily="34" charset="0"/>
              </a:endParaRPr>
            </a:p>
          </p:txBody>
        </p:sp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E6136E79-3FF8-FD52-F303-18DB59849845}"/>
              </a:ext>
            </a:extLst>
          </p:cNvPr>
          <p:cNvGrpSpPr/>
          <p:nvPr/>
        </p:nvGrpSpPr>
        <p:grpSpPr>
          <a:xfrm>
            <a:off x="4057936" y="0"/>
            <a:ext cx="4608397" cy="6858000"/>
            <a:chOff x="4057936" y="0"/>
            <a:chExt cx="4608397" cy="6858000"/>
          </a:xfrm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7C160FB2-13F0-766A-9249-432B71FE06B9}"/>
                </a:ext>
              </a:extLst>
            </p:cNvPr>
            <p:cNvSpPr/>
            <p:nvPr/>
          </p:nvSpPr>
          <p:spPr>
            <a:xfrm>
              <a:off x="4057936" y="0"/>
              <a:ext cx="4067033" cy="6858000"/>
            </a:xfrm>
            <a:prstGeom prst="rect">
              <a:avLst/>
            </a:prstGeom>
            <a:solidFill>
              <a:srgbClr val="146E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Triangolo isoscele 14">
              <a:extLst>
                <a:ext uri="{FF2B5EF4-FFF2-40B4-BE49-F238E27FC236}">
                  <a16:creationId xmlns:a16="http://schemas.microsoft.com/office/drawing/2014/main" id="{612D179A-6658-F805-A55B-DD6FAC942BD0}"/>
                </a:ext>
              </a:extLst>
            </p:cNvPr>
            <p:cNvSpPr/>
            <p:nvPr/>
          </p:nvSpPr>
          <p:spPr>
            <a:xfrm rot="5400000">
              <a:off x="7936178" y="753582"/>
              <a:ext cx="900752" cy="559559"/>
            </a:xfrm>
            <a:prstGeom prst="triangle">
              <a:avLst/>
            </a:prstGeom>
            <a:solidFill>
              <a:srgbClr val="146E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13D22130-DD07-4734-A781-C948DCD3E5AD}"/>
                </a:ext>
              </a:extLst>
            </p:cNvPr>
            <p:cNvSpPr txBox="1"/>
            <p:nvPr/>
          </p:nvSpPr>
          <p:spPr>
            <a:xfrm>
              <a:off x="4389839" y="3733119"/>
              <a:ext cx="36195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800" b="1" dirty="0">
                  <a:solidFill>
                    <a:schemeClr val="bg2"/>
                  </a:solidFill>
                  <a:latin typeface="Neo Sans Std" panose="020B0504030504040204" pitchFamily="34" charset="0"/>
                </a:rPr>
                <a:t>Who </a:t>
              </a:r>
              <a:r>
                <a:rPr lang="it-IT" sz="2800" b="1" dirty="0" err="1">
                  <a:solidFill>
                    <a:schemeClr val="bg2"/>
                  </a:solidFill>
                  <a:latin typeface="Neo Sans Std" panose="020B0504030504040204" pitchFamily="34" charset="0"/>
                </a:rPr>
                <a:t>is</a:t>
              </a:r>
              <a:r>
                <a:rPr lang="it-IT" sz="2800" b="1" dirty="0">
                  <a:solidFill>
                    <a:schemeClr val="bg2"/>
                  </a:solidFill>
                  <a:latin typeface="Neo Sans Std" panose="020B0504030504040204" pitchFamily="34" charset="0"/>
                </a:rPr>
                <a:t> the product?</a:t>
              </a:r>
            </a:p>
          </p:txBody>
        </p:sp>
        <p:pic>
          <p:nvPicPr>
            <p:cNvPr id="4" name="Immagine 3" descr="Immagine che contiene Carattere, Elementi grafici, cerchio, simbolo&#10;&#10;Descrizione generata automaticamente">
              <a:extLst>
                <a:ext uri="{FF2B5EF4-FFF2-40B4-BE49-F238E27FC236}">
                  <a16:creationId xmlns:a16="http://schemas.microsoft.com/office/drawing/2014/main" id="{1CE11AA8-5A0E-455E-D1C7-4EF0E2589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0960" y="2752830"/>
              <a:ext cx="1000288" cy="1000288"/>
            </a:xfrm>
            <a:prstGeom prst="rect">
              <a:avLst/>
            </a:prstGeom>
          </p:spPr>
        </p:pic>
      </p:grpSp>
      <p:sp>
        <p:nvSpPr>
          <p:cNvPr id="2" name="Rettangolo 1">
            <a:extLst>
              <a:ext uri="{FF2B5EF4-FFF2-40B4-BE49-F238E27FC236}">
                <a16:creationId xmlns:a16="http://schemas.microsoft.com/office/drawing/2014/main" id="{84778786-B488-D24C-6944-835235F267B7}"/>
              </a:ext>
            </a:extLst>
          </p:cNvPr>
          <p:cNvSpPr/>
          <p:nvPr/>
        </p:nvSpPr>
        <p:spPr>
          <a:xfrm>
            <a:off x="0" y="0"/>
            <a:ext cx="4067033" cy="6858000"/>
          </a:xfrm>
          <a:prstGeom prst="rect">
            <a:avLst/>
          </a:prstGeom>
          <a:solidFill>
            <a:srgbClr val="232F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Triangolo isoscele 13">
            <a:extLst>
              <a:ext uri="{FF2B5EF4-FFF2-40B4-BE49-F238E27FC236}">
                <a16:creationId xmlns:a16="http://schemas.microsoft.com/office/drawing/2014/main" id="{018950CD-1B8B-6474-8A28-CCB990A6AAC7}"/>
              </a:ext>
            </a:extLst>
          </p:cNvPr>
          <p:cNvSpPr/>
          <p:nvPr/>
        </p:nvSpPr>
        <p:spPr>
          <a:xfrm rot="5400000">
            <a:off x="3887339" y="770303"/>
            <a:ext cx="900752" cy="559559"/>
          </a:xfrm>
          <a:prstGeom prst="triangle">
            <a:avLst/>
          </a:prstGeom>
          <a:solidFill>
            <a:srgbClr val="232F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Immagine 25" descr="Immagine che contiene Elementi grafici, Carattere, simbolo, clipart&#10;&#10;Descrizione generata automaticamente">
            <a:extLst>
              <a:ext uri="{FF2B5EF4-FFF2-40B4-BE49-F238E27FC236}">
                <a16:creationId xmlns:a16="http://schemas.microsoft.com/office/drawing/2014/main" id="{C944E539-0735-D27A-6F57-71A62A6C9F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299" y="2788029"/>
            <a:ext cx="923331" cy="923331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2D085D9D-B313-D26C-A1C5-A89636A81181}"/>
              </a:ext>
            </a:extLst>
          </p:cNvPr>
          <p:cNvSpPr txBox="1"/>
          <p:nvPr/>
        </p:nvSpPr>
        <p:spPr>
          <a:xfrm>
            <a:off x="369207" y="3733119"/>
            <a:ext cx="36195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2"/>
                </a:solidFill>
                <a:latin typeface="Neo Sans Std" panose="020B0504030504040204" pitchFamily="34" charset="0"/>
              </a:rPr>
              <a:t>Can </a:t>
            </a:r>
            <a:r>
              <a:rPr lang="it-IT" sz="28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you</a:t>
            </a:r>
            <a:r>
              <a:rPr lang="it-IT" sz="2800" b="1" dirty="0">
                <a:solidFill>
                  <a:schemeClr val="bg2"/>
                </a:solidFill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hear</a:t>
            </a:r>
            <a:r>
              <a:rPr lang="it-IT" sz="2800" b="1" dirty="0">
                <a:solidFill>
                  <a:schemeClr val="bg2"/>
                </a:solidFill>
                <a:latin typeface="Neo Sans Std" panose="020B0504030504040204" pitchFamily="34" charset="0"/>
              </a:rPr>
              <a:t> me?</a:t>
            </a:r>
          </a:p>
        </p:txBody>
      </p:sp>
    </p:spTree>
    <p:extLst>
      <p:ext uri="{BB962C8B-B14F-4D97-AF65-F5344CB8AC3E}">
        <p14:creationId xmlns:p14="http://schemas.microsoft.com/office/powerpoint/2010/main" val="1209553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>
            <a:extLst>
              <a:ext uri="{FF2B5EF4-FFF2-40B4-BE49-F238E27FC236}">
                <a16:creationId xmlns:a16="http://schemas.microsoft.com/office/drawing/2014/main" id="{E6136E79-3FF8-FD52-F303-18DB59849845}"/>
              </a:ext>
            </a:extLst>
          </p:cNvPr>
          <p:cNvGrpSpPr/>
          <p:nvPr/>
        </p:nvGrpSpPr>
        <p:grpSpPr>
          <a:xfrm>
            <a:off x="1" y="0"/>
            <a:ext cx="12191999" cy="6858000"/>
            <a:chOff x="-3525666" y="0"/>
            <a:chExt cx="12191999" cy="6858000"/>
          </a:xfrm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7C160FB2-13F0-766A-9249-432B71FE06B9}"/>
                </a:ext>
              </a:extLst>
            </p:cNvPr>
            <p:cNvSpPr/>
            <p:nvPr/>
          </p:nvSpPr>
          <p:spPr>
            <a:xfrm>
              <a:off x="-3525666" y="0"/>
              <a:ext cx="11650636" cy="6858000"/>
            </a:xfrm>
            <a:prstGeom prst="rect">
              <a:avLst/>
            </a:prstGeom>
            <a:solidFill>
              <a:srgbClr val="146E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Triangolo isoscele 14">
              <a:extLst>
                <a:ext uri="{FF2B5EF4-FFF2-40B4-BE49-F238E27FC236}">
                  <a16:creationId xmlns:a16="http://schemas.microsoft.com/office/drawing/2014/main" id="{612D179A-6658-F805-A55B-DD6FAC942BD0}"/>
                </a:ext>
              </a:extLst>
            </p:cNvPr>
            <p:cNvSpPr/>
            <p:nvPr/>
          </p:nvSpPr>
          <p:spPr>
            <a:xfrm rot="5400000">
              <a:off x="7936178" y="753582"/>
              <a:ext cx="900752" cy="559559"/>
            </a:xfrm>
            <a:prstGeom prst="triangle">
              <a:avLst/>
            </a:prstGeom>
            <a:solidFill>
              <a:srgbClr val="146E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13D22130-DD07-4734-A781-C948DCD3E5AD}"/>
                </a:ext>
              </a:extLst>
            </p:cNvPr>
            <p:cNvSpPr txBox="1"/>
            <p:nvPr/>
          </p:nvSpPr>
          <p:spPr>
            <a:xfrm>
              <a:off x="-3416009" y="1068850"/>
              <a:ext cx="36195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800" b="1" dirty="0">
                  <a:solidFill>
                    <a:schemeClr val="bg2"/>
                  </a:solidFill>
                  <a:latin typeface="Neo Sans Std" panose="020B0504030504040204" pitchFamily="34" charset="0"/>
                </a:rPr>
                <a:t>Who </a:t>
              </a:r>
              <a:r>
                <a:rPr lang="it-IT" sz="2800" b="1" dirty="0" err="1">
                  <a:solidFill>
                    <a:schemeClr val="bg2"/>
                  </a:solidFill>
                  <a:latin typeface="Neo Sans Std" panose="020B0504030504040204" pitchFamily="34" charset="0"/>
                </a:rPr>
                <a:t>is</a:t>
              </a:r>
              <a:r>
                <a:rPr lang="it-IT" sz="2800" b="1" dirty="0">
                  <a:solidFill>
                    <a:schemeClr val="bg2"/>
                  </a:solidFill>
                  <a:latin typeface="Neo Sans Std" panose="020B0504030504040204" pitchFamily="34" charset="0"/>
                </a:rPr>
                <a:t> the product?</a:t>
              </a:r>
            </a:p>
          </p:txBody>
        </p:sp>
        <p:pic>
          <p:nvPicPr>
            <p:cNvPr id="4" name="Immagine 3" descr="Immagine che contiene Carattere, Elementi grafici, cerchio, simbolo&#10;&#10;Descrizione generata automaticamente">
              <a:extLst>
                <a:ext uri="{FF2B5EF4-FFF2-40B4-BE49-F238E27FC236}">
                  <a16:creationId xmlns:a16="http://schemas.microsoft.com/office/drawing/2014/main" id="{1CE11AA8-5A0E-455E-D1C7-4EF0E2589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106403" y="133694"/>
              <a:ext cx="1000288" cy="1000288"/>
            </a:xfrm>
            <a:prstGeom prst="rect">
              <a:avLst/>
            </a:prstGeom>
          </p:spPr>
        </p:pic>
      </p:grpSp>
      <p:pic>
        <p:nvPicPr>
          <p:cNvPr id="18" name="Immagine 17" descr="Immagine che contiene testo, schermata, Carattere&#10;&#10;Descrizione generata automaticamente">
            <a:extLst>
              <a:ext uri="{FF2B5EF4-FFF2-40B4-BE49-F238E27FC236}">
                <a16:creationId xmlns:a16="http://schemas.microsoft.com/office/drawing/2014/main" id="{9DF04FE7-A099-ED5D-00EE-BF8364B388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8" y="1864596"/>
            <a:ext cx="5132775" cy="2105319"/>
          </a:xfrm>
          <a:prstGeom prst="rect">
            <a:avLst/>
          </a:prstGeom>
        </p:spPr>
      </p:pic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75EE0BC7-F155-23FE-D141-444EBBED092C}"/>
              </a:ext>
            </a:extLst>
          </p:cNvPr>
          <p:cNvCxnSpPr>
            <a:cxnSpLocks/>
          </p:cNvCxnSpPr>
          <p:nvPr/>
        </p:nvCxnSpPr>
        <p:spPr>
          <a:xfrm>
            <a:off x="5324102" y="3003318"/>
            <a:ext cx="585833" cy="0"/>
          </a:xfrm>
          <a:prstGeom prst="straightConnector1">
            <a:avLst/>
          </a:prstGeom>
          <a:ln w="92075" cap="rnd">
            <a:solidFill>
              <a:schemeClr val="bg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magine 23" descr="Immagine che contiene testo, Carattere, bianco, schermata&#10;&#10;Descrizione generata automaticamente">
            <a:extLst>
              <a:ext uri="{FF2B5EF4-FFF2-40B4-BE49-F238E27FC236}">
                <a16:creationId xmlns:a16="http://schemas.microsoft.com/office/drawing/2014/main" id="{BAF91F1B-5C3C-7C3C-4C80-A79EBC7FBE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887" y="2371003"/>
            <a:ext cx="5525094" cy="1264630"/>
          </a:xfrm>
          <a:prstGeom prst="rect">
            <a:avLst/>
          </a:prstGeom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A6460642-3689-8666-4069-2775D7A0DBC5}"/>
              </a:ext>
            </a:extLst>
          </p:cNvPr>
          <p:cNvSpPr txBox="1"/>
          <p:nvPr/>
        </p:nvSpPr>
        <p:spPr>
          <a:xfrm>
            <a:off x="917008" y="5043351"/>
            <a:ext cx="2548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COST: 746€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million</a:t>
            </a:r>
            <a:endParaRPr lang="it-IT" sz="2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E72111CB-BAC2-87F2-DAA0-DA99D198CC0F}"/>
              </a:ext>
            </a:extLst>
          </p:cNvPr>
          <p:cNvSpPr txBox="1"/>
          <p:nvPr/>
        </p:nvSpPr>
        <p:spPr>
          <a:xfrm>
            <a:off x="4469248" y="5060692"/>
            <a:ext cx="3394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CAUSE: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Violation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of GDPR</a:t>
            </a:r>
          </a:p>
        </p:txBody>
      </p:sp>
      <p:pic>
        <p:nvPicPr>
          <p:cNvPr id="30" name="Immagine 29" descr="Immagine che contiene simbolo, Carattere, Elementi grafici, logo&#10;&#10;Descrizione generata automaticamente">
            <a:extLst>
              <a:ext uri="{FF2B5EF4-FFF2-40B4-BE49-F238E27FC236}">
                <a16:creationId xmlns:a16="http://schemas.microsoft.com/office/drawing/2014/main" id="{A3DDB224-DD94-3E6F-0533-A33C6FC6BE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26" y="4897738"/>
            <a:ext cx="609600" cy="609600"/>
          </a:xfrm>
          <a:prstGeom prst="rect">
            <a:avLst/>
          </a:prstGeom>
        </p:spPr>
      </p:pic>
      <p:pic>
        <p:nvPicPr>
          <p:cNvPr id="31" name="Immagine 30" descr="Immagine che contiene testo, bianco, Carattere, Elementi grafici&#10;&#10;Descrizione generata automaticamente">
            <a:extLst>
              <a:ext uri="{FF2B5EF4-FFF2-40B4-BE49-F238E27FC236}">
                <a16:creationId xmlns:a16="http://schemas.microsoft.com/office/drawing/2014/main" id="{F149CAD2-4912-2F13-1782-289C37B2F4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648" y="4954483"/>
            <a:ext cx="609600" cy="609600"/>
          </a:xfrm>
          <a:prstGeom prst="rect">
            <a:avLst/>
          </a:prstGeom>
        </p:spPr>
      </p:pic>
      <p:pic>
        <p:nvPicPr>
          <p:cNvPr id="32" name="Immagine 31" descr="Immagine che contiene simbolo, logo, Carattere, cerchio&#10;&#10;Descrizione generata automaticamente">
            <a:extLst>
              <a:ext uri="{FF2B5EF4-FFF2-40B4-BE49-F238E27FC236}">
                <a16:creationId xmlns:a16="http://schemas.microsoft.com/office/drawing/2014/main" id="{E0FBE4B0-5AD4-28AD-1AC2-1A4DED6002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514" y="4897738"/>
            <a:ext cx="609600" cy="609600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BEA3DE7D-7509-4E48-AD8D-BFE2A4354C53}"/>
              </a:ext>
            </a:extLst>
          </p:cNvPr>
          <p:cNvSpPr txBox="1"/>
          <p:nvPr/>
        </p:nvSpPr>
        <p:spPr>
          <a:xfrm>
            <a:off x="8880115" y="5043351"/>
            <a:ext cx="3080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DATE: 30 LUG 2021</a:t>
            </a:r>
          </a:p>
        </p:txBody>
      </p:sp>
    </p:spTree>
    <p:extLst>
      <p:ext uri="{BB962C8B-B14F-4D97-AF65-F5344CB8AC3E}">
        <p14:creationId xmlns:p14="http://schemas.microsoft.com/office/powerpoint/2010/main" val="577872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54D1007C-0E3E-55A8-B72D-A62B1626273D}"/>
              </a:ext>
            </a:extLst>
          </p:cNvPr>
          <p:cNvSpPr/>
          <p:nvPr/>
        </p:nvSpPr>
        <p:spPr>
          <a:xfrm>
            <a:off x="8124969" y="0"/>
            <a:ext cx="4067033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Triangolo isoscele 15">
            <a:extLst>
              <a:ext uri="{FF2B5EF4-FFF2-40B4-BE49-F238E27FC236}">
                <a16:creationId xmlns:a16="http://schemas.microsoft.com/office/drawing/2014/main" id="{77E4D0F9-6B2D-D2A5-766C-44EF7676E8CE}"/>
              </a:ext>
            </a:extLst>
          </p:cNvPr>
          <p:cNvSpPr/>
          <p:nvPr/>
        </p:nvSpPr>
        <p:spPr>
          <a:xfrm rot="5400000">
            <a:off x="12012309" y="770301"/>
            <a:ext cx="900752" cy="559559"/>
          </a:xfrm>
          <a:prstGeom prst="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Immagine 1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6AF04F2C-1E53-4B40-C446-45384D5B8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366" y="2673066"/>
            <a:ext cx="923330" cy="923330"/>
          </a:xfrm>
          <a:prstGeom prst="rect">
            <a:avLst/>
          </a:prstGeom>
          <a:ln>
            <a:noFill/>
          </a:ln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E11E7A0C-5279-94E5-4988-DEB63CFF85C1}"/>
              </a:ext>
            </a:extLst>
          </p:cNvPr>
          <p:cNvSpPr txBox="1"/>
          <p:nvPr/>
        </p:nvSpPr>
        <p:spPr>
          <a:xfrm>
            <a:off x="8280597" y="3711360"/>
            <a:ext cx="375086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800" b="1" dirty="0" err="1">
                <a:latin typeface="Neo Sans Std" panose="020B0504030504040204" pitchFamily="34" charset="0"/>
              </a:rPr>
              <a:t>She</a:t>
            </a:r>
            <a:r>
              <a:rPr lang="it-IT" sz="2800" b="1" dirty="0"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latin typeface="Neo Sans Std" panose="020B0504030504040204" pitchFamily="34" charset="0"/>
              </a:rPr>
              <a:t>knows</a:t>
            </a:r>
            <a:r>
              <a:rPr lang="it-IT" sz="2800" b="1" dirty="0"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latin typeface="Neo Sans Std" panose="020B0504030504040204" pitchFamily="34" charset="0"/>
              </a:rPr>
              <a:t>too</a:t>
            </a:r>
            <a:r>
              <a:rPr lang="it-IT" sz="2800" b="1" dirty="0"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latin typeface="Neo Sans Std" panose="020B0504030504040204" pitchFamily="34" charset="0"/>
              </a:rPr>
              <a:t>much</a:t>
            </a:r>
            <a:endParaRPr lang="it-IT" sz="2800" b="1" dirty="0">
              <a:latin typeface="Neo Sans Std" panose="020B0504030504040204" pitchFamily="34" charset="0"/>
            </a:endParaRP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E6136E79-3FF8-FD52-F303-18DB59849845}"/>
              </a:ext>
            </a:extLst>
          </p:cNvPr>
          <p:cNvGrpSpPr/>
          <p:nvPr/>
        </p:nvGrpSpPr>
        <p:grpSpPr>
          <a:xfrm>
            <a:off x="4057936" y="0"/>
            <a:ext cx="4608397" cy="6858000"/>
            <a:chOff x="4057936" y="0"/>
            <a:chExt cx="4608397" cy="6858000"/>
          </a:xfrm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7C160FB2-13F0-766A-9249-432B71FE06B9}"/>
                </a:ext>
              </a:extLst>
            </p:cNvPr>
            <p:cNvSpPr/>
            <p:nvPr/>
          </p:nvSpPr>
          <p:spPr>
            <a:xfrm>
              <a:off x="4057936" y="0"/>
              <a:ext cx="4067033" cy="6858000"/>
            </a:xfrm>
            <a:prstGeom prst="rect">
              <a:avLst/>
            </a:prstGeom>
            <a:solidFill>
              <a:srgbClr val="146E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Triangolo isoscele 14">
              <a:extLst>
                <a:ext uri="{FF2B5EF4-FFF2-40B4-BE49-F238E27FC236}">
                  <a16:creationId xmlns:a16="http://schemas.microsoft.com/office/drawing/2014/main" id="{612D179A-6658-F805-A55B-DD6FAC942BD0}"/>
                </a:ext>
              </a:extLst>
            </p:cNvPr>
            <p:cNvSpPr/>
            <p:nvPr/>
          </p:nvSpPr>
          <p:spPr>
            <a:xfrm rot="5400000">
              <a:off x="7936178" y="753582"/>
              <a:ext cx="900752" cy="559559"/>
            </a:xfrm>
            <a:prstGeom prst="triangle">
              <a:avLst/>
            </a:prstGeom>
            <a:solidFill>
              <a:srgbClr val="146E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13D22130-DD07-4734-A781-C948DCD3E5AD}"/>
                </a:ext>
              </a:extLst>
            </p:cNvPr>
            <p:cNvSpPr txBox="1"/>
            <p:nvPr/>
          </p:nvSpPr>
          <p:spPr>
            <a:xfrm>
              <a:off x="4389839" y="3733119"/>
              <a:ext cx="36195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800" b="1" dirty="0">
                  <a:solidFill>
                    <a:schemeClr val="bg2"/>
                  </a:solidFill>
                  <a:latin typeface="Neo Sans Std" panose="020B0504030504040204" pitchFamily="34" charset="0"/>
                </a:rPr>
                <a:t>Who </a:t>
              </a:r>
              <a:r>
                <a:rPr lang="it-IT" sz="2800" b="1" dirty="0" err="1">
                  <a:solidFill>
                    <a:schemeClr val="bg2"/>
                  </a:solidFill>
                  <a:latin typeface="Neo Sans Std" panose="020B0504030504040204" pitchFamily="34" charset="0"/>
                </a:rPr>
                <a:t>is</a:t>
              </a:r>
              <a:r>
                <a:rPr lang="it-IT" sz="2800" b="1" dirty="0">
                  <a:solidFill>
                    <a:schemeClr val="bg2"/>
                  </a:solidFill>
                  <a:latin typeface="Neo Sans Std" panose="020B0504030504040204" pitchFamily="34" charset="0"/>
                </a:rPr>
                <a:t> the product?</a:t>
              </a:r>
            </a:p>
          </p:txBody>
        </p:sp>
        <p:pic>
          <p:nvPicPr>
            <p:cNvPr id="4" name="Immagine 3" descr="Immagine che contiene Carattere, Elementi grafici, cerchio, simbolo&#10;&#10;Descrizione generata automaticamente">
              <a:extLst>
                <a:ext uri="{FF2B5EF4-FFF2-40B4-BE49-F238E27FC236}">
                  <a16:creationId xmlns:a16="http://schemas.microsoft.com/office/drawing/2014/main" id="{1CE11AA8-5A0E-455E-D1C7-4EF0E2589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0960" y="2752830"/>
              <a:ext cx="1000288" cy="1000288"/>
            </a:xfrm>
            <a:prstGeom prst="rect">
              <a:avLst/>
            </a:prstGeom>
          </p:spPr>
        </p:pic>
      </p:grpSp>
      <p:grpSp>
        <p:nvGrpSpPr>
          <p:cNvPr id="5" name="Gruppo 4">
            <a:extLst>
              <a:ext uri="{FF2B5EF4-FFF2-40B4-BE49-F238E27FC236}">
                <a16:creationId xmlns:a16="http://schemas.microsoft.com/office/drawing/2014/main" id="{CA29646D-EE0E-7094-5EA0-0702308C11F9}"/>
              </a:ext>
            </a:extLst>
          </p:cNvPr>
          <p:cNvGrpSpPr/>
          <p:nvPr/>
        </p:nvGrpSpPr>
        <p:grpSpPr>
          <a:xfrm>
            <a:off x="0" y="0"/>
            <a:ext cx="4617494" cy="6858000"/>
            <a:chOff x="0" y="0"/>
            <a:chExt cx="4617494" cy="6858000"/>
          </a:xfrm>
        </p:grpSpPr>
        <p:sp>
          <p:nvSpPr>
            <p:cNvPr id="2" name="Rettangolo 1">
              <a:extLst>
                <a:ext uri="{FF2B5EF4-FFF2-40B4-BE49-F238E27FC236}">
                  <a16:creationId xmlns:a16="http://schemas.microsoft.com/office/drawing/2014/main" id="{84778786-B488-D24C-6944-835235F267B7}"/>
                </a:ext>
              </a:extLst>
            </p:cNvPr>
            <p:cNvSpPr/>
            <p:nvPr/>
          </p:nvSpPr>
          <p:spPr>
            <a:xfrm>
              <a:off x="0" y="0"/>
              <a:ext cx="4067033" cy="6858000"/>
            </a:xfrm>
            <a:prstGeom prst="rect">
              <a:avLst/>
            </a:prstGeom>
            <a:solidFill>
              <a:srgbClr val="232F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" name="Triangolo isoscele 13">
              <a:extLst>
                <a:ext uri="{FF2B5EF4-FFF2-40B4-BE49-F238E27FC236}">
                  <a16:creationId xmlns:a16="http://schemas.microsoft.com/office/drawing/2014/main" id="{018950CD-1B8B-6474-8A28-CCB990A6AAC7}"/>
                </a:ext>
              </a:extLst>
            </p:cNvPr>
            <p:cNvSpPr/>
            <p:nvPr/>
          </p:nvSpPr>
          <p:spPr>
            <a:xfrm rot="5400000">
              <a:off x="3887339" y="770303"/>
              <a:ext cx="900752" cy="559559"/>
            </a:xfrm>
            <a:prstGeom prst="triangle">
              <a:avLst/>
            </a:prstGeom>
            <a:solidFill>
              <a:srgbClr val="232F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6" name="Immagine 25" descr="Immagine che contiene Elementi grafici, Carattere, simbolo, clipart&#10;&#10;Descrizione generata automaticamente">
              <a:extLst>
                <a:ext uri="{FF2B5EF4-FFF2-40B4-BE49-F238E27FC236}">
                  <a16:creationId xmlns:a16="http://schemas.microsoft.com/office/drawing/2014/main" id="{C944E539-0735-D27A-6F57-71A62A6C9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0299" y="2788029"/>
              <a:ext cx="923331" cy="923331"/>
            </a:xfrm>
            <a:prstGeom prst="rect">
              <a:avLst/>
            </a:prstGeom>
          </p:spPr>
        </p:pic>
      </p:grp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D085D9D-B313-D26C-A1C5-A89636A81181}"/>
              </a:ext>
            </a:extLst>
          </p:cNvPr>
          <p:cNvSpPr txBox="1"/>
          <p:nvPr/>
        </p:nvSpPr>
        <p:spPr>
          <a:xfrm>
            <a:off x="369207" y="3733119"/>
            <a:ext cx="36195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2"/>
                </a:solidFill>
                <a:latin typeface="Neo Sans Std" panose="020B0504030504040204" pitchFamily="34" charset="0"/>
              </a:rPr>
              <a:t>Can </a:t>
            </a:r>
            <a:r>
              <a:rPr lang="it-IT" sz="28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you</a:t>
            </a:r>
            <a:r>
              <a:rPr lang="it-IT" sz="2800" b="1" dirty="0">
                <a:solidFill>
                  <a:schemeClr val="bg2"/>
                </a:solidFill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solidFill>
                  <a:schemeClr val="bg2"/>
                </a:solidFill>
                <a:latin typeface="Neo Sans Std" panose="020B0504030504040204" pitchFamily="34" charset="0"/>
              </a:rPr>
              <a:t>hear</a:t>
            </a:r>
            <a:r>
              <a:rPr lang="it-IT" sz="2800" b="1" dirty="0">
                <a:solidFill>
                  <a:schemeClr val="bg2"/>
                </a:solidFill>
                <a:latin typeface="Neo Sans Std" panose="020B0504030504040204" pitchFamily="34" charset="0"/>
              </a:rPr>
              <a:t> me?</a:t>
            </a:r>
          </a:p>
        </p:txBody>
      </p:sp>
    </p:spTree>
    <p:extLst>
      <p:ext uri="{BB962C8B-B14F-4D97-AF65-F5344CB8AC3E}">
        <p14:creationId xmlns:p14="http://schemas.microsoft.com/office/powerpoint/2010/main" val="334018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54D1007C-0E3E-55A8-B72D-A62B1626273D}"/>
              </a:ext>
            </a:extLst>
          </p:cNvPr>
          <p:cNvSpPr/>
          <p:nvPr/>
        </p:nvSpPr>
        <p:spPr>
          <a:xfrm>
            <a:off x="1" y="0"/>
            <a:ext cx="1164153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Triangolo isoscele 15">
            <a:extLst>
              <a:ext uri="{FF2B5EF4-FFF2-40B4-BE49-F238E27FC236}">
                <a16:creationId xmlns:a16="http://schemas.microsoft.com/office/drawing/2014/main" id="{77E4D0F9-6B2D-D2A5-766C-44EF7676E8CE}"/>
              </a:ext>
            </a:extLst>
          </p:cNvPr>
          <p:cNvSpPr/>
          <p:nvPr/>
        </p:nvSpPr>
        <p:spPr>
          <a:xfrm rot="5400000">
            <a:off x="11461845" y="770301"/>
            <a:ext cx="900752" cy="559559"/>
          </a:xfrm>
          <a:prstGeom prst="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Immagine 1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6AF04F2C-1E53-4B40-C446-45384D5B8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3" y="138039"/>
            <a:ext cx="923330" cy="923330"/>
          </a:xfrm>
          <a:prstGeom prst="rect">
            <a:avLst/>
          </a:prstGeom>
          <a:ln>
            <a:noFill/>
          </a:ln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E11E7A0C-5279-94E5-4988-DEB63CFF85C1}"/>
              </a:ext>
            </a:extLst>
          </p:cNvPr>
          <p:cNvSpPr txBox="1"/>
          <p:nvPr/>
        </p:nvSpPr>
        <p:spPr>
          <a:xfrm>
            <a:off x="44337" y="937798"/>
            <a:ext cx="381530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800" b="1" dirty="0" err="1">
                <a:latin typeface="Neo Sans Std" panose="020B0504030504040204" pitchFamily="34" charset="0"/>
              </a:rPr>
              <a:t>She</a:t>
            </a:r>
            <a:r>
              <a:rPr lang="it-IT" sz="2800" b="1" dirty="0"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latin typeface="Neo Sans Std" panose="020B0504030504040204" pitchFamily="34" charset="0"/>
              </a:rPr>
              <a:t>knows</a:t>
            </a:r>
            <a:r>
              <a:rPr lang="it-IT" sz="2800" b="1" dirty="0"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latin typeface="Neo Sans Std" panose="020B0504030504040204" pitchFamily="34" charset="0"/>
              </a:rPr>
              <a:t>too</a:t>
            </a:r>
            <a:r>
              <a:rPr lang="it-IT" sz="2800" b="1" dirty="0"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latin typeface="Neo Sans Std" panose="020B0504030504040204" pitchFamily="34" charset="0"/>
              </a:rPr>
              <a:t>much</a:t>
            </a:r>
            <a:endParaRPr lang="it-IT" sz="2800" b="1" dirty="0">
              <a:latin typeface="Neo Sans Std" panose="020B0504030504040204" pitchFamily="34" charset="0"/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1A4E22A8-BE18-7FDA-F049-AA5B7CF12334}"/>
              </a:ext>
            </a:extLst>
          </p:cNvPr>
          <p:cNvSpPr txBox="1"/>
          <p:nvPr/>
        </p:nvSpPr>
        <p:spPr>
          <a:xfrm>
            <a:off x="937663" y="5858466"/>
            <a:ext cx="10513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Neo Sans Std" panose="020B0504030504040204" pitchFamily="34" charset="0"/>
              </a:rPr>
              <a:t>REASON: </a:t>
            </a:r>
            <a:r>
              <a:rPr lang="en-US" b="1" dirty="0">
                <a:latin typeface="Neo Sans Std" panose="020B0504030504040204" pitchFamily="34" charset="0"/>
              </a:rPr>
              <a:t>collection of personal data from minors who interacted with Alexa without obtaining their consent.</a:t>
            </a:r>
            <a:endParaRPr lang="it-IT" b="1" dirty="0">
              <a:latin typeface="Neo Sans Std" panose="020B0504030504040204" pitchFamily="34" charset="0"/>
            </a:endParaRPr>
          </a:p>
        </p:txBody>
      </p:sp>
      <p:pic>
        <p:nvPicPr>
          <p:cNvPr id="15" name="Immagine 14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2A2160F0-4184-6A43-8ED1-E594E8EACC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20" y="5858466"/>
            <a:ext cx="609600" cy="609600"/>
          </a:xfrm>
          <a:prstGeom prst="rect">
            <a:avLst/>
          </a:prstGeom>
        </p:spPr>
      </p:pic>
      <p:pic>
        <p:nvPicPr>
          <p:cNvPr id="18" name="Immagine 1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5BFE3930-078D-DE04-4A60-EC3974026A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647" y="4957219"/>
            <a:ext cx="609600" cy="609600"/>
          </a:xfrm>
          <a:prstGeom prst="rect">
            <a:avLst/>
          </a:prstGeom>
        </p:spPr>
      </p:pic>
      <p:pic>
        <p:nvPicPr>
          <p:cNvPr id="21" name="Immagine 20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F9933E33-342E-4CBD-26BD-CF8E18B437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79" y="4914444"/>
            <a:ext cx="609600" cy="609600"/>
          </a:xfrm>
          <a:prstGeom prst="rect">
            <a:avLst/>
          </a:prstGeom>
        </p:spPr>
      </p:pic>
      <p:pic>
        <p:nvPicPr>
          <p:cNvPr id="24" name="Immagine 23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376A10A3-41D0-A8BC-5CCB-C52F4C4EE1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278" y="1626494"/>
            <a:ext cx="4090174" cy="2688760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1AB7113-A2D1-7E0A-D47D-C8563AC88AF9}"/>
              </a:ext>
            </a:extLst>
          </p:cNvPr>
          <p:cNvSpPr txBox="1"/>
          <p:nvPr/>
        </p:nvSpPr>
        <p:spPr>
          <a:xfrm>
            <a:off x="937663" y="5030206"/>
            <a:ext cx="2548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Neo Sans Std" panose="020B0504030504040204" pitchFamily="34" charset="0"/>
              </a:rPr>
              <a:t>COST: 30€ </a:t>
            </a:r>
            <a:r>
              <a:rPr lang="it-IT" sz="2000" b="1" dirty="0" err="1">
                <a:latin typeface="Neo Sans Std" panose="020B0504030504040204" pitchFamily="34" charset="0"/>
              </a:rPr>
              <a:t>million</a:t>
            </a:r>
            <a:endParaRPr lang="it-IT" sz="2000" b="1" dirty="0">
              <a:latin typeface="Neo Sans Std" panose="020B0504030504040204" pitchFamily="3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1745C80-8D33-76B4-34FB-5CEE919FAF4E}"/>
              </a:ext>
            </a:extLst>
          </p:cNvPr>
          <p:cNvSpPr txBox="1"/>
          <p:nvPr/>
        </p:nvSpPr>
        <p:spPr>
          <a:xfrm>
            <a:off x="4469248" y="5060692"/>
            <a:ext cx="3333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Neo Sans Std" panose="020B0504030504040204" pitchFamily="34" charset="0"/>
              </a:rPr>
              <a:t>CAUSE: </a:t>
            </a:r>
            <a:r>
              <a:rPr lang="it-IT" sz="2000" b="1" dirty="0" err="1">
                <a:latin typeface="Neo Sans Std" panose="020B0504030504040204" pitchFamily="34" charset="0"/>
              </a:rPr>
              <a:t>Violation</a:t>
            </a:r>
            <a:r>
              <a:rPr lang="it-IT" sz="2000" b="1" dirty="0">
                <a:latin typeface="Neo Sans Std" panose="020B0504030504040204" pitchFamily="34" charset="0"/>
              </a:rPr>
              <a:t> of GDPR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99948071-2F03-2682-CFE3-2420455AB0B5}"/>
              </a:ext>
            </a:extLst>
          </p:cNvPr>
          <p:cNvSpPr txBox="1"/>
          <p:nvPr/>
        </p:nvSpPr>
        <p:spPr>
          <a:xfrm>
            <a:off x="8880115" y="5043351"/>
            <a:ext cx="3080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Neo Sans Std" panose="020B0504030504040204" pitchFamily="34" charset="0"/>
              </a:rPr>
              <a:t>DATE: 31 MAY 2023</a:t>
            </a:r>
          </a:p>
        </p:txBody>
      </p:sp>
      <p:pic>
        <p:nvPicPr>
          <p:cNvPr id="36" name="Immagine 35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1BF3B7C-6812-47F2-9452-EBEF2E32F0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415" y="491444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03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54D1007C-0E3E-55A8-B72D-A62B1626273D}"/>
              </a:ext>
            </a:extLst>
          </p:cNvPr>
          <p:cNvSpPr/>
          <p:nvPr/>
        </p:nvSpPr>
        <p:spPr>
          <a:xfrm>
            <a:off x="1" y="0"/>
            <a:ext cx="1164153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Triangolo isoscele 15">
            <a:extLst>
              <a:ext uri="{FF2B5EF4-FFF2-40B4-BE49-F238E27FC236}">
                <a16:creationId xmlns:a16="http://schemas.microsoft.com/office/drawing/2014/main" id="{77E4D0F9-6B2D-D2A5-766C-44EF7676E8CE}"/>
              </a:ext>
            </a:extLst>
          </p:cNvPr>
          <p:cNvSpPr/>
          <p:nvPr/>
        </p:nvSpPr>
        <p:spPr>
          <a:xfrm rot="5400000">
            <a:off x="11461845" y="770301"/>
            <a:ext cx="900752" cy="559559"/>
          </a:xfrm>
          <a:prstGeom prst="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Immagine 1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6AF04F2C-1E53-4B40-C446-45384D5B8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3" y="138039"/>
            <a:ext cx="923330" cy="923330"/>
          </a:xfrm>
          <a:prstGeom prst="rect">
            <a:avLst/>
          </a:prstGeom>
          <a:ln>
            <a:noFill/>
          </a:ln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E11E7A0C-5279-94E5-4988-DEB63CFF85C1}"/>
              </a:ext>
            </a:extLst>
          </p:cNvPr>
          <p:cNvSpPr txBox="1"/>
          <p:nvPr/>
        </p:nvSpPr>
        <p:spPr>
          <a:xfrm>
            <a:off x="44337" y="937798"/>
            <a:ext cx="383867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800" b="1" dirty="0" err="1">
                <a:latin typeface="Neo Sans Std" panose="020B0504030504040204" pitchFamily="34" charset="0"/>
              </a:rPr>
              <a:t>She</a:t>
            </a:r>
            <a:r>
              <a:rPr lang="it-IT" sz="2800" b="1" dirty="0"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latin typeface="Neo Sans Std" panose="020B0504030504040204" pitchFamily="34" charset="0"/>
              </a:rPr>
              <a:t>knows</a:t>
            </a:r>
            <a:r>
              <a:rPr lang="it-IT" sz="2800" b="1" dirty="0"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latin typeface="Neo Sans Std" panose="020B0504030504040204" pitchFamily="34" charset="0"/>
              </a:rPr>
              <a:t>too</a:t>
            </a:r>
            <a:r>
              <a:rPr lang="it-IT" sz="2800" b="1" dirty="0"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latin typeface="Neo Sans Std" panose="020B0504030504040204" pitchFamily="34" charset="0"/>
              </a:rPr>
              <a:t>much</a:t>
            </a:r>
            <a:endParaRPr lang="it-IT" sz="2800" b="1" dirty="0">
              <a:latin typeface="Neo Sans Std" panose="020B0504030504040204" pitchFamily="34" charset="0"/>
            </a:endParaRPr>
          </a:p>
        </p:txBody>
      </p:sp>
      <p:pic>
        <p:nvPicPr>
          <p:cNvPr id="5" name="Immagine 4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5AF26F65-712F-15A6-C97B-826D494D7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40" y="3094321"/>
            <a:ext cx="3198077" cy="704576"/>
          </a:xfrm>
          <a:prstGeom prst="rect">
            <a:avLst/>
          </a:prstGeom>
        </p:spPr>
      </p:pic>
      <p:pic>
        <p:nvPicPr>
          <p:cNvPr id="7" name="Immagine 6" descr="Immagine che contiene luna&#10;&#10;Descrizione generata automaticamente">
            <a:extLst>
              <a:ext uri="{FF2B5EF4-FFF2-40B4-BE49-F238E27FC236}">
                <a16:creationId xmlns:a16="http://schemas.microsoft.com/office/drawing/2014/main" id="{73D47D4B-A7C0-48B0-B12C-DF3294E81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898" y="2860713"/>
            <a:ext cx="4044915" cy="2271375"/>
          </a:xfrm>
          <a:prstGeom prst="rect">
            <a:avLst/>
          </a:prstGeom>
        </p:spPr>
      </p:pic>
      <p:pic>
        <p:nvPicPr>
          <p:cNvPr id="11" name="Immagine 10" descr="Immagine che contiene testo, schermata, Carattere&#10;&#10;Descrizione generata automaticamente">
            <a:extLst>
              <a:ext uri="{FF2B5EF4-FFF2-40B4-BE49-F238E27FC236}">
                <a16:creationId xmlns:a16="http://schemas.microsoft.com/office/drawing/2014/main" id="{48C7AB84-726E-F637-CFFE-C9B2BA9B22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063" y="2236618"/>
            <a:ext cx="3198078" cy="3124559"/>
          </a:xfrm>
          <a:prstGeom prst="rect">
            <a:avLst/>
          </a:prstGeom>
        </p:spPr>
      </p:pic>
      <p:pic>
        <p:nvPicPr>
          <p:cNvPr id="12" name="Immagine 11" descr="Immagine che contiene linea, cartello&#10;&#10;Descrizione generata automaticamente">
            <a:extLst>
              <a:ext uri="{FF2B5EF4-FFF2-40B4-BE49-F238E27FC236}">
                <a16:creationId xmlns:a16="http://schemas.microsoft.com/office/drawing/2014/main" id="{F5626535-FCEA-FEAF-C76D-5DCBAF1AF4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164" y="2982580"/>
            <a:ext cx="974075" cy="974075"/>
          </a:xfrm>
          <a:prstGeom prst="rect">
            <a:avLst/>
          </a:prstGeom>
        </p:spPr>
      </p:pic>
      <p:cxnSp>
        <p:nvCxnSpPr>
          <p:cNvPr id="14" name="Straight Arrow Connector 12">
            <a:extLst>
              <a:ext uri="{FF2B5EF4-FFF2-40B4-BE49-F238E27FC236}">
                <a16:creationId xmlns:a16="http://schemas.microsoft.com/office/drawing/2014/main" id="{1E63EE54-A505-3E61-B2B8-9BAF2AE90C48}"/>
              </a:ext>
            </a:extLst>
          </p:cNvPr>
          <p:cNvCxnSpPr>
            <a:cxnSpLocks/>
          </p:cNvCxnSpPr>
          <p:nvPr/>
        </p:nvCxnSpPr>
        <p:spPr>
          <a:xfrm>
            <a:off x="4474931" y="3469618"/>
            <a:ext cx="701486" cy="0"/>
          </a:xfrm>
          <a:prstGeom prst="straightConnector1">
            <a:avLst/>
          </a:prstGeom>
          <a:ln w="92075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2047D551-25AC-98F6-B2AC-749604241F6C}"/>
              </a:ext>
            </a:extLst>
          </p:cNvPr>
          <p:cNvCxnSpPr>
            <a:cxnSpLocks/>
          </p:cNvCxnSpPr>
          <p:nvPr/>
        </p:nvCxnSpPr>
        <p:spPr>
          <a:xfrm>
            <a:off x="6456131" y="3434361"/>
            <a:ext cx="701486" cy="0"/>
          </a:xfrm>
          <a:prstGeom prst="straightConnector1">
            <a:avLst/>
          </a:prstGeom>
          <a:ln w="92075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459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54D1007C-0E3E-55A8-B72D-A62B1626273D}"/>
              </a:ext>
            </a:extLst>
          </p:cNvPr>
          <p:cNvSpPr/>
          <p:nvPr/>
        </p:nvSpPr>
        <p:spPr>
          <a:xfrm>
            <a:off x="1" y="0"/>
            <a:ext cx="1164153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Triangolo isoscele 15">
            <a:extLst>
              <a:ext uri="{FF2B5EF4-FFF2-40B4-BE49-F238E27FC236}">
                <a16:creationId xmlns:a16="http://schemas.microsoft.com/office/drawing/2014/main" id="{77E4D0F9-6B2D-D2A5-766C-44EF7676E8CE}"/>
              </a:ext>
            </a:extLst>
          </p:cNvPr>
          <p:cNvSpPr/>
          <p:nvPr/>
        </p:nvSpPr>
        <p:spPr>
          <a:xfrm rot="5400000">
            <a:off x="11461845" y="770301"/>
            <a:ext cx="900752" cy="559559"/>
          </a:xfrm>
          <a:prstGeom prst="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" name="Straight Arrow Connector 12">
            <a:extLst>
              <a:ext uri="{FF2B5EF4-FFF2-40B4-BE49-F238E27FC236}">
                <a16:creationId xmlns:a16="http://schemas.microsoft.com/office/drawing/2014/main" id="{31A76BF4-37F6-871E-5ED6-1255675D86BD}"/>
              </a:ext>
            </a:extLst>
          </p:cNvPr>
          <p:cNvCxnSpPr>
            <a:cxnSpLocks/>
          </p:cNvCxnSpPr>
          <p:nvPr/>
        </p:nvCxnSpPr>
        <p:spPr>
          <a:xfrm>
            <a:off x="3427820" y="3536237"/>
            <a:ext cx="701486" cy="0"/>
          </a:xfrm>
          <a:prstGeom prst="straightConnector1">
            <a:avLst/>
          </a:prstGeom>
          <a:ln w="92075" cap="rnd">
            <a:solidFill>
              <a:schemeClr val="tx1">
                <a:lumMod val="95000"/>
                <a:lumOff val="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0C3DB209-987A-67DA-F2CB-B899ABEFD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600" y="1403378"/>
            <a:ext cx="3891740" cy="857399"/>
          </a:xfrm>
          <a:prstGeom prst="rect">
            <a:avLst/>
          </a:prstGeom>
        </p:spPr>
      </p:pic>
      <p:pic>
        <p:nvPicPr>
          <p:cNvPr id="11" name="Immagine 10" descr="Immagine che contiene luna&#10;&#10;Descrizione generata automaticamente">
            <a:extLst>
              <a:ext uri="{FF2B5EF4-FFF2-40B4-BE49-F238E27FC236}">
                <a16:creationId xmlns:a16="http://schemas.microsoft.com/office/drawing/2014/main" id="{9A840456-E13D-DBC6-8CAF-64B37FFC92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518" y="4599370"/>
            <a:ext cx="6192114" cy="3477110"/>
          </a:xfrm>
          <a:prstGeom prst="rect">
            <a:avLst/>
          </a:prstGeom>
        </p:spPr>
      </p:pic>
      <p:pic>
        <p:nvPicPr>
          <p:cNvPr id="15" name="Immagine 14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12237E57-3CD1-60D9-EC50-C6683C4FF0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94" y="2255214"/>
            <a:ext cx="2957398" cy="3797300"/>
          </a:xfrm>
          <a:prstGeom prst="rect">
            <a:avLst/>
          </a:prstGeom>
        </p:spPr>
      </p:pic>
      <p:pic>
        <p:nvPicPr>
          <p:cNvPr id="18" name="Immagine 17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99B5FECF-C178-2DB3-3CAA-B2767EB552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683" y="2668798"/>
            <a:ext cx="3331574" cy="2149625"/>
          </a:xfrm>
          <a:prstGeom prst="rect">
            <a:avLst/>
          </a:prstGeom>
        </p:spPr>
      </p:pic>
      <p:pic>
        <p:nvPicPr>
          <p:cNvPr id="21" name="Immagine 20" descr="Immagine che contiene testo, schermata, Carattere, linea&#10;&#10;Descrizione generata automaticamente">
            <a:extLst>
              <a:ext uri="{FF2B5EF4-FFF2-40B4-BE49-F238E27FC236}">
                <a16:creationId xmlns:a16="http://schemas.microsoft.com/office/drawing/2014/main" id="{5A6F64D7-FFED-65D5-073A-4B6E9305B8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357" y="4997635"/>
            <a:ext cx="5046935" cy="669414"/>
          </a:xfrm>
          <a:prstGeom prst="rect">
            <a:avLst/>
          </a:prstGeom>
        </p:spPr>
      </p:pic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773474AE-671D-38B4-5D78-9B439BE06167}"/>
              </a:ext>
            </a:extLst>
          </p:cNvPr>
          <p:cNvCxnSpPr>
            <a:cxnSpLocks/>
          </p:cNvCxnSpPr>
          <p:nvPr/>
        </p:nvCxnSpPr>
        <p:spPr>
          <a:xfrm>
            <a:off x="7773269" y="3688637"/>
            <a:ext cx="701486" cy="0"/>
          </a:xfrm>
          <a:prstGeom prst="straightConnector1">
            <a:avLst/>
          </a:prstGeom>
          <a:ln w="92075" cap="rnd">
            <a:solidFill>
              <a:schemeClr val="tx1">
                <a:lumMod val="95000"/>
                <a:lumOff val="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5A8F3229-8772-A430-0678-BE8EB8F8212D}"/>
              </a:ext>
            </a:extLst>
          </p:cNvPr>
          <p:cNvCxnSpPr>
            <a:cxnSpLocks/>
          </p:cNvCxnSpPr>
          <p:nvPr/>
        </p:nvCxnSpPr>
        <p:spPr>
          <a:xfrm>
            <a:off x="8708931" y="2491782"/>
            <a:ext cx="0" cy="2697831"/>
          </a:xfrm>
          <a:prstGeom prst="line">
            <a:avLst/>
          </a:prstGeom>
          <a:ln w="762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5C4E5D67-A7C5-A3F7-56CF-D55A24620A31}"/>
              </a:ext>
            </a:extLst>
          </p:cNvPr>
          <p:cNvSpPr txBox="1"/>
          <p:nvPr/>
        </p:nvSpPr>
        <p:spPr>
          <a:xfrm>
            <a:off x="9292065" y="2491782"/>
            <a:ext cx="152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Neo Sans Std" panose="020B0504030504040204" pitchFamily="34" charset="0"/>
              </a:rPr>
              <a:t>Audio Clip</a:t>
            </a:r>
          </a:p>
        </p:txBody>
      </p:sp>
      <p:cxnSp>
        <p:nvCxnSpPr>
          <p:cNvPr id="28" name="Straight Arrow Connector 12">
            <a:extLst>
              <a:ext uri="{FF2B5EF4-FFF2-40B4-BE49-F238E27FC236}">
                <a16:creationId xmlns:a16="http://schemas.microsoft.com/office/drawing/2014/main" id="{2BAC6E47-E8DC-9C56-66F2-37972CC4728F}"/>
              </a:ext>
            </a:extLst>
          </p:cNvPr>
          <p:cNvCxnSpPr>
            <a:cxnSpLocks/>
          </p:cNvCxnSpPr>
          <p:nvPr/>
        </p:nvCxnSpPr>
        <p:spPr>
          <a:xfrm>
            <a:off x="9879229" y="2891892"/>
            <a:ext cx="0" cy="446876"/>
          </a:xfrm>
          <a:prstGeom prst="straightConnector1">
            <a:avLst/>
          </a:prstGeom>
          <a:ln w="92075" cap="rnd">
            <a:solidFill>
              <a:schemeClr val="tx1">
                <a:lumMod val="95000"/>
                <a:lumOff val="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715FAD00-5A7D-51C5-C89E-7CA9D1AFEFBA}"/>
              </a:ext>
            </a:extLst>
          </p:cNvPr>
          <p:cNvSpPr txBox="1"/>
          <p:nvPr/>
        </p:nvSpPr>
        <p:spPr>
          <a:xfrm>
            <a:off x="9039484" y="3292002"/>
            <a:ext cx="2004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eo Sans Std" panose="020B0504030504040204" pitchFamily="34" charset="0"/>
              </a:rPr>
              <a:t>1. person's name (not the surname)</a:t>
            </a:r>
            <a:endParaRPr lang="it-IT" dirty="0">
              <a:latin typeface="Neo Sans Std" panose="020B0504030504040204" pitchFamily="34" charset="0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4CC241A3-757D-AB61-EC74-600B1AE26E75}"/>
              </a:ext>
            </a:extLst>
          </p:cNvPr>
          <p:cNvSpPr txBox="1"/>
          <p:nvPr/>
        </p:nvSpPr>
        <p:spPr>
          <a:xfrm>
            <a:off x="9039484" y="3927221"/>
            <a:ext cx="1926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eo Sans Std" panose="020B0504030504040204" pitchFamily="34" charset="0"/>
              </a:rPr>
              <a:t>2. number of his user profile</a:t>
            </a:r>
            <a:endParaRPr lang="it-IT" dirty="0">
              <a:latin typeface="Neo Sans Std" panose="020B0504030504040204" pitchFamily="34" charset="0"/>
            </a:endParaRP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B82CC825-878C-700A-30A4-EA2B838A4982}"/>
              </a:ext>
            </a:extLst>
          </p:cNvPr>
          <p:cNvSpPr txBox="1"/>
          <p:nvPr/>
        </p:nvSpPr>
        <p:spPr>
          <a:xfrm>
            <a:off x="9046368" y="4573552"/>
            <a:ext cx="1926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eo Sans Std" panose="020B0504030504040204" pitchFamily="34" charset="0"/>
              </a:rPr>
              <a:t>3. serial number of the device</a:t>
            </a:r>
            <a:endParaRPr lang="it-IT" dirty="0">
              <a:latin typeface="Neo Sans Std" panose="020B0504030504040204" pitchFamily="34" charset="0"/>
            </a:endParaRPr>
          </a:p>
        </p:txBody>
      </p:sp>
      <p:pic>
        <p:nvPicPr>
          <p:cNvPr id="2" name="Immagine 1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C4AC2308-29E7-CF47-6E3C-D5296CCDB5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3" y="138039"/>
            <a:ext cx="923330" cy="923330"/>
          </a:xfrm>
          <a:prstGeom prst="rect">
            <a:avLst/>
          </a:prstGeom>
          <a:ln>
            <a:noFill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A40F53C6-E012-EF86-1378-77A8F408034C}"/>
              </a:ext>
            </a:extLst>
          </p:cNvPr>
          <p:cNvSpPr txBox="1"/>
          <p:nvPr/>
        </p:nvSpPr>
        <p:spPr>
          <a:xfrm>
            <a:off x="44337" y="937798"/>
            <a:ext cx="383867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800" b="1" dirty="0" err="1">
                <a:latin typeface="Neo Sans Std" panose="020B0504030504040204" pitchFamily="34" charset="0"/>
              </a:rPr>
              <a:t>She</a:t>
            </a:r>
            <a:r>
              <a:rPr lang="it-IT" sz="2800" b="1" dirty="0"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latin typeface="Neo Sans Std" panose="020B0504030504040204" pitchFamily="34" charset="0"/>
              </a:rPr>
              <a:t>knows</a:t>
            </a:r>
            <a:r>
              <a:rPr lang="it-IT" sz="2800" b="1" dirty="0"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latin typeface="Neo Sans Std" panose="020B0504030504040204" pitchFamily="34" charset="0"/>
              </a:rPr>
              <a:t>too</a:t>
            </a:r>
            <a:r>
              <a:rPr lang="it-IT" sz="2800" b="1" dirty="0">
                <a:latin typeface="Neo Sans Std" panose="020B0504030504040204" pitchFamily="34" charset="0"/>
              </a:rPr>
              <a:t> </a:t>
            </a:r>
            <a:r>
              <a:rPr lang="it-IT" sz="2800" b="1" dirty="0" err="1">
                <a:latin typeface="Neo Sans Std" panose="020B0504030504040204" pitchFamily="34" charset="0"/>
              </a:rPr>
              <a:t>much</a:t>
            </a:r>
            <a:endParaRPr lang="it-IT" sz="2800" b="1" dirty="0">
              <a:latin typeface="Neo Sans Std" panose="020B05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817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79FF092-374B-2A67-1F0E-7BAE44452549}"/>
              </a:ext>
            </a:extLst>
          </p:cNvPr>
          <p:cNvSpPr/>
          <p:nvPr/>
        </p:nvSpPr>
        <p:spPr>
          <a:xfrm>
            <a:off x="0" y="0"/>
            <a:ext cx="12192000" cy="685526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134230C-9F4E-5907-E6E2-C96CFDAE9005}"/>
              </a:ext>
            </a:extLst>
          </p:cNvPr>
          <p:cNvSpPr txBox="1"/>
          <p:nvPr/>
        </p:nvSpPr>
        <p:spPr>
          <a:xfrm>
            <a:off x="1606881" y="5100111"/>
            <a:ext cx="989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DPIA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FF91099-221C-9CC3-A079-82FB2E2AA755}"/>
              </a:ext>
            </a:extLst>
          </p:cNvPr>
          <p:cNvSpPr txBox="1"/>
          <p:nvPr/>
        </p:nvSpPr>
        <p:spPr>
          <a:xfrm>
            <a:off x="4997588" y="5126561"/>
            <a:ext cx="2368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 err="1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Violations</a:t>
            </a:r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 of GDPR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D07126B-9BB1-3E44-C045-BE2FBAC3CE9A}"/>
              </a:ext>
            </a:extLst>
          </p:cNvPr>
          <p:cNvSpPr txBox="1"/>
          <p:nvPr/>
        </p:nvSpPr>
        <p:spPr>
          <a:xfrm>
            <a:off x="9570257" y="2964018"/>
            <a:ext cx="1239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Alexa &amp; Privacy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1D4F5AC4-5081-7B0E-5BD5-5F6A824D148A}"/>
              </a:ext>
            </a:extLst>
          </p:cNvPr>
          <p:cNvSpPr txBox="1"/>
          <p:nvPr/>
        </p:nvSpPr>
        <p:spPr>
          <a:xfrm>
            <a:off x="9449709" y="5100111"/>
            <a:ext cx="1480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i="0" dirty="0" err="1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Possible</a:t>
            </a:r>
            <a:r>
              <a:rPr lang="it-IT" sz="2000" b="1" i="0" dirty="0">
                <a:solidFill>
                  <a:schemeClr val="bg1"/>
                </a:solidFill>
                <a:effectLst/>
                <a:latin typeface="Neo Sans Std" panose="020B0504030504040204" pitchFamily="34" charset="0"/>
              </a:rPr>
              <a:t> Solutions</a:t>
            </a:r>
            <a:endParaRPr lang="it-IT" sz="16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37A9122-DBC9-E6F7-26BD-E0FF983BBBCF}"/>
              </a:ext>
            </a:extLst>
          </p:cNvPr>
          <p:cNvSpPr txBox="1"/>
          <p:nvPr/>
        </p:nvSpPr>
        <p:spPr>
          <a:xfrm>
            <a:off x="3819102" y="267046"/>
            <a:ext cx="455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Table</a:t>
            </a:r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 of </a:t>
            </a:r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Contents</a:t>
            </a:r>
            <a:endParaRPr lang="it-IT" sz="4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CC1D85A5-07A4-B7A0-3366-261087B46798}"/>
              </a:ext>
            </a:extLst>
          </p:cNvPr>
          <p:cNvGrpSpPr/>
          <p:nvPr/>
        </p:nvGrpSpPr>
        <p:grpSpPr>
          <a:xfrm>
            <a:off x="5601105" y="1872103"/>
            <a:ext cx="989788" cy="1086456"/>
            <a:chOff x="5601105" y="1872103"/>
            <a:chExt cx="989788" cy="108645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4E940A52-3718-317F-5F78-7999BAF19B40}"/>
                </a:ext>
              </a:extLst>
            </p:cNvPr>
            <p:cNvSpPr/>
            <p:nvPr/>
          </p:nvSpPr>
          <p:spPr>
            <a:xfrm>
              <a:off x="5601105" y="1872103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7" name="Immagine 6" descr="Immagine che contiene logo, simbolo, Carattere, Elementi grafici&#10;&#10;Descrizione generata automaticamente">
              <a:extLst>
                <a:ext uri="{FF2B5EF4-FFF2-40B4-BE49-F238E27FC236}">
                  <a16:creationId xmlns:a16="http://schemas.microsoft.com/office/drawing/2014/main" id="{A6D20C96-9FF8-9773-2554-0243D1DDC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943" y="2095276"/>
              <a:ext cx="640110" cy="640110"/>
            </a:xfrm>
            <a:prstGeom prst="rect">
              <a:avLst/>
            </a:prstGeom>
          </p:spPr>
        </p:pic>
      </p:grpSp>
      <p:sp>
        <p:nvSpPr>
          <p:cNvPr id="14" name="Freeform 5">
            <a:extLst>
              <a:ext uri="{FF2B5EF4-FFF2-40B4-BE49-F238E27FC236}">
                <a16:creationId xmlns:a16="http://schemas.microsoft.com/office/drawing/2014/main" id="{4B794181-D643-C43A-E24D-A5593B38716F}"/>
              </a:ext>
            </a:extLst>
          </p:cNvPr>
          <p:cNvSpPr/>
          <p:nvPr/>
        </p:nvSpPr>
        <p:spPr>
          <a:xfrm>
            <a:off x="9704038" y="1872103"/>
            <a:ext cx="989788" cy="1086456"/>
          </a:xfrm>
          <a:custGeom>
            <a:avLst/>
            <a:gdLst>
              <a:gd name="connsiteX0" fmla="*/ 1612423 w 1612281"/>
              <a:gd name="connsiteY0" fmla="*/ 1198981 h 1769747"/>
              <a:gd name="connsiteX1" fmla="*/ 1483129 w 1612281"/>
              <a:gd name="connsiteY1" fmla="*/ 1423165 h 1769747"/>
              <a:gd name="connsiteX2" fmla="*/ 936966 w 1612281"/>
              <a:gd name="connsiteY2" fmla="*/ 1738895 h 1769747"/>
              <a:gd name="connsiteX3" fmla="*/ 677807 w 1612281"/>
              <a:gd name="connsiteY3" fmla="*/ 1739218 h 1769747"/>
              <a:gd name="connsiteX4" fmla="*/ 130825 w 1612281"/>
              <a:gd name="connsiteY4" fmla="*/ 1424906 h 1769747"/>
              <a:gd name="connsiteX5" fmla="*/ 951 w 1612281"/>
              <a:gd name="connsiteY5" fmla="*/ 1201017 h 1769747"/>
              <a:gd name="connsiteX6" fmla="*/ 142 w 1612281"/>
              <a:gd name="connsiteY6" fmla="*/ 571003 h 1769747"/>
              <a:gd name="connsiteX7" fmla="*/ 129426 w 1612281"/>
              <a:gd name="connsiteY7" fmla="*/ 346791 h 1769747"/>
              <a:gd name="connsiteX8" fmla="*/ 675637 w 1612281"/>
              <a:gd name="connsiteY8" fmla="*/ 31089 h 1769747"/>
              <a:gd name="connsiteX9" fmla="*/ 934795 w 1612281"/>
              <a:gd name="connsiteY9" fmla="*/ 30756 h 1769747"/>
              <a:gd name="connsiteX10" fmla="*/ 1481777 w 1612281"/>
              <a:gd name="connsiteY10" fmla="*/ 345078 h 1769747"/>
              <a:gd name="connsiteX11" fmla="*/ 1611642 w 1612281"/>
              <a:gd name="connsiteY11" fmla="*/ 568920 h 176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12281" h="1769747">
                <a:moveTo>
                  <a:pt x="1612423" y="1198981"/>
                </a:moveTo>
                <a:cubicBezTo>
                  <a:pt x="1612527" y="1281127"/>
                  <a:pt x="1554350" y="1382025"/>
                  <a:pt x="1483129" y="1423165"/>
                </a:cubicBezTo>
                <a:lnTo>
                  <a:pt x="936966" y="1738895"/>
                </a:lnTo>
                <a:cubicBezTo>
                  <a:pt x="865736" y="1780063"/>
                  <a:pt x="749132" y="1780187"/>
                  <a:pt x="677807" y="1739218"/>
                </a:cubicBezTo>
                <a:lnTo>
                  <a:pt x="130825" y="1424906"/>
                </a:lnTo>
                <a:cubicBezTo>
                  <a:pt x="59500" y="1383909"/>
                  <a:pt x="1056" y="1283144"/>
                  <a:pt x="951" y="1201017"/>
                </a:cubicBezTo>
                <a:lnTo>
                  <a:pt x="142" y="571003"/>
                </a:lnTo>
                <a:cubicBezTo>
                  <a:pt x="46" y="488838"/>
                  <a:pt x="58215" y="387968"/>
                  <a:pt x="129426" y="346791"/>
                </a:cubicBezTo>
                <a:lnTo>
                  <a:pt x="675637" y="31089"/>
                </a:lnTo>
                <a:cubicBezTo>
                  <a:pt x="746857" y="-10088"/>
                  <a:pt x="863470" y="-10231"/>
                  <a:pt x="934795" y="30756"/>
                </a:cubicBezTo>
                <a:lnTo>
                  <a:pt x="1481777" y="345078"/>
                </a:lnTo>
                <a:cubicBezTo>
                  <a:pt x="1553102" y="386046"/>
                  <a:pt x="1611547" y="486793"/>
                  <a:pt x="1611642" y="568920"/>
                </a:cubicBezTo>
                <a:close/>
              </a:path>
            </a:pathLst>
          </a:custGeom>
          <a:solidFill>
            <a:srgbClr val="222E3E"/>
          </a:solidFill>
          <a:ln w="9511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IT"/>
          </a:p>
        </p:txBody>
      </p:sp>
      <p:pic>
        <p:nvPicPr>
          <p:cNvPr id="10" name="Immagine 9" descr="Immagine che contiene simbolo, logo, Carattere, Elementi grafici&#10;&#10;Descrizione generata automaticamente">
            <a:extLst>
              <a:ext uri="{FF2B5EF4-FFF2-40B4-BE49-F238E27FC236}">
                <a16:creationId xmlns:a16="http://schemas.microsoft.com/office/drawing/2014/main" id="{838A6D04-B477-7861-C856-163D069E2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876" y="2092351"/>
            <a:ext cx="640111" cy="640111"/>
          </a:xfrm>
          <a:prstGeom prst="rect">
            <a:avLst/>
          </a:prstGeom>
        </p:spPr>
      </p:pic>
      <p:grpSp>
        <p:nvGrpSpPr>
          <p:cNvPr id="31" name="Gruppo 30">
            <a:extLst>
              <a:ext uri="{FF2B5EF4-FFF2-40B4-BE49-F238E27FC236}">
                <a16:creationId xmlns:a16="http://schemas.microsoft.com/office/drawing/2014/main" id="{7E610907-EA13-8489-0E47-34CAEA020610}"/>
              </a:ext>
            </a:extLst>
          </p:cNvPr>
          <p:cNvGrpSpPr/>
          <p:nvPr/>
        </p:nvGrpSpPr>
        <p:grpSpPr>
          <a:xfrm>
            <a:off x="9704038" y="4040105"/>
            <a:ext cx="989788" cy="1086456"/>
            <a:chOff x="9704038" y="4040105"/>
            <a:chExt cx="989788" cy="108645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E85D2035-9278-423D-E4A3-F7FC7E331453}"/>
                </a:ext>
              </a:extLst>
            </p:cNvPr>
            <p:cNvSpPr/>
            <p:nvPr/>
          </p:nvSpPr>
          <p:spPr>
            <a:xfrm>
              <a:off x="9704038" y="4040105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28" name="Immagine 27" descr="Immagine che contiene Elementi grafici, Carattere, simbolo, logo&#10;&#10;Descrizione generata automaticamente">
              <a:extLst>
                <a:ext uri="{FF2B5EF4-FFF2-40B4-BE49-F238E27FC236}">
                  <a16:creationId xmlns:a16="http://schemas.microsoft.com/office/drawing/2014/main" id="{885A62B1-AA7B-4D4A-EFF2-37CA4F47E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9891" y="4190551"/>
              <a:ext cx="640111" cy="640111"/>
            </a:xfrm>
            <a:prstGeom prst="rect">
              <a:avLst/>
            </a:prstGeom>
          </p:spPr>
        </p:pic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1D77F8E8-291C-EDA7-1473-F4FBB1BF5C66}"/>
              </a:ext>
            </a:extLst>
          </p:cNvPr>
          <p:cNvGrpSpPr/>
          <p:nvPr/>
        </p:nvGrpSpPr>
        <p:grpSpPr>
          <a:xfrm>
            <a:off x="1608116" y="1872103"/>
            <a:ext cx="989788" cy="1086456"/>
            <a:chOff x="1608116" y="1872103"/>
            <a:chExt cx="989788" cy="108645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6BFDEC2A-1A38-1E91-881C-0C87B4A3EE5F}"/>
                </a:ext>
              </a:extLst>
            </p:cNvPr>
            <p:cNvSpPr/>
            <p:nvPr/>
          </p:nvSpPr>
          <p:spPr>
            <a:xfrm>
              <a:off x="1608116" y="1872103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>
                <a:solidFill>
                  <a:schemeClr val="bg1"/>
                </a:solidFill>
              </a:endParaRPr>
            </a:p>
          </p:txBody>
        </p:sp>
        <p:pic>
          <p:nvPicPr>
            <p:cNvPr id="8" name="Immagine 7" descr="Immagine che contiene simbolo, schermata, Carattere, logo&#10;&#10;Descrizione generata automaticamente">
              <a:extLst>
                <a:ext uri="{FF2B5EF4-FFF2-40B4-BE49-F238E27FC236}">
                  <a16:creationId xmlns:a16="http://schemas.microsoft.com/office/drawing/2014/main" id="{71F876E8-D63E-B5D2-5721-883EF3181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2095276"/>
              <a:ext cx="640111" cy="640111"/>
            </a:xfrm>
            <a:prstGeom prst="rect">
              <a:avLst/>
            </a:prstGeom>
          </p:spPr>
        </p:pic>
      </p:grp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E199EC8-6D2F-4648-83DB-541250E8A99C}"/>
              </a:ext>
            </a:extLst>
          </p:cNvPr>
          <p:cNvSpPr txBox="1"/>
          <p:nvPr/>
        </p:nvSpPr>
        <p:spPr>
          <a:xfrm>
            <a:off x="1104966" y="2959471"/>
            <a:ext cx="19551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How </a:t>
            </a:r>
            <a:r>
              <a:rPr lang="it-IT" sz="2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VVAs</a:t>
            </a:r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 work</a:t>
            </a:r>
          </a:p>
        </p:txBody>
      </p: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FE15EFCD-D790-A135-04C6-558E4B2EE372}"/>
              </a:ext>
            </a:extLst>
          </p:cNvPr>
          <p:cNvGrpSpPr/>
          <p:nvPr/>
        </p:nvGrpSpPr>
        <p:grpSpPr>
          <a:xfrm>
            <a:off x="1608114" y="4040561"/>
            <a:ext cx="989788" cy="1086456"/>
            <a:chOff x="1608114" y="4040561"/>
            <a:chExt cx="989788" cy="1086456"/>
          </a:xfrm>
        </p:grpSpPr>
        <p:sp>
          <p:nvSpPr>
            <p:cNvPr id="2" name="Freeform 5">
              <a:extLst>
                <a:ext uri="{FF2B5EF4-FFF2-40B4-BE49-F238E27FC236}">
                  <a16:creationId xmlns:a16="http://schemas.microsoft.com/office/drawing/2014/main" id="{017B18DE-A396-89FA-6CB5-F09FF29C0C78}"/>
                </a:ext>
              </a:extLst>
            </p:cNvPr>
            <p:cNvSpPr/>
            <p:nvPr/>
          </p:nvSpPr>
          <p:spPr>
            <a:xfrm>
              <a:off x="1608114" y="4040561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12" name="Immagine 11" descr="Immagine che contiene Carattere, simbolo, Elementi grafici, design&#10;&#10;Descrizione generata automaticamente">
              <a:extLst>
                <a:ext uri="{FF2B5EF4-FFF2-40B4-BE49-F238E27FC236}">
                  <a16:creationId xmlns:a16="http://schemas.microsoft.com/office/drawing/2014/main" id="{4F9DFE00-FAC0-0DA6-2E1C-70A6D0317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720" y="4261506"/>
              <a:ext cx="640111" cy="640111"/>
            </a:xfrm>
            <a:prstGeom prst="rect">
              <a:avLst/>
            </a:prstGeom>
          </p:spPr>
        </p:pic>
      </p:grp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915C9793-8684-92AB-BB7D-77C84D6B35A1}"/>
              </a:ext>
            </a:extLst>
          </p:cNvPr>
          <p:cNvGrpSpPr/>
          <p:nvPr/>
        </p:nvGrpSpPr>
        <p:grpSpPr>
          <a:xfrm>
            <a:off x="5601105" y="4040105"/>
            <a:ext cx="989788" cy="1086456"/>
            <a:chOff x="5601105" y="4040105"/>
            <a:chExt cx="989788" cy="1086456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488CC35A-43D8-B141-980D-F09713659B42}"/>
                </a:ext>
              </a:extLst>
            </p:cNvPr>
            <p:cNvSpPr/>
            <p:nvPr/>
          </p:nvSpPr>
          <p:spPr>
            <a:xfrm>
              <a:off x="5601105" y="4040105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32" name="Immagine 31" descr="Immagine che contiene Carattere, Elementi grafici, simbolo, logo&#10;&#10;Descrizione generata automaticamente">
              <a:extLst>
                <a:ext uri="{FF2B5EF4-FFF2-40B4-BE49-F238E27FC236}">
                  <a16:creationId xmlns:a16="http://schemas.microsoft.com/office/drawing/2014/main" id="{D71C9C73-F96C-F346-DA22-AB93A97BE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3396" y="4261505"/>
              <a:ext cx="640111" cy="640111"/>
            </a:xfrm>
            <a:prstGeom prst="rect">
              <a:avLst/>
            </a:prstGeom>
          </p:spPr>
        </p:pic>
      </p:grp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03A2BB81-CCA7-1C02-FE61-96BCE9758773}"/>
              </a:ext>
            </a:extLst>
          </p:cNvPr>
          <p:cNvSpPr txBox="1"/>
          <p:nvPr/>
        </p:nvSpPr>
        <p:spPr>
          <a:xfrm>
            <a:off x="4997588" y="2954043"/>
            <a:ext cx="21303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Neo Sans Std" panose="020B0504030504040204" pitchFamily="34" charset="0"/>
              </a:rPr>
              <a:t>Personal Data &amp; GDPR</a:t>
            </a:r>
          </a:p>
        </p:txBody>
      </p:sp>
    </p:spTree>
    <p:extLst>
      <p:ext uri="{BB962C8B-B14F-4D97-AF65-F5344CB8AC3E}">
        <p14:creationId xmlns:p14="http://schemas.microsoft.com/office/powerpoint/2010/main" val="2172644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79FF092-374B-2A67-1F0E-7BAE44452549}"/>
              </a:ext>
            </a:extLst>
          </p:cNvPr>
          <p:cNvSpPr/>
          <p:nvPr/>
        </p:nvSpPr>
        <p:spPr>
          <a:xfrm>
            <a:off x="0" y="0"/>
            <a:ext cx="4557254" cy="6855261"/>
          </a:xfrm>
          <a:prstGeom prst="rect">
            <a:avLst/>
          </a:prstGeom>
          <a:solidFill>
            <a:srgbClr val="095D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37A9122-DBC9-E6F7-26BD-E0FF983BBBCF}"/>
              </a:ext>
            </a:extLst>
          </p:cNvPr>
          <p:cNvSpPr txBox="1"/>
          <p:nvPr/>
        </p:nvSpPr>
        <p:spPr>
          <a:xfrm>
            <a:off x="226676" y="3535433"/>
            <a:ext cx="4103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Possible</a:t>
            </a:r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 Solutions</a:t>
            </a:r>
          </a:p>
        </p:txBody>
      </p:sp>
      <p:pic>
        <p:nvPicPr>
          <p:cNvPr id="13" name="Immagine 12" descr="Immagine che contiene testo, Carattere, Elementi grafici, schermata&#10;&#10;Descrizione generata automaticamente">
            <a:extLst>
              <a:ext uri="{FF2B5EF4-FFF2-40B4-BE49-F238E27FC236}">
                <a16:creationId xmlns:a16="http://schemas.microsoft.com/office/drawing/2014/main" id="{DF67F9A2-0947-9659-9E77-56E3E56C8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407" y="2992205"/>
            <a:ext cx="6914328" cy="967791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8E7B002E-766F-8411-892E-27A65AAACB85}"/>
              </a:ext>
            </a:extLst>
          </p:cNvPr>
          <p:cNvGrpSpPr/>
          <p:nvPr/>
        </p:nvGrpSpPr>
        <p:grpSpPr>
          <a:xfrm>
            <a:off x="1783732" y="2448977"/>
            <a:ext cx="989788" cy="1086456"/>
            <a:chOff x="9704038" y="4040105"/>
            <a:chExt cx="989788" cy="108645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005453EE-87A9-9DC6-2A10-287C08BEBC1F}"/>
                </a:ext>
              </a:extLst>
            </p:cNvPr>
            <p:cNvSpPr/>
            <p:nvPr/>
          </p:nvSpPr>
          <p:spPr>
            <a:xfrm>
              <a:off x="9704038" y="4040105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6" name="Immagine 5" descr="Immagine che contiene Elementi grafici, Carattere, simbolo, logo&#10;&#10;Descrizione generata automaticamente">
              <a:extLst>
                <a:ext uri="{FF2B5EF4-FFF2-40B4-BE49-F238E27FC236}">
                  <a16:creationId xmlns:a16="http://schemas.microsoft.com/office/drawing/2014/main" id="{F7CB1A78-71C9-E861-F0CE-774FDFCCC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9891" y="4190551"/>
              <a:ext cx="640111" cy="6401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2509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79FF092-374B-2A67-1F0E-7BAE44452549}"/>
              </a:ext>
            </a:extLst>
          </p:cNvPr>
          <p:cNvSpPr/>
          <p:nvPr/>
        </p:nvSpPr>
        <p:spPr>
          <a:xfrm>
            <a:off x="0" y="0"/>
            <a:ext cx="4557254" cy="6855261"/>
          </a:xfrm>
          <a:prstGeom prst="rect">
            <a:avLst/>
          </a:prstGeom>
          <a:solidFill>
            <a:srgbClr val="095D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3" name="Immagine 12" descr="Immagine che contiene testo, Carattere, Elementi grafici, schermata&#10;&#10;Descrizione generata automaticamente">
            <a:extLst>
              <a:ext uri="{FF2B5EF4-FFF2-40B4-BE49-F238E27FC236}">
                <a16:creationId xmlns:a16="http://schemas.microsoft.com/office/drawing/2014/main" id="{DF67F9A2-0947-9659-9E77-56E3E56C8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407" y="128744"/>
            <a:ext cx="6914328" cy="96779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47C25C9-1F75-3F83-C974-0A240E369637}"/>
              </a:ext>
            </a:extLst>
          </p:cNvPr>
          <p:cNvSpPr txBox="1"/>
          <p:nvPr/>
        </p:nvSpPr>
        <p:spPr>
          <a:xfrm>
            <a:off x="255994" y="3198167"/>
            <a:ext cx="3978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Advices</a:t>
            </a:r>
            <a:r>
              <a:rPr lang="it-IT" sz="3200" b="1" dirty="0">
                <a:solidFill>
                  <a:schemeClr val="bg1"/>
                </a:solidFill>
                <a:latin typeface="Neo Sans Std" panose="020B0504030504040204" pitchFamily="34" charset="0"/>
              </a:rPr>
              <a:t> from GPDP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AF839153-8901-B34D-DD31-C6744DFAC914}"/>
              </a:ext>
            </a:extLst>
          </p:cNvPr>
          <p:cNvCxnSpPr/>
          <p:nvPr/>
        </p:nvCxnSpPr>
        <p:spPr>
          <a:xfrm>
            <a:off x="2236205" y="2625505"/>
            <a:ext cx="0" cy="55820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2439BCA-BD25-DCB9-B965-F91AD4CD64CC}"/>
              </a:ext>
            </a:extLst>
          </p:cNvPr>
          <p:cNvSpPr txBox="1"/>
          <p:nvPr/>
        </p:nvSpPr>
        <p:spPr>
          <a:xfrm>
            <a:off x="5356120" y="1533665"/>
            <a:ext cx="455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Uncommon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activation word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6ECD859-9333-C4BD-3ECF-26830D509139}"/>
              </a:ext>
            </a:extLst>
          </p:cNvPr>
          <p:cNvSpPr txBox="1"/>
          <p:nvPr/>
        </p:nvSpPr>
        <p:spPr>
          <a:xfrm>
            <a:off x="5356120" y="2232929"/>
            <a:ext cx="5089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Disable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microphone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or camera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B89BCDB-2863-A9EA-B663-1FC978DE7562}"/>
              </a:ext>
            </a:extLst>
          </p:cNvPr>
          <p:cNvSpPr txBox="1"/>
          <p:nvPr/>
        </p:nvSpPr>
        <p:spPr>
          <a:xfrm>
            <a:off x="5356120" y="2932193"/>
            <a:ext cx="5892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Periodically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erase recording history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ECD25AB-94A4-BB41-072C-CD50F7917F10}"/>
              </a:ext>
            </a:extLst>
          </p:cNvPr>
          <p:cNvSpPr txBox="1"/>
          <p:nvPr/>
        </p:nvSpPr>
        <p:spPr>
          <a:xfrm>
            <a:off x="5356120" y="3630774"/>
            <a:ext cx="6636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Update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protection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system on the device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67A1F8C-4453-5AC5-FAEE-A65026D57BA7}"/>
              </a:ext>
            </a:extLst>
          </p:cNvPr>
          <p:cNvSpPr txBox="1"/>
          <p:nvPr/>
        </p:nvSpPr>
        <p:spPr>
          <a:xfrm>
            <a:off x="5356119" y="4329355"/>
            <a:ext cx="6636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Set a password for online shopping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59F1220-0936-417B-8E99-A857EA6EC719}"/>
              </a:ext>
            </a:extLst>
          </p:cNvPr>
          <p:cNvSpPr txBox="1"/>
          <p:nvPr/>
        </p:nvSpPr>
        <p:spPr>
          <a:xfrm>
            <a:off x="5356119" y="5027936"/>
            <a:ext cx="6525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Delete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any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previous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account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saved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on the device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F896DCA9-5687-76AB-D900-7BFD0B0CCBCC}"/>
              </a:ext>
            </a:extLst>
          </p:cNvPr>
          <p:cNvSpPr txBox="1"/>
          <p:nvPr/>
        </p:nvSpPr>
        <p:spPr>
          <a:xfrm>
            <a:off x="202363" y="1215200"/>
            <a:ext cx="4103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Possible</a:t>
            </a:r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 Solutions</a:t>
            </a:r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50B61B40-5DEF-3BAB-D132-A353C50D321E}"/>
              </a:ext>
            </a:extLst>
          </p:cNvPr>
          <p:cNvGrpSpPr/>
          <p:nvPr/>
        </p:nvGrpSpPr>
        <p:grpSpPr>
          <a:xfrm>
            <a:off x="1759419" y="128744"/>
            <a:ext cx="989788" cy="1086456"/>
            <a:chOff x="9704038" y="4040105"/>
            <a:chExt cx="989788" cy="1086456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125AFE4A-DCE9-BBFF-13EC-7E2B5806F9D5}"/>
                </a:ext>
              </a:extLst>
            </p:cNvPr>
            <p:cNvSpPr/>
            <p:nvPr/>
          </p:nvSpPr>
          <p:spPr>
            <a:xfrm>
              <a:off x="9704038" y="4040105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26" name="Immagine 25" descr="Immagine che contiene Elementi grafici, Carattere, simbolo, logo&#10;&#10;Descrizione generata automaticamente">
              <a:extLst>
                <a:ext uri="{FF2B5EF4-FFF2-40B4-BE49-F238E27FC236}">
                  <a16:creationId xmlns:a16="http://schemas.microsoft.com/office/drawing/2014/main" id="{9D0DFF21-9DD5-8FCD-0DC0-875E0D67A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9891" y="4190551"/>
              <a:ext cx="640111" cy="640111"/>
            </a:xfrm>
            <a:prstGeom prst="rect">
              <a:avLst/>
            </a:prstGeom>
          </p:spPr>
        </p:pic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0D953C3-834F-14C5-D4B5-8CF604D1BFB4}"/>
              </a:ext>
            </a:extLst>
          </p:cNvPr>
          <p:cNvSpPr txBox="1"/>
          <p:nvPr/>
        </p:nvSpPr>
        <p:spPr>
          <a:xfrm>
            <a:off x="874306" y="7698508"/>
            <a:ext cx="2723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chemeClr val="bg1"/>
                </a:solidFill>
                <a:latin typeface="Neo Sans Std" panose="020B0504030504040204" pitchFamily="34" charset="0"/>
              </a:rPr>
              <a:t>Project Alias</a:t>
            </a:r>
          </a:p>
        </p:txBody>
      </p:sp>
      <p:sp>
        <p:nvSpPr>
          <p:cNvPr id="4" name="Più 3">
            <a:extLst>
              <a:ext uri="{FF2B5EF4-FFF2-40B4-BE49-F238E27FC236}">
                <a16:creationId xmlns:a16="http://schemas.microsoft.com/office/drawing/2014/main" id="{BE6AC873-7219-5C9B-A2A0-046EE10E34B4}"/>
              </a:ext>
            </a:extLst>
          </p:cNvPr>
          <p:cNvSpPr/>
          <p:nvPr/>
        </p:nvSpPr>
        <p:spPr>
          <a:xfrm>
            <a:off x="2059662" y="7210738"/>
            <a:ext cx="389299" cy="435185"/>
          </a:xfrm>
          <a:prstGeom prst="mathPlu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3A0BB56-F4D3-54BD-E564-1DC83C0ADA2E}"/>
              </a:ext>
            </a:extLst>
          </p:cNvPr>
          <p:cNvSpPr txBox="1"/>
          <p:nvPr/>
        </p:nvSpPr>
        <p:spPr>
          <a:xfrm>
            <a:off x="5383014" y="11094564"/>
            <a:ext cx="4272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On top of smart speaker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1B22586-FF84-1EA4-B0E0-BB5B718CFF4D}"/>
              </a:ext>
            </a:extLst>
          </p:cNvPr>
          <p:cNvSpPr txBox="1"/>
          <p:nvPr/>
        </p:nvSpPr>
        <p:spPr>
          <a:xfrm>
            <a:off x="5383014" y="11791991"/>
            <a:ext cx="6271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Play a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constant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white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noise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,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preventing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the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VVa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from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listening</a:t>
            </a:r>
            <a:endParaRPr lang="it-IT" sz="2400" b="1" dirty="0">
              <a:solidFill>
                <a:srgbClr val="0B5C7E"/>
              </a:solidFill>
              <a:latin typeface="Neo Sans Std" panose="020B0504030504040204" pitchFamily="34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C292476B-0192-C765-F2F4-3DE469183D50}"/>
              </a:ext>
            </a:extLst>
          </p:cNvPr>
          <p:cNvSpPr txBox="1"/>
          <p:nvPr/>
        </p:nvSpPr>
        <p:spPr>
          <a:xfrm>
            <a:off x="5383014" y="12853208"/>
            <a:ext cx="6835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Stop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when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detects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the trigger word, thanks to an offline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recognition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algorithm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</a:t>
            </a:r>
          </a:p>
        </p:txBody>
      </p:sp>
      <p:pic>
        <p:nvPicPr>
          <p:cNvPr id="21" name="Immagine 20" descr="Immagine che contiene schizzo, testo, disegno, Line art&#10;&#10;Descrizione generata automaticamente">
            <a:extLst>
              <a:ext uri="{FF2B5EF4-FFF2-40B4-BE49-F238E27FC236}">
                <a16:creationId xmlns:a16="http://schemas.microsoft.com/office/drawing/2014/main" id="{80EFC4F8-BE66-0216-23CD-C1393D51F97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" t="6068" r="3250" b="8219"/>
          <a:stretch/>
        </p:blipFill>
        <p:spPr>
          <a:xfrm>
            <a:off x="5429660" y="7299243"/>
            <a:ext cx="5381776" cy="3474696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2137463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79FF092-374B-2A67-1F0E-7BAE44452549}"/>
              </a:ext>
            </a:extLst>
          </p:cNvPr>
          <p:cNvSpPr/>
          <p:nvPr/>
        </p:nvSpPr>
        <p:spPr>
          <a:xfrm>
            <a:off x="0" y="0"/>
            <a:ext cx="4557254" cy="6855261"/>
          </a:xfrm>
          <a:prstGeom prst="rect">
            <a:avLst/>
          </a:prstGeom>
          <a:solidFill>
            <a:srgbClr val="095D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68653D4-1639-96A1-FD26-A95BBBAD1195}"/>
              </a:ext>
            </a:extLst>
          </p:cNvPr>
          <p:cNvSpPr txBox="1"/>
          <p:nvPr/>
        </p:nvSpPr>
        <p:spPr>
          <a:xfrm>
            <a:off x="874306" y="4323297"/>
            <a:ext cx="2723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chemeClr val="bg1"/>
                </a:solidFill>
                <a:latin typeface="Neo Sans Std" panose="020B0504030504040204" pitchFamily="34" charset="0"/>
              </a:rPr>
              <a:t>Project Alias</a:t>
            </a:r>
          </a:p>
        </p:txBody>
      </p:sp>
      <p:sp>
        <p:nvSpPr>
          <p:cNvPr id="16" name="Più 15">
            <a:extLst>
              <a:ext uri="{FF2B5EF4-FFF2-40B4-BE49-F238E27FC236}">
                <a16:creationId xmlns:a16="http://schemas.microsoft.com/office/drawing/2014/main" id="{7AF6DCF9-1477-1D46-509E-8A33F0ACD400}"/>
              </a:ext>
            </a:extLst>
          </p:cNvPr>
          <p:cNvSpPr/>
          <p:nvPr/>
        </p:nvSpPr>
        <p:spPr>
          <a:xfrm>
            <a:off x="2059662" y="3835527"/>
            <a:ext cx="389299" cy="435185"/>
          </a:xfrm>
          <a:prstGeom prst="mathPlu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CA13170-D66C-881F-B10E-F0D85FF78BE0}"/>
              </a:ext>
            </a:extLst>
          </p:cNvPr>
          <p:cNvSpPr txBox="1"/>
          <p:nvPr/>
        </p:nvSpPr>
        <p:spPr>
          <a:xfrm>
            <a:off x="5383014" y="3981059"/>
            <a:ext cx="4272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On top of smart speaker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E04F489-17D9-B7FF-6B41-2289D2B96C78}"/>
              </a:ext>
            </a:extLst>
          </p:cNvPr>
          <p:cNvSpPr txBox="1"/>
          <p:nvPr/>
        </p:nvSpPr>
        <p:spPr>
          <a:xfrm>
            <a:off x="5383014" y="4678486"/>
            <a:ext cx="6271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Play a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constant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white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noise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,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preventing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the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VVa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from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listening</a:t>
            </a:r>
            <a:endParaRPr lang="it-IT" sz="2400" b="1" dirty="0">
              <a:solidFill>
                <a:srgbClr val="0B5C7E"/>
              </a:solidFill>
              <a:latin typeface="Neo Sans Std" panose="020B0504030504040204" pitchFamily="34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5B87790-37C8-4EFE-906C-2165280122F2}"/>
              </a:ext>
            </a:extLst>
          </p:cNvPr>
          <p:cNvSpPr txBox="1"/>
          <p:nvPr/>
        </p:nvSpPr>
        <p:spPr>
          <a:xfrm>
            <a:off x="5383014" y="5739703"/>
            <a:ext cx="6835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Stop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when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detects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the trigger word, thanks to an offline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recognition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algorithm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26C169A-EFBE-4A62-0D1C-2DB10242C3FA}"/>
              </a:ext>
            </a:extLst>
          </p:cNvPr>
          <p:cNvSpPr txBox="1"/>
          <p:nvPr/>
        </p:nvSpPr>
        <p:spPr>
          <a:xfrm>
            <a:off x="5894533" y="7088518"/>
            <a:ext cx="52483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Completely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transparent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solution</a:t>
            </a:r>
            <a:endParaRPr lang="it-IT" sz="2400" b="1" dirty="0">
              <a:solidFill>
                <a:srgbClr val="0B5C7E"/>
              </a:solidFill>
              <a:latin typeface="Neo Sans Std" panose="020B0504030504040204" pitchFamily="34" charset="0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No connection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needed</a:t>
            </a:r>
            <a:endParaRPr lang="it-IT" sz="2400" b="1" dirty="0">
              <a:solidFill>
                <a:srgbClr val="0B5C7E"/>
              </a:solidFill>
              <a:latin typeface="Neo Sans Std" panose="020B0504030504040204" pitchFamily="34" charset="0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Public source code</a:t>
            </a:r>
          </a:p>
        </p:txBody>
      </p:sp>
      <p:pic>
        <p:nvPicPr>
          <p:cNvPr id="21" name="Immagine 20" descr="Immagine che contiene Elementi grafici, Carattere, simbolo, logo&#10;&#10;Descrizione generata automaticamente">
            <a:extLst>
              <a:ext uri="{FF2B5EF4-FFF2-40B4-BE49-F238E27FC236}">
                <a16:creationId xmlns:a16="http://schemas.microsoft.com/office/drawing/2014/main" id="{5173270A-F269-AEC0-F263-DCDFF076C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121" y="8197065"/>
            <a:ext cx="1219200" cy="1219200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E0C6AC71-3C6E-3B9C-3B8F-C4E0C4F47CC8}"/>
              </a:ext>
            </a:extLst>
          </p:cNvPr>
          <p:cNvSpPr txBox="1"/>
          <p:nvPr/>
        </p:nvSpPr>
        <p:spPr>
          <a:xfrm>
            <a:off x="202363" y="1215200"/>
            <a:ext cx="4103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Possible</a:t>
            </a:r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 Solutions</a:t>
            </a:r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F8443C40-E1FA-CE67-40C6-99B8CE596AFB}"/>
              </a:ext>
            </a:extLst>
          </p:cNvPr>
          <p:cNvGrpSpPr/>
          <p:nvPr/>
        </p:nvGrpSpPr>
        <p:grpSpPr>
          <a:xfrm>
            <a:off x="1759419" y="128744"/>
            <a:ext cx="989788" cy="1086456"/>
            <a:chOff x="9704038" y="4040105"/>
            <a:chExt cx="989788" cy="1086456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703084C3-A29C-169A-0785-DA12DFB20B68}"/>
                </a:ext>
              </a:extLst>
            </p:cNvPr>
            <p:cNvSpPr/>
            <p:nvPr/>
          </p:nvSpPr>
          <p:spPr>
            <a:xfrm>
              <a:off x="9704038" y="4040105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26" name="Immagine 25" descr="Immagine che contiene Elementi grafici, Carattere, simbolo, logo&#10;&#10;Descrizione generata automaticamente">
              <a:extLst>
                <a:ext uri="{FF2B5EF4-FFF2-40B4-BE49-F238E27FC236}">
                  <a16:creationId xmlns:a16="http://schemas.microsoft.com/office/drawing/2014/main" id="{C9CC2914-B118-FC95-1DC6-8EA39BF02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9891" y="4190551"/>
              <a:ext cx="640111" cy="640111"/>
            </a:xfrm>
            <a:prstGeom prst="rect">
              <a:avLst/>
            </a:prstGeom>
          </p:spPr>
        </p:pic>
      </p:grp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8B556A7C-82DD-91C5-FF52-64F00661BD31}"/>
              </a:ext>
            </a:extLst>
          </p:cNvPr>
          <p:cNvSpPr txBox="1"/>
          <p:nvPr/>
        </p:nvSpPr>
        <p:spPr>
          <a:xfrm>
            <a:off x="255994" y="3198167"/>
            <a:ext cx="3978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Advices</a:t>
            </a:r>
            <a:r>
              <a:rPr lang="it-IT" sz="3200" b="1" dirty="0">
                <a:solidFill>
                  <a:schemeClr val="bg1"/>
                </a:solidFill>
                <a:latin typeface="Neo Sans Std" panose="020B0504030504040204" pitchFamily="34" charset="0"/>
              </a:rPr>
              <a:t> from GPDP</a:t>
            </a:r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A7EFD911-8151-00A6-60D5-AF15674EB74B}"/>
              </a:ext>
            </a:extLst>
          </p:cNvPr>
          <p:cNvCxnSpPr/>
          <p:nvPr/>
        </p:nvCxnSpPr>
        <p:spPr>
          <a:xfrm>
            <a:off x="2236205" y="2625505"/>
            <a:ext cx="0" cy="55820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magine 7" descr="Immagine che contiene schizzo, testo, disegno, Line art&#10;&#10;Descrizione generata automaticamente">
            <a:extLst>
              <a:ext uri="{FF2B5EF4-FFF2-40B4-BE49-F238E27FC236}">
                <a16:creationId xmlns:a16="http://schemas.microsoft.com/office/drawing/2014/main" id="{DE59021F-49AA-814B-F5ED-B2A62BC50AB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" t="6068" r="3250" b="8219"/>
          <a:stretch/>
        </p:blipFill>
        <p:spPr>
          <a:xfrm>
            <a:off x="5429660" y="185738"/>
            <a:ext cx="5381776" cy="3474696"/>
          </a:xfrm>
          <a:prstGeom prst="rect">
            <a:avLst/>
          </a:prstGeom>
          <a:ln w="28575">
            <a:noFill/>
          </a:ln>
        </p:spPr>
      </p:pic>
      <p:pic>
        <p:nvPicPr>
          <p:cNvPr id="10" name="Immagine 9" descr="Immagine che contiene testo, Carattere, Elementi grafici, schermata&#10;&#10;Descrizione generata automaticamente">
            <a:extLst>
              <a:ext uri="{FF2B5EF4-FFF2-40B4-BE49-F238E27FC236}">
                <a16:creationId xmlns:a16="http://schemas.microsoft.com/office/drawing/2014/main" id="{5A524A02-0D49-E685-3E15-A7EE22AA3B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407" y="-6097250"/>
            <a:ext cx="6914328" cy="96779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9C2F37F-C56F-3463-EF88-E67D12020436}"/>
              </a:ext>
            </a:extLst>
          </p:cNvPr>
          <p:cNvSpPr txBox="1"/>
          <p:nvPr/>
        </p:nvSpPr>
        <p:spPr>
          <a:xfrm>
            <a:off x="5356120" y="-4692329"/>
            <a:ext cx="455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Uncommon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activation word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4D38E44-A82A-A914-8E5F-4F24834A5F2A}"/>
              </a:ext>
            </a:extLst>
          </p:cNvPr>
          <p:cNvSpPr txBox="1"/>
          <p:nvPr/>
        </p:nvSpPr>
        <p:spPr>
          <a:xfrm>
            <a:off x="5356120" y="-3993065"/>
            <a:ext cx="5089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Disable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microphone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or camera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4DC2F86-FE56-5FDD-497F-14317E7844BF}"/>
              </a:ext>
            </a:extLst>
          </p:cNvPr>
          <p:cNvSpPr txBox="1"/>
          <p:nvPr/>
        </p:nvSpPr>
        <p:spPr>
          <a:xfrm>
            <a:off x="5356120" y="-3293801"/>
            <a:ext cx="5892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Periodically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erase recording history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047F10E-74C1-461C-C6B1-5744031F5F9D}"/>
              </a:ext>
            </a:extLst>
          </p:cNvPr>
          <p:cNvSpPr txBox="1"/>
          <p:nvPr/>
        </p:nvSpPr>
        <p:spPr>
          <a:xfrm>
            <a:off x="5356120" y="-2595220"/>
            <a:ext cx="6636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Update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protection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system on the device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017FEC8-F4EB-8700-473B-F12735FA4274}"/>
              </a:ext>
            </a:extLst>
          </p:cNvPr>
          <p:cNvSpPr txBox="1"/>
          <p:nvPr/>
        </p:nvSpPr>
        <p:spPr>
          <a:xfrm>
            <a:off x="5356119" y="-1896639"/>
            <a:ext cx="6636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Set a password for online shopping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6505767F-8EF0-EEF7-AD43-AA21B93B2BCF}"/>
              </a:ext>
            </a:extLst>
          </p:cNvPr>
          <p:cNvSpPr txBox="1"/>
          <p:nvPr/>
        </p:nvSpPr>
        <p:spPr>
          <a:xfrm>
            <a:off x="5356119" y="-1198058"/>
            <a:ext cx="6525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Delete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any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previous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account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saved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on the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davice</a:t>
            </a:r>
            <a:endParaRPr lang="it-IT" sz="2400" b="1" dirty="0">
              <a:solidFill>
                <a:srgbClr val="0B5C7E"/>
              </a:solidFill>
              <a:latin typeface="Neo Sans Std" panose="020B05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919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79FF092-374B-2A67-1F0E-7BAE44452549}"/>
              </a:ext>
            </a:extLst>
          </p:cNvPr>
          <p:cNvSpPr/>
          <p:nvPr/>
        </p:nvSpPr>
        <p:spPr>
          <a:xfrm>
            <a:off x="0" y="0"/>
            <a:ext cx="4557254" cy="6855261"/>
          </a:xfrm>
          <a:prstGeom prst="rect">
            <a:avLst/>
          </a:prstGeom>
          <a:solidFill>
            <a:srgbClr val="095D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68653D4-1639-96A1-FD26-A95BBBAD1195}"/>
              </a:ext>
            </a:extLst>
          </p:cNvPr>
          <p:cNvSpPr txBox="1"/>
          <p:nvPr/>
        </p:nvSpPr>
        <p:spPr>
          <a:xfrm>
            <a:off x="874306" y="4323297"/>
            <a:ext cx="2723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chemeClr val="bg1"/>
                </a:solidFill>
                <a:latin typeface="Neo Sans Std" panose="020B0504030504040204" pitchFamily="34" charset="0"/>
              </a:rPr>
              <a:t>Project Alias</a:t>
            </a:r>
          </a:p>
        </p:txBody>
      </p:sp>
      <p:sp>
        <p:nvSpPr>
          <p:cNvPr id="16" name="Più 15">
            <a:extLst>
              <a:ext uri="{FF2B5EF4-FFF2-40B4-BE49-F238E27FC236}">
                <a16:creationId xmlns:a16="http://schemas.microsoft.com/office/drawing/2014/main" id="{7AF6DCF9-1477-1D46-509E-8A33F0ACD400}"/>
              </a:ext>
            </a:extLst>
          </p:cNvPr>
          <p:cNvSpPr/>
          <p:nvPr/>
        </p:nvSpPr>
        <p:spPr>
          <a:xfrm>
            <a:off x="2059662" y="3835527"/>
            <a:ext cx="389299" cy="435185"/>
          </a:xfrm>
          <a:prstGeom prst="mathPlu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CA13170-D66C-881F-B10E-F0D85FF78BE0}"/>
              </a:ext>
            </a:extLst>
          </p:cNvPr>
          <p:cNvSpPr txBox="1"/>
          <p:nvPr/>
        </p:nvSpPr>
        <p:spPr>
          <a:xfrm>
            <a:off x="13061299" y="3981059"/>
            <a:ext cx="4272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On top of smart speaker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E04F489-17D9-B7FF-6B41-2289D2B96C78}"/>
              </a:ext>
            </a:extLst>
          </p:cNvPr>
          <p:cNvSpPr txBox="1"/>
          <p:nvPr/>
        </p:nvSpPr>
        <p:spPr>
          <a:xfrm>
            <a:off x="13061299" y="4678486"/>
            <a:ext cx="6271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Play a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constant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white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noise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,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preventing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the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VVa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from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listening</a:t>
            </a:r>
            <a:endParaRPr lang="it-IT" sz="2400" b="1" dirty="0">
              <a:solidFill>
                <a:srgbClr val="0B5C7E"/>
              </a:solidFill>
              <a:latin typeface="Neo Sans Std" panose="020B0504030504040204" pitchFamily="34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5B87790-37C8-4EFE-906C-2165280122F2}"/>
              </a:ext>
            </a:extLst>
          </p:cNvPr>
          <p:cNvSpPr txBox="1"/>
          <p:nvPr/>
        </p:nvSpPr>
        <p:spPr>
          <a:xfrm>
            <a:off x="13061299" y="5739703"/>
            <a:ext cx="6835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Stop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when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detects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the trigger word, thanks to an offline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recognition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algorithm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26C169A-EFBE-4A62-0D1C-2DB10242C3FA}"/>
              </a:ext>
            </a:extLst>
          </p:cNvPr>
          <p:cNvSpPr txBox="1"/>
          <p:nvPr/>
        </p:nvSpPr>
        <p:spPr>
          <a:xfrm>
            <a:off x="5894532" y="4053119"/>
            <a:ext cx="52483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Completely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transparent</a:t>
            </a: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solution</a:t>
            </a:r>
            <a:endParaRPr lang="it-IT" sz="2400" b="1" dirty="0">
              <a:solidFill>
                <a:srgbClr val="0B5C7E"/>
              </a:solidFill>
              <a:latin typeface="Neo Sans Std" panose="020B0504030504040204" pitchFamily="34" charset="0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No connection </a:t>
            </a:r>
            <a:r>
              <a:rPr lang="it-IT" sz="2400" b="1" dirty="0" err="1">
                <a:solidFill>
                  <a:srgbClr val="0B5C7E"/>
                </a:solidFill>
                <a:latin typeface="Neo Sans Std" panose="020B0504030504040204" pitchFamily="34" charset="0"/>
              </a:rPr>
              <a:t>needed</a:t>
            </a:r>
            <a:endParaRPr lang="it-IT" sz="2400" b="1" dirty="0">
              <a:solidFill>
                <a:srgbClr val="0B5C7E"/>
              </a:solidFill>
              <a:latin typeface="Neo Sans Std" panose="020B0504030504040204" pitchFamily="34" charset="0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it-IT" sz="2400" b="1" dirty="0">
                <a:solidFill>
                  <a:srgbClr val="0B5C7E"/>
                </a:solidFill>
                <a:latin typeface="Neo Sans Std" panose="020B0504030504040204" pitchFamily="34" charset="0"/>
              </a:rPr>
              <a:t>Public source code</a:t>
            </a:r>
          </a:p>
        </p:txBody>
      </p:sp>
      <p:pic>
        <p:nvPicPr>
          <p:cNvPr id="21" name="Immagine 20" descr="Immagine che contiene Elementi grafici, Carattere, simbolo, logo&#10;&#10;Descrizione generata automaticamente">
            <a:extLst>
              <a:ext uri="{FF2B5EF4-FFF2-40B4-BE49-F238E27FC236}">
                <a16:creationId xmlns:a16="http://schemas.microsoft.com/office/drawing/2014/main" id="{5173270A-F269-AEC0-F263-DCDFF076C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120" y="5251257"/>
            <a:ext cx="1219200" cy="1219200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E0C6AC71-3C6E-3B9C-3B8F-C4E0C4F47CC8}"/>
              </a:ext>
            </a:extLst>
          </p:cNvPr>
          <p:cNvSpPr txBox="1"/>
          <p:nvPr/>
        </p:nvSpPr>
        <p:spPr>
          <a:xfrm>
            <a:off x="202363" y="1215200"/>
            <a:ext cx="4103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Possible</a:t>
            </a:r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 Solutions</a:t>
            </a:r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F8443C40-E1FA-CE67-40C6-99B8CE596AFB}"/>
              </a:ext>
            </a:extLst>
          </p:cNvPr>
          <p:cNvGrpSpPr/>
          <p:nvPr/>
        </p:nvGrpSpPr>
        <p:grpSpPr>
          <a:xfrm>
            <a:off x="1759419" y="128744"/>
            <a:ext cx="989788" cy="1086456"/>
            <a:chOff x="9704038" y="4040105"/>
            <a:chExt cx="989788" cy="1086456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703084C3-A29C-169A-0785-DA12DFB20B68}"/>
                </a:ext>
              </a:extLst>
            </p:cNvPr>
            <p:cNvSpPr/>
            <p:nvPr/>
          </p:nvSpPr>
          <p:spPr>
            <a:xfrm>
              <a:off x="9704038" y="4040105"/>
              <a:ext cx="989788" cy="1086456"/>
            </a:xfrm>
            <a:custGeom>
              <a:avLst/>
              <a:gdLst>
                <a:gd name="connsiteX0" fmla="*/ 1612423 w 1612281"/>
                <a:gd name="connsiteY0" fmla="*/ 1198981 h 1769747"/>
                <a:gd name="connsiteX1" fmla="*/ 1483129 w 1612281"/>
                <a:gd name="connsiteY1" fmla="*/ 1423165 h 1769747"/>
                <a:gd name="connsiteX2" fmla="*/ 936966 w 1612281"/>
                <a:gd name="connsiteY2" fmla="*/ 1738895 h 1769747"/>
                <a:gd name="connsiteX3" fmla="*/ 677807 w 1612281"/>
                <a:gd name="connsiteY3" fmla="*/ 1739218 h 1769747"/>
                <a:gd name="connsiteX4" fmla="*/ 130825 w 1612281"/>
                <a:gd name="connsiteY4" fmla="*/ 1424906 h 1769747"/>
                <a:gd name="connsiteX5" fmla="*/ 951 w 1612281"/>
                <a:gd name="connsiteY5" fmla="*/ 1201017 h 1769747"/>
                <a:gd name="connsiteX6" fmla="*/ 142 w 1612281"/>
                <a:gd name="connsiteY6" fmla="*/ 571003 h 1769747"/>
                <a:gd name="connsiteX7" fmla="*/ 129426 w 1612281"/>
                <a:gd name="connsiteY7" fmla="*/ 346791 h 1769747"/>
                <a:gd name="connsiteX8" fmla="*/ 675637 w 1612281"/>
                <a:gd name="connsiteY8" fmla="*/ 31089 h 1769747"/>
                <a:gd name="connsiteX9" fmla="*/ 934795 w 1612281"/>
                <a:gd name="connsiteY9" fmla="*/ 30756 h 1769747"/>
                <a:gd name="connsiteX10" fmla="*/ 1481777 w 1612281"/>
                <a:gd name="connsiteY10" fmla="*/ 345078 h 1769747"/>
                <a:gd name="connsiteX11" fmla="*/ 1611642 w 1612281"/>
                <a:gd name="connsiteY11" fmla="*/ 568920 h 176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2281" h="1769747">
                  <a:moveTo>
                    <a:pt x="1612423" y="1198981"/>
                  </a:moveTo>
                  <a:cubicBezTo>
                    <a:pt x="1612527" y="1281127"/>
                    <a:pt x="1554350" y="1382025"/>
                    <a:pt x="1483129" y="1423165"/>
                  </a:cubicBezTo>
                  <a:lnTo>
                    <a:pt x="936966" y="1738895"/>
                  </a:lnTo>
                  <a:cubicBezTo>
                    <a:pt x="865736" y="1780063"/>
                    <a:pt x="749132" y="1780187"/>
                    <a:pt x="677807" y="1739218"/>
                  </a:cubicBezTo>
                  <a:lnTo>
                    <a:pt x="130825" y="1424906"/>
                  </a:lnTo>
                  <a:cubicBezTo>
                    <a:pt x="59500" y="1383909"/>
                    <a:pt x="1056" y="1283144"/>
                    <a:pt x="951" y="1201017"/>
                  </a:cubicBezTo>
                  <a:lnTo>
                    <a:pt x="142" y="571003"/>
                  </a:lnTo>
                  <a:cubicBezTo>
                    <a:pt x="46" y="488838"/>
                    <a:pt x="58215" y="387968"/>
                    <a:pt x="129426" y="346791"/>
                  </a:cubicBezTo>
                  <a:lnTo>
                    <a:pt x="675637" y="31089"/>
                  </a:lnTo>
                  <a:cubicBezTo>
                    <a:pt x="746857" y="-10088"/>
                    <a:pt x="863470" y="-10231"/>
                    <a:pt x="934795" y="30756"/>
                  </a:cubicBezTo>
                  <a:lnTo>
                    <a:pt x="1481777" y="345078"/>
                  </a:lnTo>
                  <a:cubicBezTo>
                    <a:pt x="1553102" y="386046"/>
                    <a:pt x="1611547" y="486793"/>
                    <a:pt x="1611642" y="568920"/>
                  </a:cubicBezTo>
                  <a:close/>
                </a:path>
              </a:pathLst>
            </a:custGeom>
            <a:solidFill>
              <a:srgbClr val="222E3E"/>
            </a:solidFill>
            <a:ln w="9511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26" name="Immagine 25" descr="Immagine che contiene Elementi grafici, Carattere, simbolo, logo&#10;&#10;Descrizione generata automaticamente">
              <a:extLst>
                <a:ext uri="{FF2B5EF4-FFF2-40B4-BE49-F238E27FC236}">
                  <a16:creationId xmlns:a16="http://schemas.microsoft.com/office/drawing/2014/main" id="{C9CC2914-B118-FC95-1DC6-8EA39BF02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9891" y="4190551"/>
              <a:ext cx="640111" cy="640111"/>
            </a:xfrm>
            <a:prstGeom prst="rect">
              <a:avLst/>
            </a:prstGeom>
          </p:spPr>
        </p:pic>
      </p:grp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8B556A7C-82DD-91C5-FF52-64F00661BD31}"/>
              </a:ext>
            </a:extLst>
          </p:cNvPr>
          <p:cNvSpPr txBox="1"/>
          <p:nvPr/>
        </p:nvSpPr>
        <p:spPr>
          <a:xfrm>
            <a:off x="255994" y="3198167"/>
            <a:ext cx="3978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Advices</a:t>
            </a:r>
            <a:r>
              <a:rPr lang="it-IT" sz="3200" b="1" dirty="0">
                <a:solidFill>
                  <a:schemeClr val="bg1"/>
                </a:solidFill>
                <a:latin typeface="Neo Sans Std" panose="020B0504030504040204" pitchFamily="34" charset="0"/>
              </a:rPr>
              <a:t> from GPDP</a:t>
            </a:r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A7EFD911-8151-00A6-60D5-AF15674EB74B}"/>
              </a:ext>
            </a:extLst>
          </p:cNvPr>
          <p:cNvCxnSpPr/>
          <p:nvPr/>
        </p:nvCxnSpPr>
        <p:spPr>
          <a:xfrm>
            <a:off x="2236205" y="2625505"/>
            <a:ext cx="0" cy="55820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magine 7" descr="Immagine che contiene schizzo, testo, disegno, Line art&#10;&#10;Descrizione generata automaticamente">
            <a:extLst>
              <a:ext uri="{FF2B5EF4-FFF2-40B4-BE49-F238E27FC236}">
                <a16:creationId xmlns:a16="http://schemas.microsoft.com/office/drawing/2014/main" id="{DE59021F-49AA-814B-F5ED-B2A62BC50AB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" t="6068" r="3250" b="8219"/>
          <a:stretch/>
        </p:blipFill>
        <p:spPr>
          <a:xfrm>
            <a:off x="5429660" y="185738"/>
            <a:ext cx="5381776" cy="3474696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2985413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F9733213-9835-4617-6527-94B92A8D85A4}"/>
              </a:ext>
            </a:extLst>
          </p:cNvPr>
          <p:cNvSpPr/>
          <p:nvPr/>
        </p:nvSpPr>
        <p:spPr>
          <a:xfrm>
            <a:off x="0" y="0"/>
            <a:ext cx="12192000" cy="6855261"/>
          </a:xfrm>
          <a:prstGeom prst="rect">
            <a:avLst/>
          </a:prstGeom>
          <a:solidFill>
            <a:srgbClr val="095D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2F12A39-1BE7-89FE-9E47-50E7FFA836FC}"/>
              </a:ext>
            </a:extLst>
          </p:cNvPr>
          <p:cNvSpPr txBox="1"/>
          <p:nvPr/>
        </p:nvSpPr>
        <p:spPr>
          <a:xfrm>
            <a:off x="4044050" y="2765910"/>
            <a:ext cx="41038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Thanks for </a:t>
            </a:r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your</a:t>
            </a:r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attention</a:t>
            </a:r>
            <a:endParaRPr lang="it-IT" sz="4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pic>
        <p:nvPicPr>
          <p:cNvPr id="6" name="Immagine 5" descr="Immagine che contiene luna&#10;&#10;Descrizione generata automaticamente">
            <a:extLst>
              <a:ext uri="{FF2B5EF4-FFF2-40B4-BE49-F238E27FC236}">
                <a16:creationId xmlns:a16="http://schemas.microsoft.com/office/drawing/2014/main" id="{CDFF94F7-5F68-D291-6F3F-0E6B89188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886" y="3980329"/>
            <a:ext cx="3252228" cy="1826251"/>
          </a:xfrm>
          <a:prstGeom prst="rect">
            <a:avLst/>
          </a:prstGeom>
        </p:spPr>
      </p:pic>
      <p:grpSp>
        <p:nvGrpSpPr>
          <p:cNvPr id="3" name="Gruppo 2">
            <a:extLst>
              <a:ext uri="{FF2B5EF4-FFF2-40B4-BE49-F238E27FC236}">
                <a16:creationId xmlns:a16="http://schemas.microsoft.com/office/drawing/2014/main" id="{41D5957E-593B-FF4C-9F65-A1AC359EFECE}"/>
              </a:ext>
            </a:extLst>
          </p:cNvPr>
          <p:cNvGrpSpPr/>
          <p:nvPr/>
        </p:nvGrpSpPr>
        <p:grpSpPr>
          <a:xfrm>
            <a:off x="0" y="6748652"/>
            <a:ext cx="12192000" cy="7380423"/>
            <a:chOff x="0" y="0"/>
            <a:chExt cx="12192000" cy="7380423"/>
          </a:xfrm>
        </p:grpSpPr>
        <p:sp>
          <p:nvSpPr>
            <p:cNvPr id="7" name="Rettangolo 6">
              <a:extLst>
                <a:ext uri="{FF2B5EF4-FFF2-40B4-BE49-F238E27FC236}">
                  <a16:creationId xmlns:a16="http://schemas.microsoft.com/office/drawing/2014/main" id="{0CD89F5C-2C00-46E0-44A5-A4FDA0A8B913}"/>
                </a:ext>
              </a:extLst>
            </p:cNvPr>
            <p:cNvSpPr/>
            <p:nvPr/>
          </p:nvSpPr>
          <p:spPr>
            <a:xfrm>
              <a:off x="0" y="0"/>
              <a:ext cx="12192000" cy="6855261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ED523F66-D7D5-E03C-B7C9-6493B70B7CF0}"/>
                </a:ext>
              </a:extLst>
            </p:cNvPr>
            <p:cNvSpPr txBox="1"/>
            <p:nvPr/>
          </p:nvSpPr>
          <p:spPr>
            <a:xfrm>
              <a:off x="3817373" y="176510"/>
              <a:ext cx="45572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4000" b="1" dirty="0" err="1">
                  <a:solidFill>
                    <a:schemeClr val="bg1"/>
                  </a:solidFill>
                  <a:latin typeface="Neo Sans Std" panose="020B0504030504040204" pitchFamily="34" charset="0"/>
                </a:rPr>
                <a:t>References</a:t>
              </a:r>
              <a:endParaRPr lang="it-IT" sz="4000" b="1" dirty="0">
                <a:solidFill>
                  <a:schemeClr val="bg1"/>
                </a:solidFill>
                <a:latin typeface="Neo Sans Std" panose="020B0504030504040204" pitchFamily="34" charset="0"/>
              </a:endParaRP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FC0A8CD9-7E51-8ADD-413C-907EA1FC765D}"/>
                </a:ext>
              </a:extLst>
            </p:cNvPr>
            <p:cNvSpPr txBox="1"/>
            <p:nvPr/>
          </p:nvSpPr>
          <p:spPr>
            <a:xfrm>
              <a:off x="286578" y="1055615"/>
              <a:ext cx="11618844" cy="63248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313E50"/>
                  </a:solidFill>
                  <a:latin typeface="Neo Sans Std" panose="020B050403050404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"How Amazon Strong-Arms Partners Using Its Power Across Multiple Businesses"</a:t>
              </a:r>
              <a:endParaRPr lang="it-IT" b="1" dirty="0">
                <a:solidFill>
                  <a:srgbClr val="313E50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313E50"/>
                  </a:solidFill>
                  <a:latin typeface="Neo Sans Std" panose="020B050403050404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"Amazon Gets Record $888 Million EU Fine Over Data Violations"</a:t>
              </a:r>
              <a:endParaRPr lang="it-IT" b="1" dirty="0">
                <a:solidFill>
                  <a:srgbClr val="313E50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313E50"/>
                  </a:solidFill>
                  <a:latin typeface="Neo Sans Std" panose="020B0504030504040204" pitchFamily="3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"Amazon Will Pay More Than $30 Million In Lawsuits Over Ring And Alexa Privacy Violations"</a:t>
              </a:r>
              <a:endParaRPr lang="it-IT" b="1" dirty="0">
                <a:solidFill>
                  <a:srgbClr val="313E50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313E50"/>
                  </a:solidFill>
                  <a:latin typeface="Neo Sans Std" panose="020B0504030504040204" pitchFamily="3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"Amazon Staff Are Listening To Alexa Conversations"</a:t>
              </a:r>
              <a:endParaRPr lang="it-IT" b="1" dirty="0">
                <a:solidFill>
                  <a:srgbClr val="313E50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313E50"/>
                  </a:solidFill>
                  <a:latin typeface="Neo Sans Std" panose="020B050403050404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"Amazon Staff Are Listening To Alexa Conversations"</a:t>
              </a:r>
              <a:endParaRPr lang="it-IT" b="1" dirty="0">
                <a:solidFill>
                  <a:srgbClr val="313E50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313E50"/>
                  </a:solidFill>
                  <a:latin typeface="Neo Sans Std" panose="020B0504030504040204" pitchFamily="34" charset="0"/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EDPB guidelines</a:t>
              </a:r>
              <a:endParaRPr lang="it-IT" b="1" dirty="0">
                <a:solidFill>
                  <a:srgbClr val="313E50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313E50"/>
                  </a:solidFill>
                  <a:latin typeface="Neo Sans Std" panose="020B0504030504040204" pitchFamily="34" charset="0"/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Notheastern study: "When speakers are all ears"WHEN SPEAKERS ARE ALL EARS</a:t>
              </a:r>
              <a:endParaRPr lang="it-IT" b="1" dirty="0">
                <a:solidFill>
                  <a:srgbClr val="313E50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313E50"/>
                  </a:solidFill>
                  <a:latin typeface="Neo Sans Std" panose="020B0504030504040204" pitchFamily="34" charset="0"/>
                  <a:hlinkClick r:id="rId1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"Assistenti digitali (smart assistant) I consigli del Garante per un uso a prova di privacy"</a:t>
              </a:r>
              <a:endParaRPr lang="it-IT" b="1" dirty="0">
                <a:solidFill>
                  <a:srgbClr val="313E50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313E50"/>
                  </a:solidFill>
                  <a:latin typeface="Neo Sans Std" panose="020B0504030504040204" pitchFamily="34" charset="0"/>
                  <a:hlinkClick r:id="rId11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Project Alias</a:t>
              </a:r>
              <a:endParaRPr lang="it-IT" b="1" dirty="0">
                <a:solidFill>
                  <a:srgbClr val="313E50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313E50"/>
                  </a:solidFill>
                  <a:latin typeface="Neo Sans Std" panose="020B050403050404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PIA software</a:t>
              </a:r>
              <a:endParaRPr lang="it-IT" b="1" dirty="0">
                <a:solidFill>
                  <a:srgbClr val="313E50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313E50"/>
                  </a:solidFill>
                  <a:latin typeface="Neo Sans Std" panose="020B0504030504040204" pitchFamily="34" charset="0"/>
                  <a:hlinkClick r:id="rId1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GDPR</a:t>
              </a:r>
              <a:endParaRPr lang="it-IT" b="1" dirty="0">
                <a:solidFill>
                  <a:srgbClr val="313E50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313E50"/>
                  </a:solidFill>
                  <a:latin typeface="Neo Sans Std" panose="020B0504030504040204" pitchFamily="34" charset="0"/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Alexa, Echo Devices, and Your Privacy</a:t>
              </a:r>
              <a:endParaRPr lang="it-IT" b="1" dirty="0">
                <a:solidFill>
                  <a:srgbClr val="313E50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u="sng" dirty="0">
                  <a:solidFill>
                    <a:srgbClr val="313E50"/>
                  </a:solidFill>
                  <a:latin typeface="Neo Sans Std" panose="020B0504030504040204" pitchFamily="34" charset="0"/>
                </a:rPr>
                <a:t>Paper: </a:t>
              </a:r>
              <a:r>
                <a:rPr lang="it-IT" sz="1800" b="1" u="sng" dirty="0">
                  <a:solidFill>
                    <a:srgbClr val="313E50"/>
                  </a:solidFill>
                  <a:effectLst/>
                  <a:latin typeface="Neo Sans Std" panose="020B0504030504040204" pitchFamily="34" charset="0"/>
                </a:rPr>
                <a:t>Smart </a:t>
              </a:r>
              <a:r>
                <a:rPr lang="it-IT" sz="1800" b="1" u="sng" dirty="0" err="1">
                  <a:solidFill>
                    <a:srgbClr val="313E50"/>
                  </a:solidFill>
                  <a:effectLst/>
                  <a:latin typeface="Neo Sans Std" panose="020B0504030504040204" pitchFamily="34" charset="0"/>
                </a:rPr>
                <a:t>assistant</a:t>
              </a:r>
              <a:r>
                <a:rPr lang="it-IT" sz="1800" b="1" u="sng" dirty="0">
                  <a:solidFill>
                    <a:srgbClr val="313E50"/>
                  </a:solidFill>
                  <a:effectLst/>
                  <a:latin typeface="Neo Sans Std" panose="020B0504030504040204" pitchFamily="34" charset="0"/>
                </a:rPr>
                <a:t> e dati personali: quali rischi per gli utenti?</a:t>
              </a:r>
              <a:endParaRPr lang="it-IT" b="1" u="sng" dirty="0">
                <a:solidFill>
                  <a:srgbClr val="313E50"/>
                </a:solidFill>
                <a:latin typeface="Neo Sans Std" panose="020B0504030504040204" pitchFamily="34" charset="0"/>
              </a:endParaRPr>
            </a:p>
            <a:p>
              <a:endParaRPr lang="it-IT" b="1" dirty="0">
                <a:solidFill>
                  <a:srgbClr val="313E50"/>
                </a:solidFill>
                <a:latin typeface="Neo Sans Std" panose="020B0504030504040204" pitchFamily="34" charset="0"/>
              </a:endParaRPr>
            </a:p>
            <a:p>
              <a:endParaRPr lang="it-IT" b="1" dirty="0">
                <a:solidFill>
                  <a:srgbClr val="313E50"/>
                </a:solidFill>
                <a:latin typeface="Neo Sans Std" panose="020B0504030504040204" pitchFamily="34" charset="0"/>
              </a:endParaRPr>
            </a:p>
            <a:p>
              <a:endParaRPr lang="it-IT" b="1" dirty="0">
                <a:solidFill>
                  <a:srgbClr val="313E50"/>
                </a:solidFill>
                <a:latin typeface="Neo Sans Std" panose="020B05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7078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E6DB8B9-DD1B-B852-F166-8A0DF1415770}"/>
              </a:ext>
            </a:extLst>
          </p:cNvPr>
          <p:cNvSpPr/>
          <p:nvPr/>
        </p:nvSpPr>
        <p:spPr>
          <a:xfrm>
            <a:off x="0" y="0"/>
            <a:ext cx="12192000" cy="6855261"/>
          </a:xfrm>
          <a:prstGeom prst="rect">
            <a:avLst/>
          </a:prstGeom>
          <a:solidFill>
            <a:srgbClr val="095D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381C905-508E-890B-380A-1D7CCA1216F9}"/>
              </a:ext>
            </a:extLst>
          </p:cNvPr>
          <p:cNvSpPr txBox="1"/>
          <p:nvPr/>
        </p:nvSpPr>
        <p:spPr>
          <a:xfrm>
            <a:off x="4044050" y="2765910"/>
            <a:ext cx="41038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Thanks for </a:t>
            </a:r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your</a:t>
            </a:r>
            <a:r>
              <a:rPr lang="it-IT" sz="4000" b="1" dirty="0">
                <a:solidFill>
                  <a:schemeClr val="bg1"/>
                </a:solidFill>
                <a:latin typeface="Neo Sans Std" panose="020B0504030504040204" pitchFamily="34" charset="0"/>
              </a:rPr>
              <a:t> </a:t>
            </a:r>
            <a:r>
              <a:rPr lang="it-IT" sz="4000" b="1" dirty="0" err="1">
                <a:solidFill>
                  <a:schemeClr val="bg1"/>
                </a:solidFill>
                <a:latin typeface="Neo Sans Std" panose="020B0504030504040204" pitchFamily="34" charset="0"/>
              </a:rPr>
              <a:t>attention</a:t>
            </a:r>
            <a:endParaRPr lang="it-IT" sz="4000" b="1" dirty="0">
              <a:solidFill>
                <a:schemeClr val="bg1"/>
              </a:solidFill>
              <a:latin typeface="Neo Sans Std" panose="020B0504030504040204" pitchFamily="34" charset="0"/>
            </a:endParaRPr>
          </a:p>
        </p:txBody>
      </p:sp>
      <p:pic>
        <p:nvPicPr>
          <p:cNvPr id="7" name="Immagine 6" descr="Immagine che contiene luna&#10;&#10;Descrizione generata automaticamente">
            <a:extLst>
              <a:ext uri="{FF2B5EF4-FFF2-40B4-BE49-F238E27FC236}">
                <a16:creationId xmlns:a16="http://schemas.microsoft.com/office/drawing/2014/main" id="{70E64DBB-3E39-1BD6-9922-2928DCA5E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886" y="3980329"/>
            <a:ext cx="3252228" cy="1826251"/>
          </a:xfrm>
          <a:prstGeom prst="rect">
            <a:avLst/>
          </a:prstGeom>
        </p:spPr>
      </p:pic>
      <p:grpSp>
        <p:nvGrpSpPr>
          <p:cNvPr id="3" name="Gruppo 2">
            <a:extLst>
              <a:ext uri="{FF2B5EF4-FFF2-40B4-BE49-F238E27FC236}">
                <a16:creationId xmlns:a16="http://schemas.microsoft.com/office/drawing/2014/main" id="{01B352E1-7F03-77CE-105A-B16A2599376D}"/>
              </a:ext>
            </a:extLst>
          </p:cNvPr>
          <p:cNvGrpSpPr/>
          <p:nvPr/>
        </p:nvGrpSpPr>
        <p:grpSpPr>
          <a:xfrm>
            <a:off x="0" y="0"/>
            <a:ext cx="12192000" cy="7380423"/>
            <a:chOff x="0" y="0"/>
            <a:chExt cx="12192000" cy="7380423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779FF092-374B-2A67-1F0E-7BAE44452549}"/>
                </a:ext>
              </a:extLst>
            </p:cNvPr>
            <p:cNvSpPr/>
            <p:nvPr/>
          </p:nvSpPr>
          <p:spPr>
            <a:xfrm>
              <a:off x="0" y="0"/>
              <a:ext cx="12192000" cy="6855261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437A9122-DBC9-E6F7-26BD-E0FF983BBBCF}"/>
                </a:ext>
              </a:extLst>
            </p:cNvPr>
            <p:cNvSpPr txBox="1"/>
            <p:nvPr/>
          </p:nvSpPr>
          <p:spPr>
            <a:xfrm>
              <a:off x="3817373" y="176510"/>
              <a:ext cx="45572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4000" b="1" dirty="0" err="1">
                  <a:solidFill>
                    <a:schemeClr val="bg1"/>
                  </a:solidFill>
                  <a:latin typeface="Neo Sans Std" panose="020B0504030504040204" pitchFamily="34" charset="0"/>
                </a:rPr>
                <a:t>References</a:t>
              </a:r>
              <a:endParaRPr lang="it-IT" sz="4000" b="1" dirty="0">
                <a:solidFill>
                  <a:schemeClr val="bg1"/>
                </a:solidFill>
                <a:latin typeface="Neo Sans Std" panose="020B0504030504040204" pitchFamily="34" charset="0"/>
              </a:endParaRPr>
            </a:p>
          </p:txBody>
        </p:sp>
        <p:sp>
          <p:nvSpPr>
            <p:cNvPr id="2" name="CasellaDiTesto 1">
              <a:extLst>
                <a:ext uri="{FF2B5EF4-FFF2-40B4-BE49-F238E27FC236}">
                  <a16:creationId xmlns:a16="http://schemas.microsoft.com/office/drawing/2014/main" id="{18A25A87-66FC-0EE3-AF86-9CDFE91E0E4A}"/>
                </a:ext>
              </a:extLst>
            </p:cNvPr>
            <p:cNvSpPr txBox="1"/>
            <p:nvPr/>
          </p:nvSpPr>
          <p:spPr>
            <a:xfrm>
              <a:off x="286578" y="1055615"/>
              <a:ext cx="11618844" cy="63248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0B5C7E"/>
                  </a:solidFill>
                  <a:latin typeface="Neo Sans Std" panose="020B050403050404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"How Amazon Strong-Arms Partners Using Its Power Across Multiple Businesses"</a:t>
              </a:r>
              <a:endParaRPr lang="it-IT" b="1" dirty="0">
                <a:solidFill>
                  <a:srgbClr val="0B5C7E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0B5C7E"/>
                  </a:solidFill>
                  <a:latin typeface="Neo Sans Std" panose="020B050403050404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"Amazon Gets Record $888 Million EU Fine Over Data Violations"</a:t>
              </a:r>
              <a:endParaRPr lang="it-IT" b="1" dirty="0">
                <a:solidFill>
                  <a:srgbClr val="0B5C7E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0B5C7E"/>
                  </a:solidFill>
                  <a:latin typeface="Neo Sans Std" panose="020B0504030504040204" pitchFamily="3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"Amazon Will Pay More Than $30 Million In Lawsuits Over Ring And Alexa Privacy Violations"</a:t>
              </a:r>
              <a:endParaRPr lang="it-IT" b="1" dirty="0">
                <a:solidFill>
                  <a:srgbClr val="0B5C7E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0B5C7E"/>
                  </a:solidFill>
                  <a:latin typeface="Neo Sans Std" panose="020B0504030504040204" pitchFamily="3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"Amazon Staff Are Listening To Alexa Conversations"</a:t>
              </a:r>
              <a:endParaRPr lang="it-IT" b="1" dirty="0">
                <a:solidFill>
                  <a:srgbClr val="0B5C7E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0B5C7E"/>
                  </a:solidFill>
                  <a:latin typeface="Neo Sans Std" panose="020B050403050404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"Amazon Staff Are Listening To Alexa Conversations"</a:t>
              </a:r>
              <a:endParaRPr lang="it-IT" b="1" dirty="0">
                <a:solidFill>
                  <a:srgbClr val="0B5C7E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0B5C7E"/>
                  </a:solidFill>
                  <a:latin typeface="Neo Sans Std" panose="020B0504030504040204" pitchFamily="34" charset="0"/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EDPB guidelines</a:t>
              </a:r>
              <a:endParaRPr lang="it-IT" b="1" dirty="0">
                <a:solidFill>
                  <a:srgbClr val="0B5C7E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0B5C7E"/>
                  </a:solidFill>
                  <a:latin typeface="Neo Sans Std" panose="020B0504030504040204" pitchFamily="34" charset="0"/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Notheastern study: "When speakers are all ears"WHEN SPEAKERS ARE ALL EARS</a:t>
              </a:r>
              <a:endParaRPr lang="it-IT" b="1" dirty="0">
                <a:solidFill>
                  <a:srgbClr val="0B5C7E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0B5C7E"/>
                  </a:solidFill>
                  <a:latin typeface="Neo Sans Std" panose="020B0504030504040204" pitchFamily="34" charset="0"/>
                  <a:hlinkClick r:id="rId1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"Assistenti digitali (smart assistant) I consigli del Garante per un uso a prova di privacy"</a:t>
              </a:r>
              <a:endParaRPr lang="it-IT" b="1" dirty="0">
                <a:solidFill>
                  <a:srgbClr val="0B5C7E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0B5C7E"/>
                  </a:solidFill>
                  <a:latin typeface="Neo Sans Std" panose="020B0504030504040204" pitchFamily="34" charset="0"/>
                  <a:hlinkClick r:id="rId11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Project Alias</a:t>
              </a:r>
              <a:endParaRPr lang="it-IT" b="1" dirty="0">
                <a:solidFill>
                  <a:srgbClr val="0B5C7E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0B5C7E"/>
                  </a:solidFill>
                  <a:latin typeface="Neo Sans Std" panose="020B050403050404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PIA software</a:t>
              </a:r>
              <a:endParaRPr lang="it-IT" b="1" dirty="0">
                <a:solidFill>
                  <a:srgbClr val="0B5C7E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0B5C7E"/>
                  </a:solidFill>
                  <a:latin typeface="Neo Sans Std" panose="020B0504030504040204" pitchFamily="34" charset="0"/>
                  <a:hlinkClick r:id="rId1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GDPR</a:t>
              </a:r>
              <a:endParaRPr lang="it-IT" b="1" dirty="0">
                <a:solidFill>
                  <a:srgbClr val="0B5C7E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dirty="0">
                  <a:solidFill>
                    <a:srgbClr val="0B5C7E"/>
                  </a:solidFill>
                  <a:latin typeface="Neo Sans Std" panose="020B0504030504040204" pitchFamily="34" charset="0"/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Alexa, Echo Devices, and Your Privacy</a:t>
              </a:r>
              <a:endParaRPr lang="it-IT" b="1" dirty="0">
                <a:solidFill>
                  <a:srgbClr val="0B5C7E"/>
                </a:solidFill>
                <a:latin typeface="Neo Sans Std" panose="020B050403050404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it-IT" b="1" u="sng" dirty="0">
                  <a:solidFill>
                    <a:srgbClr val="0B5C7E"/>
                  </a:solidFill>
                  <a:latin typeface="Neo Sans Std" panose="020B0504030504040204" pitchFamily="34" charset="0"/>
                </a:rPr>
                <a:t>Paper: </a:t>
              </a:r>
              <a:r>
                <a:rPr lang="it-IT" sz="1800" b="1" u="sng" dirty="0">
                  <a:solidFill>
                    <a:srgbClr val="0B5C7E"/>
                  </a:solidFill>
                  <a:effectLst/>
                  <a:latin typeface="Neo Sans Std" panose="020B0504030504040204" pitchFamily="34" charset="0"/>
                </a:rPr>
                <a:t>Smart </a:t>
              </a:r>
              <a:r>
                <a:rPr lang="it-IT" sz="1800" b="1" u="sng" dirty="0" err="1">
                  <a:solidFill>
                    <a:srgbClr val="0B5C7E"/>
                  </a:solidFill>
                  <a:effectLst/>
                  <a:latin typeface="Neo Sans Std" panose="020B0504030504040204" pitchFamily="34" charset="0"/>
                </a:rPr>
                <a:t>assistant</a:t>
              </a:r>
              <a:r>
                <a:rPr lang="it-IT" sz="1800" b="1" u="sng" dirty="0">
                  <a:solidFill>
                    <a:srgbClr val="0B5C7E"/>
                  </a:solidFill>
                  <a:effectLst/>
                  <a:latin typeface="Neo Sans Std" panose="020B0504030504040204" pitchFamily="34" charset="0"/>
                </a:rPr>
                <a:t> e dati personali: quali rischi per gli utenti?</a:t>
              </a:r>
              <a:endParaRPr lang="it-IT" b="1" u="sng" dirty="0">
                <a:solidFill>
                  <a:srgbClr val="0B5C7E"/>
                </a:solidFill>
                <a:latin typeface="Neo Sans Std" panose="020B0504030504040204" pitchFamily="34" charset="0"/>
              </a:endParaRPr>
            </a:p>
            <a:p>
              <a:endParaRPr lang="it-IT" b="1" dirty="0">
                <a:solidFill>
                  <a:srgbClr val="0B5C7E"/>
                </a:solidFill>
                <a:latin typeface="Neo Sans Std" panose="020B0504030504040204" pitchFamily="34" charset="0"/>
              </a:endParaRPr>
            </a:p>
            <a:p>
              <a:endParaRPr lang="it-IT" b="1" dirty="0">
                <a:solidFill>
                  <a:srgbClr val="0B5C7E"/>
                </a:solidFill>
                <a:latin typeface="Neo Sans Std" panose="020B0504030504040204" pitchFamily="34" charset="0"/>
              </a:endParaRPr>
            </a:p>
            <a:p>
              <a:endParaRPr lang="it-IT" b="1" dirty="0">
                <a:solidFill>
                  <a:srgbClr val="0B5C7E"/>
                </a:solidFill>
                <a:latin typeface="Neo Sans Std" panose="020B05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8800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1663</TotalTime>
  <Words>2577</Words>
  <Application>Microsoft Macintosh PowerPoint</Application>
  <PresentationFormat>Widescreen</PresentationFormat>
  <Paragraphs>546</Paragraphs>
  <Slides>68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68</vt:i4>
      </vt:variant>
    </vt:vector>
  </HeadingPairs>
  <TitlesOfParts>
    <vt:vector size="74" baseType="lpstr">
      <vt:lpstr>Arial</vt:lpstr>
      <vt:lpstr>Calibri</vt:lpstr>
      <vt:lpstr>Calibri Light</vt:lpstr>
      <vt:lpstr>Neo Sans Std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Giacomo Maldarella</dc:creator>
  <cp:lastModifiedBy>Giacomo Lombardi</cp:lastModifiedBy>
  <cp:revision>23</cp:revision>
  <dcterms:created xsi:type="dcterms:W3CDTF">2023-12-11T20:51:24Z</dcterms:created>
  <dcterms:modified xsi:type="dcterms:W3CDTF">2023-12-14T18:13:22Z</dcterms:modified>
</cp:coreProperties>
</file>